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9"/>
  </p:notesMasterIdLst>
  <p:handoutMasterIdLst>
    <p:handoutMasterId r:id="rId20"/>
  </p:handoutMasterIdLst>
  <p:sldIdLst>
    <p:sldId id="258" r:id="rId2"/>
    <p:sldId id="334" r:id="rId3"/>
    <p:sldId id="335" r:id="rId4"/>
    <p:sldId id="336" r:id="rId5"/>
    <p:sldId id="338" r:id="rId6"/>
    <p:sldId id="339" r:id="rId7"/>
    <p:sldId id="340" r:id="rId8"/>
    <p:sldId id="341" r:id="rId9"/>
    <p:sldId id="342" r:id="rId10"/>
    <p:sldId id="343" r:id="rId11"/>
    <p:sldId id="344" r:id="rId12"/>
    <p:sldId id="346" r:id="rId13"/>
    <p:sldId id="347" r:id="rId14"/>
    <p:sldId id="345" r:id="rId15"/>
    <p:sldId id="348" r:id="rId16"/>
    <p:sldId id="337" r:id="rId17"/>
    <p:sldId id="31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80" autoAdjust="0"/>
    <p:restoredTop sz="94660"/>
  </p:normalViewPr>
  <p:slideViewPr>
    <p:cSldViewPr snapToGrid="0">
      <p:cViewPr varScale="1">
        <p:scale>
          <a:sx n="86" d="100"/>
          <a:sy n="86" d="100"/>
        </p:scale>
        <p:origin x="672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9" d="100"/>
          <a:sy n="69" d="100"/>
        </p:scale>
        <p:origin x="-3318" y="-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B94FD-5702-4F25-9A4D-07294FF3292C}" type="datetimeFigureOut">
              <a:rPr lang="en-PH" smtClean="0"/>
              <a:t>13 Nov 2025</a:t>
            </a:fld>
            <a:endParaRPr lang="en-P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B5033A-92B8-453C-88B4-A91D8703A97C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542015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5AC51-C568-4371-A28D-D14CF2BCF8BA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838477-70AC-4892-810E-E936ABB30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525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279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34"/>
            <a:ext cx="10363200" cy="14700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000066" y="6347892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5000" y="6347893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5501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08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297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6"/>
            <a:ext cx="53848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6"/>
            <a:ext cx="53848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669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73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3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336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513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757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9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177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71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D057E4A9-8BC1-4D03-B0CD-00353C3D487D}"/>
              </a:ext>
            </a:extLst>
          </p:cNvPr>
          <p:cNvSpPr>
            <a:spLocks noGrp="1"/>
          </p:cNvSpPr>
          <p:nvPr userDrawn="1"/>
        </p:nvSpPr>
        <p:spPr>
          <a:xfrm>
            <a:off x="4038600" y="635159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rgbClr val="FFC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3ICT 2021 - 29-30 September 2021    University of Bahrain</a:t>
            </a:r>
          </a:p>
        </p:txBody>
      </p:sp>
    </p:spTree>
    <p:extLst>
      <p:ext uri="{BB962C8B-B14F-4D97-AF65-F5344CB8AC3E}">
        <p14:creationId xmlns:p14="http://schemas.microsoft.com/office/powerpoint/2010/main" val="2384099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7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7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751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6146801"/>
            <a:ext cx="12192000" cy="711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/>
          <p:cNvSpPr/>
          <p:nvPr userDrawn="1"/>
        </p:nvSpPr>
        <p:spPr>
          <a:xfrm>
            <a:off x="1" y="6354237"/>
            <a:ext cx="12192000" cy="368300"/>
          </a:xfrm>
          <a:prstGeom prst="rect">
            <a:avLst/>
          </a:prstGeom>
          <a:solidFill>
            <a:schemeClr val="tx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NATURAL LANGUAGE</a:t>
            </a:r>
            <a:r>
              <a:rPr lang="en-US" sz="1400" b="1" baseline="0" dirty="0"/>
              <a:t> PROCESSING (NLP)</a:t>
            </a:r>
            <a:endParaRPr lang="en-PH" sz="1400" b="1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254977" y="385020"/>
            <a:ext cx="11720146" cy="313266"/>
          </a:xfrm>
          <a:prstGeom prst="rect">
            <a:avLst/>
          </a:prstGeom>
          <a:solidFill>
            <a:srgbClr val="C0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Arial Black" pitchFamily="34" charset="0"/>
              </a:rPr>
              <a:t>Cognate/Professional Electives</a:t>
            </a:r>
            <a:endParaRPr lang="en-PH" sz="2000" b="1" dirty="0">
              <a:solidFill>
                <a:srgbClr val="0070C0"/>
              </a:solidFill>
              <a:latin typeface="Arial Black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5794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9902" y="1875392"/>
            <a:ext cx="114521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Feature Extraction From Text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18029" y="4059278"/>
            <a:ext cx="55559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Renato R. </a:t>
            </a:r>
            <a:r>
              <a:rPr lang="en-US" sz="2000" b="1" dirty="0" err="1"/>
              <a:t>Maaliw</a:t>
            </a:r>
            <a:r>
              <a:rPr lang="en-US" sz="2000" b="1" dirty="0"/>
              <a:t> III, </a:t>
            </a:r>
            <a:r>
              <a:rPr lang="en-US" sz="2000" b="1" i="1" dirty="0"/>
              <a:t>DIT</a:t>
            </a:r>
          </a:p>
          <a:p>
            <a:pPr algn="ctr"/>
            <a:r>
              <a:rPr lang="en-US" sz="2000" i="1" dirty="0"/>
              <a:t>College of Engineering</a:t>
            </a:r>
          </a:p>
          <a:p>
            <a:pPr algn="ctr"/>
            <a:r>
              <a:rPr lang="en-US" sz="2000" i="1" dirty="0"/>
              <a:t>Southern Luzon State University</a:t>
            </a:r>
          </a:p>
          <a:p>
            <a:pPr algn="ctr"/>
            <a:r>
              <a:rPr lang="en-US" sz="2000" dirty="0" err="1"/>
              <a:t>Lucban</a:t>
            </a:r>
            <a:r>
              <a:rPr lang="en-US" sz="2000" dirty="0"/>
              <a:t>, Quezon, Philippines</a:t>
            </a:r>
            <a:endParaRPr lang="en-PH" sz="2000" dirty="0"/>
          </a:p>
        </p:txBody>
      </p:sp>
    </p:spTree>
    <p:extLst>
      <p:ext uri="{BB962C8B-B14F-4D97-AF65-F5344CB8AC3E}">
        <p14:creationId xmlns:p14="http://schemas.microsoft.com/office/powerpoint/2010/main" val="3906540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1007202"/>
            <a:ext cx="1055866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Most classic machine learning algorithms </a:t>
            </a:r>
            <a:r>
              <a:rPr lang="en-US" sz="4400" dirty="0">
                <a:solidFill>
                  <a:srgbClr val="FF0000"/>
                </a:solidFill>
              </a:rPr>
              <a:t>cannot take in raw text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4400" dirty="0"/>
              <a:t>Instead we need to perform a feature </a:t>
            </a:r>
            <a:r>
              <a:rPr lang="en-US" sz="4400" dirty="0">
                <a:solidFill>
                  <a:srgbClr val="FF0000"/>
                </a:solidFill>
              </a:rPr>
              <a:t>“extraction” </a:t>
            </a:r>
            <a:r>
              <a:rPr lang="en-US" sz="4400" dirty="0"/>
              <a:t>from the raw text in order to pass </a:t>
            </a:r>
            <a:r>
              <a:rPr lang="en-US" sz="4400" dirty="0">
                <a:solidFill>
                  <a:srgbClr val="FF0000"/>
                </a:solidFill>
              </a:rPr>
              <a:t>numerical features </a:t>
            </a:r>
            <a:r>
              <a:rPr lang="en-US" sz="4400" dirty="0"/>
              <a:t>to the machine learning algorithm</a:t>
            </a:r>
          </a:p>
          <a:p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96065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1007202"/>
            <a:ext cx="10558668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For example, we could count the occurrence of each word to map text to a number</a:t>
            </a:r>
            <a:endParaRPr lang="en-US" sz="4400" dirty="0">
              <a:solidFill>
                <a:srgbClr val="FF0000"/>
              </a:solidFill>
            </a:endParaRP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4400" dirty="0">
                <a:solidFill>
                  <a:srgbClr val="FF0000"/>
                </a:solidFill>
              </a:rPr>
              <a:t>Counter Vectorization</a:t>
            </a:r>
            <a:r>
              <a:rPr lang="en-US" sz="4400" dirty="0"/>
              <a:t>, </a:t>
            </a:r>
            <a:r>
              <a:rPr lang="en-US" sz="4400" dirty="0">
                <a:solidFill>
                  <a:srgbClr val="FF0000"/>
                </a:solidFill>
              </a:rPr>
              <a:t>Term-Frequency</a:t>
            </a:r>
            <a:r>
              <a:rPr lang="en-US" sz="4400" dirty="0"/>
              <a:t> and </a:t>
            </a:r>
            <a:r>
              <a:rPr lang="en-US" sz="4400" dirty="0">
                <a:solidFill>
                  <a:srgbClr val="FF0000"/>
                </a:solidFill>
              </a:rPr>
              <a:t>Inverse Document Frequency</a:t>
            </a:r>
          </a:p>
          <a:p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019395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321869" y="928587"/>
            <a:ext cx="113700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Arial" pitchFamily="34" charset="0"/>
                <a:cs typeface="Arial" pitchFamily="34" charset="0"/>
              </a:rPr>
              <a:t>Count Vectorization</a:t>
            </a:r>
            <a:endParaRPr lang="en-US" sz="2400" b="1" dirty="0">
              <a:solidFill>
                <a:schemeClr val="accent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BF3256-A19E-4266-A9E2-CF25EAED1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611" y="2187998"/>
            <a:ext cx="9458778" cy="248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78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321869" y="928587"/>
            <a:ext cx="113700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Arial" pitchFamily="34" charset="0"/>
                <a:cs typeface="Arial" pitchFamily="34" charset="0"/>
              </a:rPr>
              <a:t>Document Term Matrix (DTM)</a:t>
            </a:r>
            <a:endParaRPr lang="en-US" sz="2400" b="1" dirty="0">
              <a:solidFill>
                <a:schemeClr val="accent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F7ADD84-187A-4EB2-BC20-22E274E41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601" y="3429000"/>
            <a:ext cx="8806711" cy="24278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1EDBFB-79D4-45D0-B793-E70638B5D8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7258" y="1636473"/>
            <a:ext cx="7877484" cy="206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656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794137"/>
            <a:ext cx="10558668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An alternative to </a:t>
            </a:r>
            <a:r>
              <a:rPr lang="en-US" sz="4400" dirty="0" err="1"/>
              <a:t>CountVectorizer</a:t>
            </a:r>
            <a:r>
              <a:rPr lang="en-US" sz="4400" dirty="0"/>
              <a:t> is a </a:t>
            </a:r>
            <a:r>
              <a:rPr lang="en-US" sz="4400" dirty="0" err="1">
                <a:solidFill>
                  <a:srgbClr val="FF0000"/>
                </a:solidFill>
              </a:rPr>
              <a:t>TfidfVectorizer</a:t>
            </a:r>
            <a:r>
              <a:rPr lang="en-US" sz="4400" dirty="0"/>
              <a:t>. It also creates a document term matrix from our messages.</a:t>
            </a:r>
            <a:endParaRPr lang="en-US" sz="4400" dirty="0">
              <a:solidFill>
                <a:srgbClr val="FF0000"/>
              </a:solidFill>
            </a:endParaRP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3600" dirty="0"/>
              <a:t>However, instead of filling the DTM with token counts it calculates term frequency-inverse document frequency value for each word (TF-IDF)</a:t>
            </a:r>
          </a:p>
          <a:p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186327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794137"/>
            <a:ext cx="10558668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Term frequency </a:t>
            </a:r>
            <a:r>
              <a:rPr lang="en-US" sz="4400" b="1" dirty="0" err="1">
                <a:solidFill>
                  <a:srgbClr val="FF0000"/>
                </a:solidFill>
              </a:rPr>
              <a:t>tf</a:t>
            </a:r>
            <a:r>
              <a:rPr lang="en-US" sz="4400" b="1" dirty="0">
                <a:solidFill>
                  <a:srgbClr val="FF0000"/>
                </a:solidFill>
              </a:rPr>
              <a:t>(</a:t>
            </a:r>
            <a:r>
              <a:rPr lang="en-US" sz="4400" b="1" dirty="0" err="1">
                <a:solidFill>
                  <a:srgbClr val="FF0000"/>
                </a:solidFill>
              </a:rPr>
              <a:t>t,d</a:t>
            </a:r>
            <a:r>
              <a:rPr lang="en-US" sz="4400" b="1" dirty="0">
                <a:solidFill>
                  <a:srgbClr val="FF0000"/>
                </a:solidFill>
              </a:rPr>
              <a:t>)</a:t>
            </a:r>
            <a:r>
              <a:rPr lang="en-US" sz="4400" dirty="0"/>
              <a:t>: is the raw count of a term in a document, </a:t>
            </a:r>
            <a:r>
              <a:rPr lang="en-US" sz="4400" dirty="0" err="1"/>
              <a:t>i.e</a:t>
            </a:r>
            <a:r>
              <a:rPr lang="en-US" sz="4400" dirty="0"/>
              <a:t> the number of times that term </a:t>
            </a:r>
            <a:r>
              <a:rPr lang="en-US" sz="4400" b="1" dirty="0">
                <a:solidFill>
                  <a:srgbClr val="FF0000"/>
                </a:solidFill>
              </a:rPr>
              <a:t>t</a:t>
            </a:r>
            <a:r>
              <a:rPr lang="en-US" sz="4400" b="1" dirty="0"/>
              <a:t> </a:t>
            </a:r>
            <a:r>
              <a:rPr lang="en-US" sz="4400" dirty="0"/>
              <a:t>occurs in a document </a:t>
            </a:r>
            <a:r>
              <a:rPr lang="en-US" sz="4400" b="1" dirty="0">
                <a:solidFill>
                  <a:srgbClr val="FF0000"/>
                </a:solidFill>
              </a:rPr>
              <a:t>d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3600" dirty="0"/>
              <a:t>However, instead of filling the DTM with token counts it calculates term frequency-inverse document frequency value for each word (TF-IDF)</a:t>
            </a:r>
          </a:p>
          <a:p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825411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794137"/>
            <a:ext cx="10558668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However, Term Frequency alone isn’t enough for a thorough feature analysis of the text.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4400" dirty="0"/>
              <a:t>Let’s imagine very common terms, like “a” or “the”</a:t>
            </a:r>
          </a:p>
          <a:p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38372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794137"/>
            <a:ext cx="10558668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Because the term </a:t>
            </a:r>
            <a:r>
              <a:rPr lang="en-US" sz="4400" b="1" dirty="0"/>
              <a:t>“the” </a:t>
            </a:r>
            <a:r>
              <a:rPr lang="en-US" sz="4400" dirty="0"/>
              <a:t>is so common, term frequency will tend to incorrectly emphasize documents which happen to use the word </a:t>
            </a:r>
            <a:r>
              <a:rPr lang="en-US" sz="4400" b="1" dirty="0"/>
              <a:t>“the” </a:t>
            </a:r>
            <a:r>
              <a:rPr lang="en-US" sz="4400" dirty="0"/>
              <a:t>more frequently, without giving enough weight to the more meaningful terms </a:t>
            </a:r>
            <a:r>
              <a:rPr lang="en-US" sz="4400" b="1" dirty="0"/>
              <a:t>“red”</a:t>
            </a:r>
            <a:r>
              <a:rPr lang="en-US" sz="4400" dirty="0"/>
              <a:t> and </a:t>
            </a:r>
            <a:r>
              <a:rPr lang="en-US" sz="4400" b="1" dirty="0"/>
              <a:t>“dogs”</a:t>
            </a:r>
          </a:p>
        </p:txBody>
      </p:sp>
    </p:spTree>
    <p:extLst>
      <p:ext uri="{BB962C8B-B14F-4D97-AF65-F5344CB8AC3E}">
        <p14:creationId xmlns:p14="http://schemas.microsoft.com/office/powerpoint/2010/main" val="2627715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794137"/>
            <a:ext cx="105586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An </a:t>
            </a:r>
            <a:r>
              <a:rPr lang="en-US" sz="4400" dirty="0">
                <a:solidFill>
                  <a:srgbClr val="FF0000"/>
                </a:solidFill>
              </a:rPr>
              <a:t>inverse document frequency factor </a:t>
            </a:r>
            <a:r>
              <a:rPr lang="en-US" sz="4400" dirty="0"/>
              <a:t>is incorporated which diminishes the weight of terms that occur very frequently in the document set and increases the weight of terms that occur rarely.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065083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794137"/>
            <a:ext cx="10558668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It is the </a:t>
            </a:r>
            <a:r>
              <a:rPr lang="en-US" sz="4400" dirty="0">
                <a:solidFill>
                  <a:srgbClr val="FF0000"/>
                </a:solidFill>
              </a:rPr>
              <a:t>logarithmically scaled inverse fraction</a:t>
            </a:r>
            <a:r>
              <a:rPr lang="en-US" sz="4400" dirty="0"/>
              <a:t> of the documents that contain the word (obtained by dividing the total number of documents by the number of documents containing the term, and then taking the logarithm of that quotient)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421483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CC66E7D-FDAD-4EE0-8CB6-DB059EDA7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977" y="1365450"/>
            <a:ext cx="9604045" cy="3792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766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794137"/>
            <a:ext cx="10558668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Fortunately </a:t>
            </a:r>
            <a:r>
              <a:rPr lang="en-US" sz="4400" dirty="0" err="1"/>
              <a:t>Scikit</a:t>
            </a:r>
            <a:r>
              <a:rPr lang="en-US" sz="4400" dirty="0"/>
              <a:t>-learn can calculate all these terms for us through the use of its API</a:t>
            </a:r>
          </a:p>
          <a:p>
            <a:endParaRPr lang="en-US" sz="4400" dirty="0"/>
          </a:p>
          <a:p>
            <a:pPr marL="457200" indent="-457200">
              <a:buFontTx/>
              <a:buChar char="-"/>
            </a:pPr>
            <a:r>
              <a:rPr lang="en-US" sz="4400" dirty="0"/>
              <a:t>Notice how similar the syntax is to our previous use of ML models in </a:t>
            </a:r>
            <a:r>
              <a:rPr lang="en-US" sz="4400" dirty="0" err="1"/>
              <a:t>Scikit</a:t>
            </a:r>
            <a:r>
              <a:rPr lang="en-US" sz="4400" dirty="0"/>
              <a:t>-learn</a:t>
            </a:r>
          </a:p>
        </p:txBody>
      </p:sp>
    </p:spTree>
    <p:extLst>
      <p:ext uri="{BB962C8B-B14F-4D97-AF65-F5344CB8AC3E}">
        <p14:creationId xmlns:p14="http://schemas.microsoft.com/office/powerpoint/2010/main" val="1167796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655C2E7-683B-4CA1-B111-5DA6B5089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641" y="1215824"/>
            <a:ext cx="8250717" cy="389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8177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794137"/>
            <a:ext cx="10558668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TF-IDF allows us to </a:t>
            </a:r>
            <a:r>
              <a:rPr lang="en-US" sz="4400" dirty="0">
                <a:solidFill>
                  <a:srgbClr val="FF0000"/>
                </a:solidFill>
              </a:rPr>
              <a:t>understand the context of words </a:t>
            </a:r>
            <a:r>
              <a:rPr lang="en-US" sz="4400" dirty="0"/>
              <a:t>across an entire corpus of document, instead of just its </a:t>
            </a:r>
            <a:r>
              <a:rPr lang="en-US" sz="4400" dirty="0">
                <a:solidFill>
                  <a:srgbClr val="FF0000"/>
                </a:solidFill>
              </a:rPr>
              <a:t>relative importance</a:t>
            </a:r>
            <a:r>
              <a:rPr lang="en-US" sz="4400" dirty="0"/>
              <a:t> in a single document</a:t>
            </a:r>
          </a:p>
        </p:txBody>
      </p:sp>
    </p:spTree>
    <p:extLst>
      <p:ext uri="{BB962C8B-B14F-4D97-AF65-F5344CB8AC3E}">
        <p14:creationId xmlns:p14="http://schemas.microsoft.com/office/powerpoint/2010/main" val="3620014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21364" y="2562078"/>
            <a:ext cx="107492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Arial" pitchFamily="34" charset="0"/>
                <a:cs typeface="Arial" pitchFamily="34" charset="0"/>
              </a:rPr>
              <a:t>[Code Demo]</a:t>
            </a:r>
            <a:endParaRPr lang="en-US" sz="3200" b="1" dirty="0">
              <a:solidFill>
                <a:schemeClr val="accent2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71639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21364" y="2562078"/>
            <a:ext cx="107492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Arial" pitchFamily="34" charset="0"/>
                <a:cs typeface="Arial" pitchFamily="34" charset="0"/>
              </a:rPr>
              <a:t>Thank you very much for listening</a:t>
            </a:r>
            <a:r>
              <a:rPr lang="en-US" sz="3200" b="1" dirty="0">
                <a:latin typeface="Arial" pitchFamily="34" charset="0"/>
                <a:cs typeface="Arial" pitchFamily="34" charset="0"/>
              </a:rPr>
              <a:t>.</a:t>
            </a:r>
            <a:endParaRPr lang="en-US" sz="3200" b="1" dirty="0">
              <a:solidFill>
                <a:schemeClr val="accent2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378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2529</TotalTime>
  <Words>406</Words>
  <Application>Microsoft Office PowerPoint</Application>
  <PresentationFormat>Widescreen</PresentationFormat>
  <Paragraphs>42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Wael Elmedany</dc:creator>
  <cp:lastModifiedBy>Renato III Maaliw</cp:lastModifiedBy>
  <cp:revision>426</cp:revision>
  <dcterms:created xsi:type="dcterms:W3CDTF">2018-09-30T06:22:05Z</dcterms:created>
  <dcterms:modified xsi:type="dcterms:W3CDTF">2025-11-13T06:33:36Z</dcterms:modified>
</cp:coreProperties>
</file>