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58" r:id="rId2"/>
    <p:sldId id="334" r:id="rId3"/>
    <p:sldId id="335" r:id="rId4"/>
    <p:sldId id="336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6" r:id="rId13"/>
    <p:sldId id="347" r:id="rId14"/>
    <p:sldId id="345" r:id="rId15"/>
    <p:sldId id="348" r:id="rId16"/>
    <p:sldId id="337" r:id="rId17"/>
    <p:sldId id="3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13 Nov 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NATURAL LANGUAGE</a:t>
            </a:r>
            <a:r>
              <a:rPr lang="en-US" sz="1400" b="1" baseline="0" dirty="0"/>
              <a:t> PROCESSING (NLP)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875392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Feature Extraction From Text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Most classic machine learning algorithms </a:t>
            </a:r>
            <a:r>
              <a:rPr lang="en-US" sz="4400" dirty="0">
                <a:solidFill>
                  <a:srgbClr val="FF0000"/>
                </a:solidFill>
              </a:rPr>
              <a:t>cannot take in raw text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Instead we need to perform a feature </a:t>
            </a:r>
            <a:r>
              <a:rPr lang="en-US" sz="4400" dirty="0">
                <a:solidFill>
                  <a:srgbClr val="FF0000"/>
                </a:solidFill>
              </a:rPr>
              <a:t>“extraction” </a:t>
            </a:r>
            <a:r>
              <a:rPr lang="en-US" sz="4400" dirty="0"/>
              <a:t>from the raw text in order to pass </a:t>
            </a:r>
            <a:r>
              <a:rPr lang="en-US" sz="4400" dirty="0">
                <a:solidFill>
                  <a:srgbClr val="FF0000"/>
                </a:solidFill>
              </a:rPr>
              <a:t>numerical features </a:t>
            </a:r>
            <a:r>
              <a:rPr lang="en-US" sz="4400" dirty="0"/>
              <a:t>to the machine learning algorithm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For example, we could count the occurrence of each word to map text to a number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>
                <a:solidFill>
                  <a:srgbClr val="FF0000"/>
                </a:solidFill>
              </a:rPr>
              <a:t>Counter Vectorization</a:t>
            </a:r>
            <a:r>
              <a:rPr lang="en-US" sz="4400" dirty="0"/>
              <a:t>, </a:t>
            </a:r>
            <a:r>
              <a:rPr lang="en-US" sz="4400" dirty="0">
                <a:solidFill>
                  <a:srgbClr val="FF0000"/>
                </a:solidFill>
              </a:rPr>
              <a:t>Term-Frequency</a:t>
            </a:r>
            <a:r>
              <a:rPr lang="en-US" sz="4400" dirty="0"/>
              <a:t> and </a:t>
            </a:r>
            <a:r>
              <a:rPr lang="en-US" sz="4400" dirty="0">
                <a:solidFill>
                  <a:srgbClr val="FF0000"/>
                </a:solidFill>
              </a:rPr>
              <a:t>Inverse Document Frequency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1939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1869" y="928587"/>
            <a:ext cx="11370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Count Vectorization</a:t>
            </a:r>
            <a:endParaRPr lang="en-US" sz="24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F3256-A19E-4266-A9E2-CF25EAED1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11" y="2187998"/>
            <a:ext cx="9458778" cy="248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8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1869" y="928587"/>
            <a:ext cx="11370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Document Term Matrix (DTM)</a:t>
            </a:r>
            <a:endParaRPr lang="en-US" sz="24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7ADD84-187A-4EB2-BC20-22E274E41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01" y="3429000"/>
            <a:ext cx="8806711" cy="2427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1EDBFB-79D4-45D0-B793-E70638B5D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258" y="1636473"/>
            <a:ext cx="7877484" cy="2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5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An alternative to </a:t>
            </a:r>
            <a:r>
              <a:rPr lang="en-US" sz="4400" dirty="0" err="1"/>
              <a:t>CountVectorizer</a:t>
            </a:r>
            <a:r>
              <a:rPr lang="en-US" sz="4400" dirty="0"/>
              <a:t> is a </a:t>
            </a:r>
            <a:r>
              <a:rPr lang="en-US" sz="4400" dirty="0" err="1">
                <a:solidFill>
                  <a:srgbClr val="FF0000"/>
                </a:solidFill>
              </a:rPr>
              <a:t>TfidfVectorizer</a:t>
            </a:r>
            <a:r>
              <a:rPr lang="en-US" sz="4400" dirty="0"/>
              <a:t>. It also creates a document term matrix from our messages.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600" dirty="0"/>
              <a:t>However, instead of filling the DTM with token counts it calculates term frequency-inverse document frequency value for each word (TF-IDF)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8632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Term frequency </a:t>
            </a:r>
            <a:r>
              <a:rPr lang="en-US" sz="4400" b="1" dirty="0" err="1">
                <a:solidFill>
                  <a:srgbClr val="FF0000"/>
                </a:solidFill>
              </a:rPr>
              <a:t>tf</a:t>
            </a:r>
            <a:r>
              <a:rPr lang="en-US" sz="4400" b="1" dirty="0">
                <a:solidFill>
                  <a:srgbClr val="FF0000"/>
                </a:solidFill>
              </a:rPr>
              <a:t>(</a:t>
            </a:r>
            <a:r>
              <a:rPr lang="en-US" sz="4400" b="1" dirty="0" err="1">
                <a:solidFill>
                  <a:srgbClr val="FF0000"/>
                </a:solidFill>
              </a:rPr>
              <a:t>t,d</a:t>
            </a:r>
            <a:r>
              <a:rPr lang="en-US" sz="4400" b="1" dirty="0">
                <a:solidFill>
                  <a:srgbClr val="FF0000"/>
                </a:solidFill>
              </a:rPr>
              <a:t>)</a:t>
            </a:r>
            <a:r>
              <a:rPr lang="en-US" sz="4400" dirty="0"/>
              <a:t>: is the raw count of a term in a document, </a:t>
            </a:r>
            <a:r>
              <a:rPr lang="en-US" sz="4400" dirty="0" err="1"/>
              <a:t>i.e</a:t>
            </a:r>
            <a:r>
              <a:rPr lang="en-US" sz="4400" dirty="0"/>
              <a:t> the number of times that term </a:t>
            </a:r>
            <a:r>
              <a:rPr lang="en-US" sz="4400" b="1" dirty="0">
                <a:solidFill>
                  <a:srgbClr val="FF0000"/>
                </a:solidFill>
              </a:rPr>
              <a:t>t</a:t>
            </a:r>
            <a:r>
              <a:rPr lang="en-US" sz="4400" b="1" dirty="0"/>
              <a:t> </a:t>
            </a:r>
            <a:r>
              <a:rPr lang="en-US" sz="4400" dirty="0"/>
              <a:t>occurs in a document </a:t>
            </a:r>
            <a:r>
              <a:rPr lang="en-US" sz="4400" b="1" dirty="0">
                <a:solidFill>
                  <a:srgbClr val="FF0000"/>
                </a:solidFill>
              </a:rPr>
              <a:t>d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600" dirty="0"/>
              <a:t>However, instead of filling the DTM with token counts it calculates term frequency-inverse document frequency value for each word (TF-IDF)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25411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However, Term Frequency alone isn’t enough for a thorough feature analysis of the text.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Let’s imagine very common terms, like “a” or “the”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8372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Because the term </a:t>
            </a:r>
            <a:r>
              <a:rPr lang="en-US" sz="4400" b="1" dirty="0"/>
              <a:t>“the” </a:t>
            </a:r>
            <a:r>
              <a:rPr lang="en-US" sz="4400" dirty="0"/>
              <a:t>is so common, term frequency will tend to incorrectly emphasize documents which happen to use the word </a:t>
            </a:r>
            <a:r>
              <a:rPr lang="en-US" sz="4400" b="1" dirty="0"/>
              <a:t>“the” </a:t>
            </a:r>
            <a:r>
              <a:rPr lang="en-US" sz="4400" dirty="0"/>
              <a:t>more frequently, without giving enough weight to the more meaningful terms </a:t>
            </a:r>
            <a:r>
              <a:rPr lang="en-US" sz="4400" b="1" dirty="0"/>
              <a:t>“red”</a:t>
            </a:r>
            <a:r>
              <a:rPr lang="en-US" sz="4400" dirty="0"/>
              <a:t> and </a:t>
            </a:r>
            <a:r>
              <a:rPr lang="en-US" sz="4400" b="1" dirty="0"/>
              <a:t>“dogs”</a:t>
            </a:r>
          </a:p>
        </p:txBody>
      </p:sp>
    </p:spTree>
    <p:extLst>
      <p:ext uri="{BB962C8B-B14F-4D97-AF65-F5344CB8AC3E}">
        <p14:creationId xmlns:p14="http://schemas.microsoft.com/office/powerpoint/2010/main" val="262771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An </a:t>
            </a:r>
            <a:r>
              <a:rPr lang="en-US" sz="4400" dirty="0">
                <a:solidFill>
                  <a:srgbClr val="FF0000"/>
                </a:solidFill>
              </a:rPr>
              <a:t>inverse document frequency factor </a:t>
            </a:r>
            <a:r>
              <a:rPr lang="en-US" sz="4400" dirty="0"/>
              <a:t>is incorporated which diminishes the weight of terms that occur very frequently in the document set and increases the weight of terms that occur rarely.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065083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It is the </a:t>
            </a:r>
            <a:r>
              <a:rPr lang="en-US" sz="4400" dirty="0">
                <a:solidFill>
                  <a:srgbClr val="FF0000"/>
                </a:solidFill>
              </a:rPr>
              <a:t>logarithmically scaled inverse fraction</a:t>
            </a:r>
            <a:r>
              <a:rPr lang="en-US" sz="4400" dirty="0"/>
              <a:t> of the documents that contain the word (obtained by dividing the total number of documents by the number of documents containing the term, and then taking the logarithm of that quotient)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42148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C66E7D-FDAD-4EE0-8CB6-DB059EDA7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7" y="1365450"/>
            <a:ext cx="9604045" cy="379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66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Fortunately </a:t>
            </a:r>
            <a:r>
              <a:rPr lang="en-US" sz="4400" dirty="0" err="1"/>
              <a:t>Scikit</a:t>
            </a:r>
            <a:r>
              <a:rPr lang="en-US" sz="4400" dirty="0"/>
              <a:t>-learn can calculate all these terms for us through the use of its API</a:t>
            </a:r>
          </a:p>
          <a:p>
            <a:endParaRPr lang="en-US" sz="4400" dirty="0"/>
          </a:p>
          <a:p>
            <a:pPr marL="457200" indent="-457200">
              <a:buFontTx/>
              <a:buChar char="-"/>
            </a:pPr>
            <a:r>
              <a:rPr lang="en-US" sz="4400" dirty="0"/>
              <a:t>Notice how similar the syntax is to our previous use of ML models in </a:t>
            </a:r>
            <a:r>
              <a:rPr lang="en-US" sz="4400" dirty="0" err="1"/>
              <a:t>Scikit</a:t>
            </a:r>
            <a:r>
              <a:rPr lang="en-US" sz="4400" dirty="0"/>
              <a:t>-learn</a:t>
            </a:r>
          </a:p>
        </p:txBody>
      </p:sp>
    </p:spTree>
    <p:extLst>
      <p:ext uri="{BB962C8B-B14F-4D97-AF65-F5344CB8AC3E}">
        <p14:creationId xmlns:p14="http://schemas.microsoft.com/office/powerpoint/2010/main" val="1167796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5C2E7-683B-4CA1-B111-5DA6B5089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641" y="1215824"/>
            <a:ext cx="8250717" cy="38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17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794137"/>
            <a:ext cx="1055866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TF-IDF allows us to </a:t>
            </a:r>
            <a:r>
              <a:rPr lang="en-US" sz="4400" dirty="0">
                <a:solidFill>
                  <a:srgbClr val="FF0000"/>
                </a:solidFill>
              </a:rPr>
              <a:t>understand the context of words </a:t>
            </a:r>
            <a:r>
              <a:rPr lang="en-US" sz="4400" dirty="0"/>
              <a:t>across an entire corpus of document, instead of just its </a:t>
            </a:r>
            <a:r>
              <a:rPr lang="en-US" sz="4400" dirty="0">
                <a:solidFill>
                  <a:srgbClr val="FF0000"/>
                </a:solidFill>
              </a:rPr>
              <a:t>relative importance</a:t>
            </a:r>
            <a:r>
              <a:rPr lang="en-US" sz="4400" dirty="0"/>
              <a:t> in a single document</a:t>
            </a:r>
          </a:p>
        </p:txBody>
      </p:sp>
    </p:spTree>
    <p:extLst>
      <p:ext uri="{BB962C8B-B14F-4D97-AF65-F5344CB8AC3E}">
        <p14:creationId xmlns:p14="http://schemas.microsoft.com/office/powerpoint/2010/main" val="362001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163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2529</TotalTime>
  <Words>406</Words>
  <Application>Microsoft Office PowerPoint</Application>
  <PresentationFormat>Widescreen</PresentationFormat>
  <Paragraphs>42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III Maaliw</cp:lastModifiedBy>
  <cp:revision>426</cp:revision>
  <dcterms:created xsi:type="dcterms:W3CDTF">2018-09-30T06:22:05Z</dcterms:created>
  <dcterms:modified xsi:type="dcterms:W3CDTF">2025-11-13T03:54:04Z</dcterms:modified>
</cp:coreProperties>
</file>