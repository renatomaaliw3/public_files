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1"/>
  </p:sldMasterIdLst>
  <p:notesMasterIdLst>
    <p:notesMasterId r:id="rId25"/>
  </p:notesMasterIdLst>
  <p:handoutMasterIdLst>
    <p:handoutMasterId r:id="rId26"/>
  </p:handoutMasterIdLst>
  <p:sldIdLst>
    <p:sldId id="258" r:id="rId2"/>
    <p:sldId id="334" r:id="rId3"/>
    <p:sldId id="360" r:id="rId4"/>
    <p:sldId id="361" r:id="rId5"/>
    <p:sldId id="362" r:id="rId6"/>
    <p:sldId id="363" r:id="rId7"/>
    <p:sldId id="364" r:id="rId8"/>
    <p:sldId id="370" r:id="rId9"/>
    <p:sldId id="371" r:id="rId10"/>
    <p:sldId id="372" r:id="rId11"/>
    <p:sldId id="373" r:id="rId12"/>
    <p:sldId id="374" r:id="rId13"/>
    <p:sldId id="375" r:id="rId14"/>
    <p:sldId id="376" r:id="rId15"/>
    <p:sldId id="377" r:id="rId16"/>
    <p:sldId id="365" r:id="rId17"/>
    <p:sldId id="366" r:id="rId18"/>
    <p:sldId id="367" r:id="rId19"/>
    <p:sldId id="368" r:id="rId20"/>
    <p:sldId id="369" r:id="rId21"/>
    <p:sldId id="379" r:id="rId22"/>
    <p:sldId id="378" r:id="rId23"/>
    <p:sldId id="314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742" autoAdjust="0"/>
    <p:restoredTop sz="94660"/>
  </p:normalViewPr>
  <p:slideViewPr>
    <p:cSldViewPr snapToGrid="0">
      <p:cViewPr varScale="1">
        <p:scale>
          <a:sx n="86" d="100"/>
          <a:sy n="86" d="100"/>
        </p:scale>
        <p:origin x="298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3154" y="67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6B94FD-5702-4F25-9A4D-07294FF3292C}" type="datetimeFigureOut">
              <a:rPr lang="en-PH" smtClean="0"/>
              <a:t>23 Jan 2026</a:t>
            </a:fld>
            <a:endParaRPr lang="en-P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B5033A-92B8-453C-88B4-A91D8703A97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5420155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65AC51-C568-4371-A28D-D14CF2BCF8BA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838477-70AC-4892-810E-E936ABB30F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5251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838477-70AC-4892-810E-E936ABB30F2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2798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34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000066" y="6347892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PH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5000" y="6347893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55013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6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708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9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2971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6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6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6692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3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3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3368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5135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7574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9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1775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7184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600206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D057E4A9-8BC1-4D03-B0CD-00353C3D487D}"/>
              </a:ext>
            </a:extLst>
          </p:cNvPr>
          <p:cNvSpPr>
            <a:spLocks noGrp="1"/>
          </p:cNvSpPr>
          <p:nvPr userDrawn="1"/>
        </p:nvSpPr>
        <p:spPr>
          <a:xfrm>
            <a:off x="4038600" y="635159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rgbClr val="FFC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3ICT 2021 - 29-30 September 2021    University of Bahrain</a:t>
            </a:r>
          </a:p>
        </p:txBody>
      </p:sp>
    </p:spTree>
    <p:extLst>
      <p:ext uri="{BB962C8B-B14F-4D97-AF65-F5344CB8AC3E}">
        <p14:creationId xmlns:p14="http://schemas.microsoft.com/office/powerpoint/2010/main" val="23840995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7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7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751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6146801"/>
            <a:ext cx="12192000" cy="7112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" name="Rectangle 9"/>
          <p:cNvSpPr/>
          <p:nvPr userDrawn="1"/>
        </p:nvSpPr>
        <p:spPr>
          <a:xfrm>
            <a:off x="1" y="6354237"/>
            <a:ext cx="12192000" cy="368300"/>
          </a:xfrm>
          <a:prstGeom prst="rect">
            <a:avLst/>
          </a:prstGeom>
          <a:solidFill>
            <a:schemeClr val="tx2">
              <a:lumMod val="75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ROLLING &amp; EXPANDING</a:t>
            </a:r>
            <a:endParaRPr lang="en-PH" sz="1400" b="1" dirty="0"/>
          </a:p>
        </p:txBody>
      </p:sp>
      <p:sp>
        <p:nvSpPr>
          <p:cNvPr id="17" name="Rectangle 16"/>
          <p:cNvSpPr/>
          <p:nvPr userDrawn="1"/>
        </p:nvSpPr>
        <p:spPr>
          <a:xfrm>
            <a:off x="254977" y="385020"/>
            <a:ext cx="11720146" cy="313266"/>
          </a:xfrm>
          <a:prstGeom prst="rect">
            <a:avLst/>
          </a:prstGeom>
          <a:solidFill>
            <a:srgbClr val="C00000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00B050"/>
                </a:solidFill>
                <a:latin typeface="Arial Black" pitchFamily="34" charset="0"/>
              </a:rPr>
              <a:t>Cognate/Professional Electives</a:t>
            </a:r>
            <a:endParaRPr lang="en-PH" sz="2000" b="1" dirty="0">
              <a:solidFill>
                <a:srgbClr val="0070C0"/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5794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69902" y="1759366"/>
            <a:ext cx="1145219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/>
              <a:t>Time Series</a:t>
            </a:r>
          </a:p>
          <a:p>
            <a:pPr algn="ctr"/>
            <a:r>
              <a:rPr lang="en-US" sz="4800" b="1" dirty="0"/>
              <a:t>(Rolling &amp; Expanding)</a:t>
            </a:r>
            <a:endParaRPr lang="en-PH" sz="48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3318029" y="4059278"/>
            <a:ext cx="555594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Renato R. </a:t>
            </a:r>
            <a:r>
              <a:rPr lang="en-US" sz="2000" b="1" dirty="0" err="1"/>
              <a:t>Maaliw</a:t>
            </a:r>
            <a:r>
              <a:rPr lang="en-US" sz="2000" b="1" dirty="0"/>
              <a:t> III, </a:t>
            </a:r>
            <a:r>
              <a:rPr lang="en-US" sz="2000" b="1" i="1" dirty="0"/>
              <a:t>DIT</a:t>
            </a:r>
          </a:p>
          <a:p>
            <a:pPr algn="ctr"/>
            <a:r>
              <a:rPr lang="en-US" sz="2000" i="1" dirty="0"/>
              <a:t>College of Engineering</a:t>
            </a:r>
          </a:p>
          <a:p>
            <a:pPr algn="ctr"/>
            <a:r>
              <a:rPr lang="en-US" sz="2000" i="1" dirty="0"/>
              <a:t>Southern Luzon State University</a:t>
            </a:r>
          </a:p>
          <a:p>
            <a:pPr algn="ctr"/>
            <a:r>
              <a:rPr lang="en-US" sz="2000" dirty="0" err="1"/>
              <a:t>Lucban</a:t>
            </a:r>
            <a:r>
              <a:rPr lang="en-US" sz="2000" dirty="0"/>
              <a:t>, Quezon, Philippines</a:t>
            </a:r>
            <a:endParaRPr lang="en-PH" sz="2000" dirty="0"/>
          </a:p>
        </p:txBody>
      </p:sp>
    </p:spTree>
    <p:extLst>
      <p:ext uri="{BB962C8B-B14F-4D97-AF65-F5344CB8AC3E}">
        <p14:creationId xmlns:p14="http://schemas.microsoft.com/office/powerpoint/2010/main" val="39065400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43093" y="1185878"/>
            <a:ext cx="10558668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Moving Average</a:t>
            </a:r>
          </a:p>
          <a:p>
            <a:endParaRPr lang="en-US" sz="2400" b="1" dirty="0"/>
          </a:p>
          <a:p>
            <a:r>
              <a:rPr lang="en-US" sz="4400" dirty="0"/>
              <a:t>A technique used to smooth out short-term fluctuations in a time series and to highlight longer-term trends or cycles.</a:t>
            </a:r>
            <a:endParaRPr lang="en-PH" sz="44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0658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43093" y="1185878"/>
            <a:ext cx="10558668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Moving Average</a:t>
            </a:r>
          </a:p>
          <a:p>
            <a:endParaRPr lang="en-US" sz="2400" b="1" dirty="0"/>
          </a:p>
          <a:p>
            <a:r>
              <a:rPr lang="en-US" sz="4400" dirty="0"/>
              <a:t>By replacing raw data points with their averages over a specified windows, a rolling average diminishes random variations </a:t>
            </a:r>
            <a:r>
              <a:rPr lang="en-US" sz="4400" dirty="0" err="1"/>
              <a:t>makint</a:t>
            </a:r>
            <a:r>
              <a:rPr lang="en-US" sz="4400" dirty="0"/>
              <a:t> it easier to understand data.</a:t>
            </a:r>
            <a:endParaRPr lang="en-PH" sz="44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12628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43093" y="1185878"/>
            <a:ext cx="1055866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Key Points:</a:t>
            </a:r>
          </a:p>
          <a:p>
            <a:endParaRPr lang="en-US" sz="2400" b="1" dirty="0"/>
          </a:p>
          <a:p>
            <a:r>
              <a:rPr lang="en-US" sz="4400" b="1" i="1" dirty="0"/>
              <a:t>Window/Lookback Period:</a:t>
            </a:r>
          </a:p>
          <a:p>
            <a:endParaRPr lang="en-US" sz="4400" dirty="0"/>
          </a:p>
          <a:p>
            <a:r>
              <a:rPr lang="en-US" sz="4400" dirty="0"/>
              <a:t>The number of consecutive data points used to compute the average</a:t>
            </a:r>
          </a:p>
          <a:p>
            <a:endParaRPr lang="en-US" sz="44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02939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43093" y="1185878"/>
            <a:ext cx="10558668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Key Points:</a:t>
            </a:r>
          </a:p>
          <a:p>
            <a:endParaRPr lang="en-US" sz="2400" b="1" dirty="0"/>
          </a:p>
          <a:p>
            <a:r>
              <a:rPr lang="en-US" sz="4400" b="1" i="1" dirty="0"/>
              <a:t>Overlapping Windows:</a:t>
            </a:r>
          </a:p>
          <a:p>
            <a:endParaRPr lang="en-US" sz="3200" dirty="0"/>
          </a:p>
          <a:p>
            <a:r>
              <a:rPr lang="en-US" sz="4400" dirty="0"/>
              <a:t>As we move forward in time, the window “rolls,” and the average is recalculated</a:t>
            </a:r>
            <a:r>
              <a:rPr lang="en-US" sz="4400" dirty="0">
                <a:latin typeface="Arial" pitchFamily="34" charset="0"/>
                <a:cs typeface="Arial" pitchFamily="34" charset="0"/>
              </a:rPr>
              <a:t>.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39644704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43093" y="662095"/>
            <a:ext cx="10558668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Key Points:</a:t>
            </a:r>
          </a:p>
          <a:p>
            <a:endParaRPr lang="en-US" sz="2400" b="1" dirty="0"/>
          </a:p>
          <a:p>
            <a:r>
              <a:rPr lang="en-US" sz="4400" b="1" i="1" dirty="0"/>
              <a:t>Usage:</a:t>
            </a:r>
          </a:p>
          <a:p>
            <a:endParaRPr lang="en-US" sz="2400" b="1" i="1" dirty="0"/>
          </a:p>
          <a:p>
            <a:pPr marL="742950" indent="-742950">
              <a:buAutoNum type="arabicPeriod"/>
            </a:pPr>
            <a:r>
              <a:rPr lang="en-US" sz="4000" dirty="0"/>
              <a:t>Smoothing noise (stock prices, financial data)</a:t>
            </a:r>
          </a:p>
          <a:p>
            <a:pPr marL="742950" indent="-742950">
              <a:buAutoNum type="arabicPeriod"/>
            </a:pPr>
            <a:r>
              <a:rPr lang="en-US" sz="4000" dirty="0"/>
              <a:t>Trend analysis (sensor data)</a:t>
            </a:r>
          </a:p>
          <a:p>
            <a:pPr marL="742950" indent="-742950">
              <a:buAutoNum type="arabicPeriod"/>
            </a:pPr>
            <a:r>
              <a:rPr lang="en-US" sz="4000" dirty="0"/>
              <a:t>Forecasting and anomaly detection (economics, sales, etc.)</a:t>
            </a:r>
          </a:p>
        </p:txBody>
      </p:sp>
    </p:spTree>
    <p:extLst>
      <p:ext uri="{BB962C8B-B14F-4D97-AF65-F5344CB8AC3E}">
        <p14:creationId xmlns:p14="http://schemas.microsoft.com/office/powerpoint/2010/main" val="22839702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743093" y="839649"/>
                <a:ext cx="10558668" cy="20005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400" b="1" dirty="0"/>
                  <a:t>Equation:</a:t>
                </a:r>
              </a:p>
              <a:p>
                <a:endParaRPr lang="en-US" sz="2400" b="1" dirty="0"/>
              </a:p>
              <a:p>
                <a:r>
                  <a:rPr lang="en-US" sz="2800" dirty="0"/>
                  <a:t>For a time series</a:t>
                </a:r>
                <a14:m>
                  <m:oMath xmlns:m="http://schemas.openxmlformats.org/officeDocument/2006/math"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 … </m:t>
                            </m:r>
                          </m:sub>
                        </m:sSub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800" dirty="0"/>
                  <a:t> and a chosen window size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800" dirty="0"/>
                  <a:t>, the simple moving average at time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𝑑𝑒𝑛𝑜𝑡𝑒𝑑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𝑆𝑀𝐴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𝑖𝑠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sz="2800" dirty="0"/>
                  <a:t> 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093" y="839649"/>
                <a:ext cx="10558668" cy="2000548"/>
              </a:xfrm>
              <a:prstGeom prst="rect">
                <a:avLst/>
              </a:prstGeom>
              <a:blipFill>
                <a:blip r:embed="rId2"/>
                <a:stretch>
                  <a:fillRect l="-2367" t="-6402" b="-7927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44403B6F-B0C3-487B-98F1-45ED487A65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6603" y="3059438"/>
            <a:ext cx="3560539" cy="144346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FBEFBEC-E7C9-487B-B4AE-1E56729E3211}"/>
                  </a:ext>
                </a:extLst>
              </p:cNvPr>
              <p:cNvSpPr txBox="1"/>
              <p:nvPr/>
            </p:nvSpPr>
            <p:spPr>
              <a:xfrm>
                <a:off x="743093" y="4756185"/>
                <a:ext cx="10558668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800" dirty="0"/>
                  <a:t> is the value of the series at index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endParaRPr lang="en-US" sz="2800" b="0" i="0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The</m:t>
                    </m:r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average</m:t>
                    </m:r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is</m:t>
                    </m:r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only</m:t>
                    </m:r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defined</m:t>
                    </m:r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it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sz="2800" dirty="0"/>
                  <a:t> n (i.e., enough points exist)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FBEFBEC-E7C9-487B-B4AE-1E56729E32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093" y="4756185"/>
                <a:ext cx="10558668" cy="954107"/>
              </a:xfrm>
              <a:prstGeom prst="rect">
                <a:avLst/>
              </a:prstGeom>
              <a:blipFill>
                <a:blip r:embed="rId4"/>
                <a:stretch>
                  <a:fillRect l="-1212" t="-5732" b="-17197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1725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2AA809-2A4D-8927-9EDB-A1A14B04A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C67D9-7476-42EA-B107-119E1B18B658}" type="slidenum">
              <a:rPr lang="en-US" smtClean="0"/>
              <a:t>8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1B5BA4-A81F-D114-FC41-427E1A232459}"/>
              </a:ext>
            </a:extLst>
          </p:cNvPr>
          <p:cNvSpPr txBox="1"/>
          <p:nvPr/>
        </p:nvSpPr>
        <p:spPr>
          <a:xfrm>
            <a:off x="858915" y="1031993"/>
            <a:ext cx="1028256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01. Given the data: 2, 4, 6. What is the 2-window moving average series?</a:t>
            </a:r>
            <a:endParaRPr lang="en-PH" sz="32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149247D-33DA-4534-A0F3-69F66B081F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4701111"/>
              </p:ext>
            </p:extLst>
          </p:nvPr>
        </p:nvGraphicFramePr>
        <p:xfrm>
          <a:off x="932463" y="2308997"/>
          <a:ext cx="10135464" cy="215351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135464">
                  <a:extLst>
                    <a:ext uri="{9D8B030D-6E8A-4147-A177-3AD203B41FA5}">
                      <a16:colId xmlns:a16="http://schemas.microsoft.com/office/drawing/2014/main" val="347220614"/>
                    </a:ext>
                  </a:extLst>
                </a:gridCol>
              </a:tblGrid>
              <a:tr h="417278">
                <a:tc>
                  <a:txBody>
                    <a:bodyPr/>
                    <a:lstStyle/>
                    <a:p>
                      <a:r>
                        <a:rPr lang="en-US" sz="2800" b="1" dirty="0"/>
                        <a:t>A</a:t>
                      </a:r>
                      <a:r>
                        <a:rPr lang="en-US" sz="2800" dirty="0"/>
                        <a:t>. (4, 6)</a:t>
                      </a:r>
                      <a:endParaRPr lang="en-PH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0890639"/>
                  </a:ext>
                </a:extLst>
              </a:tr>
              <a:tr h="599033">
                <a:tc>
                  <a:txBody>
                    <a:bodyPr/>
                    <a:lstStyle/>
                    <a:p>
                      <a:r>
                        <a:rPr lang="en-US" sz="2800" b="1" dirty="0"/>
                        <a:t>B</a:t>
                      </a:r>
                      <a:r>
                        <a:rPr lang="en-US" sz="2800" dirty="0"/>
                        <a:t>. (3, 5)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0900590"/>
                  </a:ext>
                </a:extLst>
              </a:tr>
              <a:tr h="508725">
                <a:tc>
                  <a:txBody>
                    <a:bodyPr/>
                    <a:lstStyle/>
                    <a:p>
                      <a:r>
                        <a:rPr lang="en-US" sz="2800" b="1" dirty="0"/>
                        <a:t>C</a:t>
                      </a:r>
                      <a:r>
                        <a:rPr lang="en-US" sz="2800" dirty="0"/>
                        <a:t>. (2, 4)</a:t>
                      </a:r>
                      <a:endParaRPr lang="en-PH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7780003"/>
                  </a:ext>
                </a:extLst>
              </a:tr>
              <a:tr h="5087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  <a:r>
                        <a:rPr lang="en-US" sz="2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 (3, 4)</a:t>
                      </a:r>
                      <a:endParaRPr lang="en-PH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66300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90241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06B9F-F1E9-5560-2509-662B9C2EE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8B8CCF-AEBC-6FF8-0E8F-7ACEA8730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C67D9-7476-42EA-B107-119E1B18B658}" type="slidenum">
              <a:rPr lang="en-US" smtClean="0"/>
              <a:t>9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6336DE-6D4F-5D7E-D64E-D04A75DBA80B}"/>
              </a:ext>
            </a:extLst>
          </p:cNvPr>
          <p:cNvSpPr txBox="1"/>
          <p:nvPr/>
        </p:nvSpPr>
        <p:spPr>
          <a:xfrm>
            <a:off x="858915" y="1031993"/>
            <a:ext cx="1028256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01. Given the data: 2, 4, 6. What is the 2-window moving average series?</a:t>
            </a:r>
            <a:endParaRPr lang="en-PH" sz="32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329FAE3-8E2E-90CB-6E1B-64AD8DC657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7329465"/>
              </p:ext>
            </p:extLst>
          </p:nvPr>
        </p:nvGraphicFramePr>
        <p:xfrm>
          <a:off x="932463" y="2308997"/>
          <a:ext cx="10135464" cy="215351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135464">
                  <a:extLst>
                    <a:ext uri="{9D8B030D-6E8A-4147-A177-3AD203B41FA5}">
                      <a16:colId xmlns:a16="http://schemas.microsoft.com/office/drawing/2014/main" val="347220614"/>
                    </a:ext>
                  </a:extLst>
                </a:gridCol>
              </a:tblGrid>
              <a:tr h="417278">
                <a:tc>
                  <a:txBody>
                    <a:bodyPr/>
                    <a:lstStyle/>
                    <a:p>
                      <a:r>
                        <a:rPr lang="en-US" sz="2800" b="1" dirty="0"/>
                        <a:t>A</a:t>
                      </a:r>
                      <a:r>
                        <a:rPr lang="en-US" sz="2800" dirty="0"/>
                        <a:t>. (4, 6)</a:t>
                      </a:r>
                      <a:endParaRPr lang="en-PH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0890639"/>
                  </a:ext>
                </a:extLst>
              </a:tr>
              <a:tr h="599033">
                <a:tc>
                  <a:txBody>
                    <a:bodyPr/>
                    <a:lstStyle/>
                    <a:p>
                      <a:r>
                        <a:rPr lang="en-US" sz="2800" b="1" dirty="0"/>
                        <a:t>B</a:t>
                      </a:r>
                      <a:r>
                        <a:rPr lang="en-US" sz="2800" dirty="0"/>
                        <a:t>. (3, 5)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0900590"/>
                  </a:ext>
                </a:extLst>
              </a:tr>
              <a:tr h="508725">
                <a:tc>
                  <a:txBody>
                    <a:bodyPr/>
                    <a:lstStyle/>
                    <a:p>
                      <a:r>
                        <a:rPr lang="en-US" sz="2800" b="1" dirty="0"/>
                        <a:t>C</a:t>
                      </a:r>
                      <a:r>
                        <a:rPr lang="en-US" sz="2800" dirty="0"/>
                        <a:t>. (2, 4)</a:t>
                      </a:r>
                      <a:endParaRPr lang="en-PH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7780003"/>
                  </a:ext>
                </a:extLst>
              </a:tr>
              <a:tr h="5087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  <a:r>
                        <a:rPr lang="en-US" sz="2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 (3, 4)</a:t>
                      </a:r>
                      <a:endParaRPr lang="en-PH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6630035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5F1866C-A6E8-8340-77BD-8943853B4285}"/>
                  </a:ext>
                </a:extLst>
              </p:cNvPr>
              <p:cNvSpPr txBox="1"/>
              <p:nvPr/>
            </p:nvSpPr>
            <p:spPr>
              <a:xfrm>
                <a:off x="858915" y="4870825"/>
                <a:ext cx="10282560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PH" sz="2000" b="1" dirty="0"/>
                  <a:t>Quick mental computation:</a:t>
                </a:r>
                <a:endParaRPr lang="en-PH" sz="2000" dirty="0"/>
              </a:p>
              <a:p>
                <a:r>
                  <a:rPr lang="en-PH" sz="2000" dirty="0"/>
                  <a:t>First average: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ar-AE"/>
                        </m:ctrlPr>
                      </m:dPr>
                      <m:e>
                        <m:r>
                          <a:rPr lang="ar-AE"/>
                          <m:t>2</m:t>
                        </m:r>
                        <m:r>
                          <a:rPr lang="ar-AE"/>
                          <m:t>+</m:t>
                        </m:r>
                        <m:r>
                          <a:rPr lang="ar-AE"/>
                          <m:t>4</m:t>
                        </m:r>
                      </m:e>
                    </m:d>
                    <m:r>
                      <a:rPr lang="ar-AE"/>
                      <m:t>/</m:t>
                    </m:r>
                    <m:r>
                      <a:rPr lang="ar-AE"/>
                      <m:t>2</m:t>
                    </m:r>
                    <m:r>
                      <a:rPr lang="ar-AE"/>
                      <m:t>=</m:t>
                    </m:r>
                    <m:r>
                      <a:rPr lang="ar-AE"/>
                      <m:t>6</m:t>
                    </m:r>
                    <m:r>
                      <a:rPr lang="ar-AE"/>
                      <m:t>/</m:t>
                    </m:r>
                    <m:r>
                      <a:rPr lang="ar-AE"/>
                      <m:t>2</m:t>
                    </m:r>
                    <m:r>
                      <a:rPr lang="ar-AE"/>
                      <m:t>=</m:t>
                    </m:r>
                    <m:r>
                      <a:rPr lang="ar-AE"/>
                      <m:t>3</m:t>
                    </m:r>
                  </m:oMath>
                </a14:m>
                <a:endParaRPr lang="ar-AE" sz="2000" dirty="0"/>
              </a:p>
              <a:p>
                <a:r>
                  <a:rPr lang="en-PH" sz="2000" dirty="0"/>
                  <a:t>Second average: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ar-AE"/>
                        </m:ctrlPr>
                      </m:dPr>
                      <m:e>
                        <m:r>
                          <a:rPr lang="ar-AE"/>
                          <m:t>4</m:t>
                        </m:r>
                        <m:r>
                          <a:rPr lang="ar-AE"/>
                          <m:t>+</m:t>
                        </m:r>
                        <m:r>
                          <a:rPr lang="ar-AE"/>
                          <m:t>6</m:t>
                        </m:r>
                      </m:e>
                    </m:d>
                    <m:r>
                      <a:rPr lang="ar-AE"/>
                      <m:t>/</m:t>
                    </m:r>
                    <m:r>
                      <a:rPr lang="ar-AE"/>
                      <m:t>2</m:t>
                    </m:r>
                    <m:r>
                      <a:rPr lang="ar-AE"/>
                      <m:t>=</m:t>
                    </m:r>
                    <m:r>
                      <a:rPr lang="ar-AE"/>
                      <m:t>10</m:t>
                    </m:r>
                    <m:r>
                      <a:rPr lang="ar-AE"/>
                      <m:t>/</m:t>
                    </m:r>
                    <m:r>
                      <a:rPr lang="ar-AE"/>
                      <m:t>2</m:t>
                    </m:r>
                    <m:r>
                      <a:rPr lang="ar-AE"/>
                      <m:t>=</m:t>
                    </m:r>
                    <m:r>
                      <a:rPr lang="ar-AE"/>
                      <m:t>5</m:t>
                    </m:r>
                  </m:oMath>
                </a14:m>
                <a:endParaRPr lang="ar-AE" sz="2000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5F1866C-A6E8-8340-77BD-8943853B42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915" y="4870825"/>
                <a:ext cx="10282560" cy="1015663"/>
              </a:xfrm>
              <a:prstGeom prst="rect">
                <a:avLst/>
              </a:prstGeom>
              <a:blipFill>
                <a:blip r:embed="rId2"/>
                <a:stretch>
                  <a:fillRect l="-652" t="-2994" b="-9581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015920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2F85A6-3C89-9571-DBE7-095A8AEEB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C21195-2407-4A03-5104-31877309B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C67D9-7476-42EA-B107-119E1B18B658}" type="slidenum">
              <a:rPr lang="en-US" smtClean="0"/>
              <a:t>10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0C2F7C-DD8B-D92C-C693-716591731F95}"/>
              </a:ext>
            </a:extLst>
          </p:cNvPr>
          <p:cNvSpPr txBox="1"/>
          <p:nvPr/>
        </p:nvSpPr>
        <p:spPr>
          <a:xfrm>
            <a:off x="858915" y="1031993"/>
            <a:ext cx="1028256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02. Given the data: 3, 6, 9, 12. What is the 3-window moving average series?</a:t>
            </a:r>
            <a:endParaRPr lang="en-PH" sz="32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9B37473-26C1-E5D5-9D16-253DFF2290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84784"/>
              </p:ext>
            </p:extLst>
          </p:nvPr>
        </p:nvGraphicFramePr>
        <p:xfrm>
          <a:off x="932463" y="2308997"/>
          <a:ext cx="10135464" cy="215351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135464">
                  <a:extLst>
                    <a:ext uri="{9D8B030D-6E8A-4147-A177-3AD203B41FA5}">
                      <a16:colId xmlns:a16="http://schemas.microsoft.com/office/drawing/2014/main" val="347220614"/>
                    </a:ext>
                  </a:extLst>
                </a:gridCol>
              </a:tblGrid>
              <a:tr h="417278">
                <a:tc>
                  <a:txBody>
                    <a:bodyPr/>
                    <a:lstStyle/>
                    <a:p>
                      <a:r>
                        <a:rPr lang="en-US" sz="2800" b="1" dirty="0"/>
                        <a:t>A</a:t>
                      </a:r>
                      <a:r>
                        <a:rPr lang="en-US" sz="2800" dirty="0"/>
                        <a:t>. (6, 9)</a:t>
                      </a:r>
                      <a:endParaRPr lang="en-PH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0890639"/>
                  </a:ext>
                </a:extLst>
              </a:tr>
              <a:tr h="599033">
                <a:tc>
                  <a:txBody>
                    <a:bodyPr/>
                    <a:lstStyle/>
                    <a:p>
                      <a:r>
                        <a:rPr lang="en-US" sz="2800" b="1" dirty="0"/>
                        <a:t>B</a:t>
                      </a:r>
                      <a:r>
                        <a:rPr lang="en-US" sz="2800" dirty="0"/>
                        <a:t>. (7, 10)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0900590"/>
                  </a:ext>
                </a:extLst>
              </a:tr>
              <a:tr h="508725">
                <a:tc>
                  <a:txBody>
                    <a:bodyPr/>
                    <a:lstStyle/>
                    <a:p>
                      <a:r>
                        <a:rPr lang="en-US" sz="2800" b="1" dirty="0"/>
                        <a:t>C</a:t>
                      </a:r>
                      <a:r>
                        <a:rPr lang="en-US" sz="2800" dirty="0"/>
                        <a:t>. (5, 8)</a:t>
                      </a:r>
                      <a:endParaRPr lang="en-PH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7780003"/>
                  </a:ext>
                </a:extLst>
              </a:tr>
              <a:tr h="5087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  <a:r>
                        <a:rPr lang="en-US" sz="2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 (6, 10)</a:t>
                      </a:r>
                      <a:endParaRPr lang="en-PH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66300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19250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587CD-B912-F029-C8E2-B913AA6E7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610CC5-EE3E-8728-DA7C-4BBB30700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C67D9-7476-42EA-B107-119E1B18B658}" type="slidenum">
              <a:rPr lang="en-US" smtClean="0"/>
              <a:t>11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2628C8-9479-1EC8-1DD8-CD2502B4F329}"/>
              </a:ext>
            </a:extLst>
          </p:cNvPr>
          <p:cNvSpPr txBox="1"/>
          <p:nvPr/>
        </p:nvSpPr>
        <p:spPr>
          <a:xfrm>
            <a:off x="858915" y="1031993"/>
            <a:ext cx="1028256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02. Given the data: 3, 6, 9, 12. What is the 3-window moving average series?</a:t>
            </a:r>
            <a:endParaRPr lang="en-PH" sz="32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3B1C29F-5141-B07A-06A5-77E4D40517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2244787"/>
              </p:ext>
            </p:extLst>
          </p:nvPr>
        </p:nvGraphicFramePr>
        <p:xfrm>
          <a:off x="932463" y="2308997"/>
          <a:ext cx="10135464" cy="215351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135464">
                  <a:extLst>
                    <a:ext uri="{9D8B030D-6E8A-4147-A177-3AD203B41FA5}">
                      <a16:colId xmlns:a16="http://schemas.microsoft.com/office/drawing/2014/main" val="347220614"/>
                    </a:ext>
                  </a:extLst>
                </a:gridCol>
              </a:tblGrid>
              <a:tr h="417278">
                <a:tc>
                  <a:txBody>
                    <a:bodyPr/>
                    <a:lstStyle/>
                    <a:p>
                      <a:r>
                        <a:rPr lang="en-US" sz="2800" b="1" dirty="0"/>
                        <a:t>A</a:t>
                      </a:r>
                      <a:r>
                        <a:rPr lang="en-US" sz="2800" dirty="0"/>
                        <a:t>. (6, 9)</a:t>
                      </a:r>
                      <a:endParaRPr lang="en-PH" sz="28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0890639"/>
                  </a:ext>
                </a:extLst>
              </a:tr>
              <a:tr h="599033">
                <a:tc>
                  <a:txBody>
                    <a:bodyPr/>
                    <a:lstStyle/>
                    <a:p>
                      <a:r>
                        <a:rPr lang="en-US" sz="2800" b="1" dirty="0"/>
                        <a:t>B</a:t>
                      </a:r>
                      <a:r>
                        <a:rPr lang="en-US" sz="2800" dirty="0"/>
                        <a:t>. (7, 10)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0900590"/>
                  </a:ext>
                </a:extLst>
              </a:tr>
              <a:tr h="508725">
                <a:tc>
                  <a:txBody>
                    <a:bodyPr/>
                    <a:lstStyle/>
                    <a:p>
                      <a:r>
                        <a:rPr lang="en-US" sz="2800" b="1" dirty="0"/>
                        <a:t>C</a:t>
                      </a:r>
                      <a:r>
                        <a:rPr lang="en-US" sz="2800" dirty="0"/>
                        <a:t>. (5, 8)</a:t>
                      </a:r>
                      <a:endParaRPr lang="en-PH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7780003"/>
                  </a:ext>
                </a:extLst>
              </a:tr>
              <a:tr h="5087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  <a:r>
                        <a:rPr lang="en-US" sz="2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 (6, 10)</a:t>
                      </a:r>
                      <a:endParaRPr lang="en-PH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6630035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AC8FDCB-3A08-3D01-55FE-E85865E18FC4}"/>
                  </a:ext>
                </a:extLst>
              </p:cNvPr>
              <p:cNvSpPr txBox="1"/>
              <p:nvPr/>
            </p:nvSpPr>
            <p:spPr>
              <a:xfrm>
                <a:off x="932463" y="4810344"/>
                <a:ext cx="10282560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PH" sz="2000" b="1" dirty="0">
                    <a:latin typeface="+mj-lt"/>
                  </a:rPr>
                  <a:t>Quick computation:</a:t>
                </a:r>
                <a:endParaRPr lang="en-PH" sz="2000" dirty="0">
                  <a:latin typeface="+mj-lt"/>
                </a:endParaRPr>
              </a:p>
              <a:p>
                <a:r>
                  <a:rPr lang="en-PH" sz="2000" dirty="0">
                    <a:latin typeface="+mj-lt"/>
                  </a:rPr>
                  <a:t>First average: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ar-AE" sz="2000">
                            <a:latin typeface="+mj-lt"/>
                          </a:rPr>
                        </m:ctrlPr>
                      </m:dPr>
                      <m:e>
                        <m:r>
                          <a:rPr lang="ar-AE" sz="2000">
                            <a:latin typeface="+mj-lt"/>
                          </a:rPr>
                          <m:t>3</m:t>
                        </m:r>
                        <m:r>
                          <a:rPr lang="ar-AE" sz="2000">
                            <a:latin typeface="+mj-lt"/>
                          </a:rPr>
                          <m:t>+</m:t>
                        </m:r>
                        <m:r>
                          <a:rPr lang="ar-AE" sz="2000">
                            <a:latin typeface="+mj-lt"/>
                          </a:rPr>
                          <m:t>6</m:t>
                        </m:r>
                        <m:r>
                          <a:rPr lang="ar-AE" sz="2000">
                            <a:latin typeface="+mj-lt"/>
                          </a:rPr>
                          <m:t>+</m:t>
                        </m:r>
                        <m:r>
                          <a:rPr lang="ar-AE" sz="2000">
                            <a:latin typeface="+mj-lt"/>
                          </a:rPr>
                          <m:t>9</m:t>
                        </m:r>
                      </m:e>
                    </m:d>
                    <m:r>
                      <a:rPr lang="ar-AE" sz="2000">
                        <a:latin typeface="+mj-lt"/>
                      </a:rPr>
                      <m:t>/</m:t>
                    </m:r>
                    <m:r>
                      <a:rPr lang="ar-AE" sz="2000">
                        <a:latin typeface="+mj-lt"/>
                      </a:rPr>
                      <m:t>3</m:t>
                    </m:r>
                    <m:r>
                      <a:rPr lang="ar-AE" sz="2000">
                        <a:latin typeface="+mj-lt"/>
                      </a:rPr>
                      <m:t>=</m:t>
                    </m:r>
                    <m:r>
                      <a:rPr lang="ar-AE" sz="2000">
                        <a:latin typeface="+mj-lt"/>
                      </a:rPr>
                      <m:t>18</m:t>
                    </m:r>
                    <m:r>
                      <a:rPr lang="ar-AE" sz="2000">
                        <a:latin typeface="+mj-lt"/>
                      </a:rPr>
                      <m:t>/</m:t>
                    </m:r>
                    <m:r>
                      <a:rPr lang="ar-AE" sz="2000">
                        <a:latin typeface="+mj-lt"/>
                      </a:rPr>
                      <m:t>3</m:t>
                    </m:r>
                    <m:r>
                      <a:rPr lang="ar-AE" sz="2000">
                        <a:latin typeface="+mj-lt"/>
                      </a:rPr>
                      <m:t>=</m:t>
                    </m:r>
                    <m:r>
                      <a:rPr lang="ar-AE" sz="2000">
                        <a:latin typeface="+mj-lt"/>
                      </a:rPr>
                      <m:t>6</m:t>
                    </m:r>
                  </m:oMath>
                </a14:m>
                <a:endParaRPr lang="ar-AE" sz="2000" dirty="0">
                  <a:latin typeface="+mj-lt"/>
                </a:endParaRPr>
              </a:p>
              <a:p>
                <a:r>
                  <a:rPr lang="en-PH" sz="2000" dirty="0">
                    <a:latin typeface="+mj-lt"/>
                  </a:rPr>
                  <a:t>Second average: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ar-AE" sz="2000">
                            <a:latin typeface="+mj-lt"/>
                          </a:rPr>
                        </m:ctrlPr>
                      </m:dPr>
                      <m:e>
                        <m:r>
                          <a:rPr lang="ar-AE" sz="2000">
                            <a:latin typeface="+mj-lt"/>
                          </a:rPr>
                          <m:t>6</m:t>
                        </m:r>
                        <m:r>
                          <a:rPr lang="ar-AE" sz="2000">
                            <a:latin typeface="+mj-lt"/>
                          </a:rPr>
                          <m:t>+</m:t>
                        </m:r>
                        <m:r>
                          <a:rPr lang="ar-AE" sz="2000">
                            <a:latin typeface="+mj-lt"/>
                          </a:rPr>
                          <m:t>9</m:t>
                        </m:r>
                        <m:r>
                          <a:rPr lang="ar-AE" sz="2000">
                            <a:latin typeface="+mj-lt"/>
                          </a:rPr>
                          <m:t>+</m:t>
                        </m:r>
                        <m:r>
                          <a:rPr lang="ar-AE" sz="2000">
                            <a:latin typeface="+mj-lt"/>
                          </a:rPr>
                          <m:t>12</m:t>
                        </m:r>
                      </m:e>
                    </m:d>
                    <m:r>
                      <a:rPr lang="ar-AE" sz="2000">
                        <a:latin typeface="+mj-lt"/>
                      </a:rPr>
                      <m:t>/</m:t>
                    </m:r>
                    <m:r>
                      <a:rPr lang="ar-AE" sz="2000">
                        <a:latin typeface="+mj-lt"/>
                      </a:rPr>
                      <m:t>3</m:t>
                    </m:r>
                    <m:r>
                      <a:rPr lang="ar-AE" sz="2000">
                        <a:latin typeface="+mj-lt"/>
                      </a:rPr>
                      <m:t>=</m:t>
                    </m:r>
                    <m:r>
                      <a:rPr lang="ar-AE" sz="2000">
                        <a:latin typeface="+mj-lt"/>
                      </a:rPr>
                      <m:t>27</m:t>
                    </m:r>
                    <m:r>
                      <a:rPr lang="ar-AE" sz="2000">
                        <a:latin typeface="+mj-lt"/>
                      </a:rPr>
                      <m:t>/</m:t>
                    </m:r>
                    <m:r>
                      <a:rPr lang="ar-AE" sz="2000">
                        <a:latin typeface="+mj-lt"/>
                      </a:rPr>
                      <m:t>3</m:t>
                    </m:r>
                    <m:r>
                      <a:rPr lang="ar-AE" sz="2000">
                        <a:latin typeface="+mj-lt"/>
                      </a:rPr>
                      <m:t>=</m:t>
                    </m:r>
                    <m:r>
                      <a:rPr lang="ar-AE" sz="2000">
                        <a:latin typeface="+mj-lt"/>
                      </a:rPr>
                      <m:t>9</m:t>
                    </m:r>
                  </m:oMath>
                </a14:m>
                <a:endParaRPr lang="ar-AE" sz="2000" dirty="0">
                  <a:latin typeface="+mj-lt"/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AC8FDCB-3A08-3D01-55FE-E85865E18F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463" y="4810344"/>
                <a:ext cx="10282560" cy="1015663"/>
              </a:xfrm>
              <a:prstGeom prst="rect">
                <a:avLst/>
              </a:prstGeom>
              <a:blipFill>
                <a:blip r:embed="rId2"/>
                <a:stretch>
                  <a:fillRect l="-652" t="-2994" b="-9581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90054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ECC863-1D85-79C3-0598-3DA55057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F7CCB9-A6B1-0469-A080-E38BBB22B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C67D9-7476-42EA-B107-119E1B18B658}" type="slidenum">
              <a:rPr lang="en-US" smtClean="0"/>
              <a:t>12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3CF13B-DF94-FB8A-5A72-EBD5756F1C6D}"/>
              </a:ext>
            </a:extLst>
          </p:cNvPr>
          <p:cNvSpPr txBox="1"/>
          <p:nvPr/>
        </p:nvSpPr>
        <p:spPr>
          <a:xfrm>
            <a:off x="858915" y="1031993"/>
            <a:ext cx="1028256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03. You have 10 data points and you compute a 3-window moving average. How many moving average values will you get?</a:t>
            </a:r>
            <a:endParaRPr lang="en-PH" sz="32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21FC1EE-B1FD-8B11-46DD-4EFC53164A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5631192"/>
              </p:ext>
            </p:extLst>
          </p:nvPr>
        </p:nvGraphicFramePr>
        <p:xfrm>
          <a:off x="932463" y="2897348"/>
          <a:ext cx="10135464" cy="215351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135464">
                  <a:extLst>
                    <a:ext uri="{9D8B030D-6E8A-4147-A177-3AD203B41FA5}">
                      <a16:colId xmlns:a16="http://schemas.microsoft.com/office/drawing/2014/main" val="347220614"/>
                    </a:ext>
                  </a:extLst>
                </a:gridCol>
              </a:tblGrid>
              <a:tr h="3914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800" b="1" dirty="0"/>
                        <a:t>A. </a:t>
                      </a:r>
                      <a:r>
                        <a:rPr lang="en-US" sz="2800" b="0" dirty="0"/>
                        <a:t>10</a:t>
                      </a:r>
                      <a:endParaRPr lang="en-PH" sz="2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0890639"/>
                  </a:ext>
                </a:extLst>
              </a:tr>
              <a:tr h="599033">
                <a:tc>
                  <a:txBody>
                    <a:bodyPr/>
                    <a:lstStyle/>
                    <a:p>
                      <a:r>
                        <a:rPr lang="en-US" sz="2800" b="1" dirty="0"/>
                        <a:t>B</a:t>
                      </a:r>
                      <a:r>
                        <a:rPr lang="en-US" sz="2800" dirty="0"/>
                        <a:t>. 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0900590"/>
                  </a:ext>
                </a:extLst>
              </a:tr>
              <a:tr h="508725">
                <a:tc>
                  <a:txBody>
                    <a:bodyPr/>
                    <a:lstStyle/>
                    <a:p>
                      <a:r>
                        <a:rPr lang="en-US" sz="2800" b="1" dirty="0"/>
                        <a:t>C</a:t>
                      </a:r>
                      <a:r>
                        <a:rPr lang="en-US" sz="2800" dirty="0"/>
                        <a:t>. 7</a:t>
                      </a:r>
                      <a:endParaRPr lang="en-PH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7780003"/>
                  </a:ext>
                </a:extLst>
              </a:tr>
              <a:tr h="5087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  <a:r>
                        <a:rPr lang="en-US" sz="2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 3</a:t>
                      </a:r>
                      <a:endParaRPr lang="en-PH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66300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41664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5268F4-F94F-466F-D969-2B7ADB4EF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CBAD94-5B9A-2B45-A9C5-5BD876B79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C67D9-7476-42EA-B107-119E1B18B658}" type="slidenum">
              <a:rPr lang="en-US" smtClean="0"/>
              <a:t>13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F8B564-7737-8249-EC76-16468AE33998}"/>
              </a:ext>
            </a:extLst>
          </p:cNvPr>
          <p:cNvSpPr txBox="1"/>
          <p:nvPr/>
        </p:nvSpPr>
        <p:spPr>
          <a:xfrm>
            <a:off x="858915" y="1031993"/>
            <a:ext cx="1028256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03. You have 10 data points and you compute a 3-window moving average. How many moving average values will you get?</a:t>
            </a:r>
            <a:endParaRPr lang="en-PH" sz="32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55128B5-0105-2A95-C333-F0E34BAC24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8466951"/>
              </p:ext>
            </p:extLst>
          </p:nvPr>
        </p:nvGraphicFramePr>
        <p:xfrm>
          <a:off x="932463" y="2897348"/>
          <a:ext cx="10135464" cy="215351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135464">
                  <a:extLst>
                    <a:ext uri="{9D8B030D-6E8A-4147-A177-3AD203B41FA5}">
                      <a16:colId xmlns:a16="http://schemas.microsoft.com/office/drawing/2014/main" val="347220614"/>
                    </a:ext>
                  </a:extLst>
                </a:gridCol>
              </a:tblGrid>
              <a:tr h="3914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800" b="1" dirty="0"/>
                        <a:t>A. </a:t>
                      </a:r>
                      <a:r>
                        <a:rPr lang="en-US" sz="2800" b="0" dirty="0"/>
                        <a:t>10</a:t>
                      </a:r>
                      <a:endParaRPr lang="en-PH" sz="2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0890639"/>
                  </a:ext>
                </a:extLst>
              </a:tr>
              <a:tr h="599033">
                <a:tc>
                  <a:txBody>
                    <a:bodyPr/>
                    <a:lstStyle/>
                    <a:p>
                      <a:r>
                        <a:rPr lang="en-US" sz="2800" b="1" dirty="0"/>
                        <a:t>B</a:t>
                      </a:r>
                      <a:r>
                        <a:rPr lang="en-US" sz="2800" dirty="0"/>
                        <a:t>. 8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0900590"/>
                  </a:ext>
                </a:extLst>
              </a:tr>
              <a:tr h="508725">
                <a:tc>
                  <a:txBody>
                    <a:bodyPr/>
                    <a:lstStyle/>
                    <a:p>
                      <a:r>
                        <a:rPr lang="en-US" sz="2800" b="1" dirty="0"/>
                        <a:t>C</a:t>
                      </a:r>
                      <a:r>
                        <a:rPr lang="en-US" sz="2800" dirty="0"/>
                        <a:t>. 7</a:t>
                      </a:r>
                      <a:endParaRPr lang="en-PH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7780003"/>
                  </a:ext>
                </a:extLst>
              </a:tr>
              <a:tr h="5087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  <a:r>
                        <a:rPr lang="en-US" sz="2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 3</a:t>
                      </a:r>
                      <a:endParaRPr lang="en-PH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6630035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1A1DD90-0D14-5192-FFD9-BDC8F9861120}"/>
                  </a:ext>
                </a:extLst>
              </p:cNvPr>
              <p:cNvSpPr txBox="1"/>
              <p:nvPr/>
            </p:nvSpPr>
            <p:spPr>
              <a:xfrm>
                <a:off x="858915" y="5334278"/>
                <a:ext cx="609452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PH" sz="2400" b="1" dirty="0">
                    <a:latin typeface="+mj-lt"/>
                  </a:rPr>
                  <a:t>(You get </a:t>
                </a:r>
                <a14:m>
                  <m:oMath xmlns:m="http://schemas.openxmlformats.org/officeDocument/2006/math">
                    <m:r>
                      <a:rPr lang="en-PH" sz="2400" b="1" i="1">
                        <a:latin typeface="+mj-lt"/>
                      </a:rPr>
                      <m:t>𝟏𝟎</m:t>
                    </m:r>
                    <m:r>
                      <a:rPr lang="en-PH" sz="2400" b="1" i="0">
                        <a:latin typeface="+mj-lt"/>
                      </a:rPr>
                      <m:t>−</m:t>
                    </m:r>
                    <m:r>
                      <a:rPr lang="en-PH" sz="2400" b="1" i="0">
                        <a:latin typeface="+mj-lt"/>
                      </a:rPr>
                      <m:t>𝟑</m:t>
                    </m:r>
                    <m:r>
                      <a:rPr lang="en-PH" sz="2400" b="1" i="0">
                        <a:latin typeface="+mj-lt"/>
                      </a:rPr>
                      <m:t>+</m:t>
                    </m:r>
                    <m:r>
                      <a:rPr lang="en-PH" sz="2400" b="1" i="0">
                        <a:latin typeface="+mj-lt"/>
                      </a:rPr>
                      <m:t>𝟏</m:t>
                    </m:r>
                    <m:r>
                      <a:rPr lang="en-PH" sz="2400" b="1" i="0">
                        <a:latin typeface="+mj-lt"/>
                      </a:rPr>
                      <m:t>=</m:t>
                    </m:r>
                    <m:r>
                      <a:rPr lang="en-PH" sz="2400" b="1" i="0">
                        <a:latin typeface="+mj-lt"/>
                      </a:rPr>
                      <m:t>𝟖</m:t>
                    </m:r>
                  </m:oMath>
                </a14:m>
                <a:r>
                  <a:rPr lang="en-PH" dirty="0">
                    <a:latin typeface="+mj-lt"/>
                  </a:rPr>
                  <a:t>)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1A1DD90-0D14-5192-FFD9-BDC8F98611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915" y="5334278"/>
                <a:ext cx="6094520" cy="461665"/>
              </a:xfrm>
              <a:prstGeom prst="rect">
                <a:avLst/>
              </a:prstGeom>
              <a:blipFill>
                <a:blip r:embed="rId2"/>
                <a:stretch>
                  <a:fillRect l="-1600" t="-10526" b="-28947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233460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C4D1AE-5E43-7F13-95DF-FF574140B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D30979-BCB1-24B3-2D03-6B60FDBFB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C67D9-7476-42EA-B107-119E1B18B658}" type="slidenum">
              <a:rPr lang="en-US" smtClean="0"/>
              <a:t>14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FE63C5-770B-1CAB-E871-F42FB2D99445}"/>
              </a:ext>
            </a:extLst>
          </p:cNvPr>
          <p:cNvSpPr txBox="1"/>
          <p:nvPr/>
        </p:nvSpPr>
        <p:spPr>
          <a:xfrm>
            <a:off x="858915" y="1031993"/>
            <a:ext cx="1028256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04. If you increase the moving average window size (example: from 3 to 5), the moving average becomes:</a:t>
            </a:r>
            <a:endParaRPr lang="en-PH" sz="32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E9945D8-A4B8-ABBA-E7BB-470BBF1A17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3041857"/>
              </p:ext>
            </p:extLst>
          </p:nvPr>
        </p:nvGraphicFramePr>
        <p:xfrm>
          <a:off x="932463" y="2897348"/>
          <a:ext cx="10135464" cy="215351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135464">
                  <a:extLst>
                    <a:ext uri="{9D8B030D-6E8A-4147-A177-3AD203B41FA5}">
                      <a16:colId xmlns:a16="http://schemas.microsoft.com/office/drawing/2014/main" val="347220614"/>
                    </a:ext>
                  </a:extLst>
                </a:gridCol>
              </a:tblGrid>
              <a:tr h="3914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800" b="1" dirty="0"/>
                        <a:t>A. </a:t>
                      </a:r>
                      <a:r>
                        <a:rPr lang="en-US" sz="2800" b="0" dirty="0"/>
                        <a:t>More smooth</a:t>
                      </a:r>
                      <a:endParaRPr lang="en-PH" sz="2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0890639"/>
                  </a:ext>
                </a:extLst>
              </a:tr>
              <a:tr h="599033">
                <a:tc>
                  <a:txBody>
                    <a:bodyPr/>
                    <a:lstStyle/>
                    <a:p>
                      <a:r>
                        <a:rPr lang="en-US" sz="2800" b="1" dirty="0"/>
                        <a:t>B</a:t>
                      </a:r>
                      <a:r>
                        <a:rPr lang="en-US" sz="2800" dirty="0"/>
                        <a:t>. More noisy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0900590"/>
                  </a:ext>
                </a:extLst>
              </a:tr>
              <a:tr h="508725">
                <a:tc>
                  <a:txBody>
                    <a:bodyPr/>
                    <a:lstStyle/>
                    <a:p>
                      <a:r>
                        <a:rPr lang="en-US" sz="2800" b="1" dirty="0"/>
                        <a:t>C</a:t>
                      </a:r>
                      <a:r>
                        <a:rPr lang="en-US" sz="2800" dirty="0"/>
                        <a:t>. Exactly the same</a:t>
                      </a:r>
                      <a:endParaRPr lang="en-PH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7780003"/>
                  </a:ext>
                </a:extLst>
              </a:tr>
              <a:tr h="5087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  <a:r>
                        <a:rPr lang="en-US" sz="2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 Always increasing</a:t>
                      </a:r>
                      <a:endParaRPr lang="en-PH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66300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47554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4D9BEE-453B-42C4-E154-428C8A2FD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B3D640-7DC4-82B7-0ADA-7E01C84E6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C67D9-7476-42EA-B107-119E1B18B658}" type="slidenum">
              <a:rPr lang="en-US" smtClean="0"/>
              <a:t>15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FE095D-F314-AD49-F783-FFE59A5F9E9A}"/>
              </a:ext>
            </a:extLst>
          </p:cNvPr>
          <p:cNvSpPr txBox="1"/>
          <p:nvPr/>
        </p:nvSpPr>
        <p:spPr>
          <a:xfrm>
            <a:off x="858915" y="1031993"/>
            <a:ext cx="1028256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04. If you increase the moving average window size (example: from 3 to 5), the moving average becomes:</a:t>
            </a:r>
            <a:endParaRPr lang="en-PH" sz="32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A2F15F7-3735-DF6A-6246-4E3218200C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1430423"/>
              </p:ext>
            </p:extLst>
          </p:nvPr>
        </p:nvGraphicFramePr>
        <p:xfrm>
          <a:off x="932463" y="2897348"/>
          <a:ext cx="10135464" cy="215351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135464">
                  <a:extLst>
                    <a:ext uri="{9D8B030D-6E8A-4147-A177-3AD203B41FA5}">
                      <a16:colId xmlns:a16="http://schemas.microsoft.com/office/drawing/2014/main" val="347220614"/>
                    </a:ext>
                  </a:extLst>
                </a:gridCol>
              </a:tblGrid>
              <a:tr h="3914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800" b="1" dirty="0"/>
                        <a:t>A. </a:t>
                      </a:r>
                      <a:r>
                        <a:rPr lang="en-US" sz="2800" b="0" dirty="0"/>
                        <a:t>More smooth</a:t>
                      </a:r>
                      <a:endParaRPr lang="en-PH" sz="2800" b="1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0890639"/>
                  </a:ext>
                </a:extLst>
              </a:tr>
              <a:tr h="599033">
                <a:tc>
                  <a:txBody>
                    <a:bodyPr/>
                    <a:lstStyle/>
                    <a:p>
                      <a:r>
                        <a:rPr lang="en-US" sz="2800" b="1" dirty="0"/>
                        <a:t>B</a:t>
                      </a:r>
                      <a:r>
                        <a:rPr lang="en-US" sz="2800" dirty="0"/>
                        <a:t>. More noisy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0900590"/>
                  </a:ext>
                </a:extLst>
              </a:tr>
              <a:tr h="508725">
                <a:tc>
                  <a:txBody>
                    <a:bodyPr/>
                    <a:lstStyle/>
                    <a:p>
                      <a:r>
                        <a:rPr lang="en-US" sz="2800" b="1" dirty="0"/>
                        <a:t>C</a:t>
                      </a:r>
                      <a:r>
                        <a:rPr lang="en-US" sz="2800" dirty="0"/>
                        <a:t>. Exactly the same</a:t>
                      </a:r>
                      <a:endParaRPr lang="en-PH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7780003"/>
                  </a:ext>
                </a:extLst>
              </a:tr>
              <a:tr h="5087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  <a:r>
                        <a:rPr lang="en-US" sz="2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 Always increasing</a:t>
                      </a:r>
                      <a:endParaRPr lang="en-PH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6630035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2DADAD72-31BD-997A-ACD6-0139F65807C8}"/>
              </a:ext>
            </a:extLst>
          </p:cNvPr>
          <p:cNvSpPr txBox="1"/>
          <p:nvPr/>
        </p:nvSpPr>
        <p:spPr>
          <a:xfrm>
            <a:off x="858915" y="5334278"/>
            <a:ext cx="794773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2400" b="1" dirty="0">
                <a:latin typeface="+mj-lt"/>
              </a:rPr>
              <a:t>It becomes smoother, but less sensitive to changes</a:t>
            </a:r>
            <a:endParaRPr lang="en-PH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8360590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43093" y="1185878"/>
            <a:ext cx="10558668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Expanding Window</a:t>
            </a:r>
          </a:p>
          <a:p>
            <a:endParaRPr lang="en-US" sz="2400" b="1" dirty="0"/>
          </a:p>
          <a:p>
            <a:r>
              <a:rPr lang="en-US" sz="4400" dirty="0"/>
              <a:t>An expanding window in time series analysis progressively increasing the size of the window from the start of the series up to the current point in time</a:t>
            </a:r>
            <a:endParaRPr lang="en-PH" sz="44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10400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43093" y="1185878"/>
            <a:ext cx="10558668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Expanding Window</a:t>
            </a:r>
          </a:p>
          <a:p>
            <a:endParaRPr lang="en-US" sz="2400" b="1" dirty="0"/>
          </a:p>
          <a:p>
            <a:r>
              <a:rPr lang="en-US" sz="4400" dirty="0"/>
              <a:t>It accumulates all available data from the beginning (or from an initial index) up to the current point.</a:t>
            </a:r>
            <a:endParaRPr lang="en-PH" sz="44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51033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43093" y="1185878"/>
            <a:ext cx="10558668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Key Benefits:</a:t>
            </a:r>
          </a:p>
          <a:p>
            <a:endParaRPr lang="en-US" sz="2400" b="1" dirty="0"/>
          </a:p>
          <a:p>
            <a:r>
              <a:rPr lang="en-US" sz="3200" b="1" dirty="0"/>
              <a:t>1. Includes all prior observations</a:t>
            </a:r>
            <a:endParaRPr lang="en-US" sz="2400" dirty="0"/>
          </a:p>
          <a:p>
            <a:r>
              <a:rPr lang="en-US" sz="3200" b="1" dirty="0"/>
              <a:t>2. Shows long-term trend</a:t>
            </a:r>
          </a:p>
          <a:p>
            <a:r>
              <a:rPr lang="en-US" sz="3200" b="1" dirty="0"/>
              <a:t>3. Common in cumulative performance</a:t>
            </a:r>
          </a:p>
        </p:txBody>
      </p:sp>
    </p:spTree>
    <p:extLst>
      <p:ext uri="{BB962C8B-B14F-4D97-AF65-F5344CB8AC3E}">
        <p14:creationId xmlns:p14="http://schemas.microsoft.com/office/powerpoint/2010/main" val="36567153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623F9CCC-C21C-4E7B-8C82-4B4E839D12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1148706"/>
              </p:ext>
            </p:extLst>
          </p:nvPr>
        </p:nvGraphicFramePr>
        <p:xfrm>
          <a:off x="1056442" y="1305016"/>
          <a:ext cx="9951870" cy="39061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317290">
                  <a:extLst>
                    <a:ext uri="{9D8B030D-6E8A-4147-A177-3AD203B41FA5}">
                      <a16:colId xmlns:a16="http://schemas.microsoft.com/office/drawing/2014/main" val="1413458353"/>
                    </a:ext>
                  </a:extLst>
                </a:gridCol>
                <a:gridCol w="3317290">
                  <a:extLst>
                    <a:ext uri="{9D8B030D-6E8A-4147-A177-3AD203B41FA5}">
                      <a16:colId xmlns:a16="http://schemas.microsoft.com/office/drawing/2014/main" val="2778250609"/>
                    </a:ext>
                  </a:extLst>
                </a:gridCol>
                <a:gridCol w="3317290">
                  <a:extLst>
                    <a:ext uri="{9D8B030D-6E8A-4147-A177-3AD203B41FA5}">
                      <a16:colId xmlns:a16="http://schemas.microsoft.com/office/drawing/2014/main" val="800272216"/>
                    </a:ext>
                  </a:extLst>
                </a:gridCol>
              </a:tblGrid>
              <a:tr h="727970"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Aspect</a:t>
                      </a:r>
                      <a:endParaRPr lang="en-PH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Rolling Window</a:t>
                      </a:r>
                      <a:endParaRPr lang="en-PH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Expanding Window</a:t>
                      </a:r>
                      <a:endParaRPr lang="en-PH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452595"/>
                  </a:ext>
                </a:extLst>
              </a:tr>
              <a:tr h="794552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Window Size</a:t>
                      </a:r>
                      <a:endParaRPr lang="en-PH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Fixed or sliding (last n points)</a:t>
                      </a:r>
                      <a:endParaRPr lang="en-PH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Grows from start point to the current index</a:t>
                      </a:r>
                      <a:endParaRPr lang="en-PH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6123368"/>
                  </a:ext>
                </a:extLst>
              </a:tr>
              <a:tr h="794552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Data Usage</a:t>
                      </a:r>
                      <a:endParaRPr lang="en-PH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Only uses most recent </a:t>
                      </a:r>
                      <a:r>
                        <a:rPr lang="en-US" i="1" dirty="0"/>
                        <a:t>n </a:t>
                      </a:r>
                      <a:r>
                        <a:rPr lang="en-US" i="0" dirty="0"/>
                        <a:t>points are available</a:t>
                      </a:r>
                      <a:endParaRPr lang="en-PH" i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Use all observations since the beginning (or min period)</a:t>
                      </a:r>
                      <a:endParaRPr lang="en-PH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3803578"/>
                  </a:ext>
                </a:extLst>
              </a:tr>
              <a:tr h="794552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Edge Effects</a:t>
                      </a:r>
                      <a:endParaRPr lang="en-PH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i="0" dirty="0"/>
                        <a:t>Not computed until the first n points are available</a:t>
                      </a:r>
                      <a:endParaRPr lang="en-PH" i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Starts as soon as minimum data is available, expanding</a:t>
                      </a:r>
                      <a:endParaRPr lang="en-PH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0116029"/>
                  </a:ext>
                </a:extLst>
              </a:tr>
              <a:tr h="794552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Example</a:t>
                      </a:r>
                      <a:endParaRPr lang="en-PH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i="0" dirty="0"/>
                        <a:t>7-day moving average on daily data</a:t>
                      </a:r>
                      <a:endParaRPr lang="en-PH" i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Cumulative average from day 1 to the current day</a:t>
                      </a:r>
                      <a:endParaRPr lang="en-PH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73436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69962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721364" y="2562078"/>
            <a:ext cx="107492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latin typeface="Arial" pitchFamily="34" charset="0"/>
                <a:cs typeface="Arial" pitchFamily="34" charset="0"/>
              </a:rPr>
              <a:t>[Code Demo]</a:t>
            </a:r>
            <a:endParaRPr lang="en-US" sz="3200" b="1" dirty="0">
              <a:solidFill>
                <a:schemeClr val="accent2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76206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8454C-35A0-9F31-4433-684B75519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D0EBAD2-2C70-A4ED-C950-7BA8706D2ACA}"/>
              </a:ext>
            </a:extLst>
          </p:cNvPr>
          <p:cNvSpPr txBox="1"/>
          <p:nvPr/>
        </p:nvSpPr>
        <p:spPr>
          <a:xfrm>
            <a:off x="858915" y="1031993"/>
            <a:ext cx="1028256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05. Given the data: 2, 4, 6, what is the 2-window expanding average?</a:t>
            </a:r>
            <a:endParaRPr lang="en-PH" sz="32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D8351C4-CA1B-231B-CB79-1D375FDCE7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7071110"/>
              </p:ext>
            </p:extLst>
          </p:nvPr>
        </p:nvGraphicFramePr>
        <p:xfrm>
          <a:off x="932463" y="2897348"/>
          <a:ext cx="10135464" cy="215351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135464">
                  <a:extLst>
                    <a:ext uri="{9D8B030D-6E8A-4147-A177-3AD203B41FA5}">
                      <a16:colId xmlns:a16="http://schemas.microsoft.com/office/drawing/2014/main" val="347220614"/>
                    </a:ext>
                  </a:extLst>
                </a:gridCol>
              </a:tblGrid>
              <a:tr h="3914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800" b="1" dirty="0"/>
                        <a:t>A. </a:t>
                      </a:r>
                      <a:r>
                        <a:rPr lang="en-US" sz="2800" b="0" dirty="0"/>
                        <a:t>(3, 5)</a:t>
                      </a:r>
                      <a:endParaRPr lang="en-PH" sz="2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0890639"/>
                  </a:ext>
                </a:extLst>
              </a:tr>
              <a:tr h="599033">
                <a:tc>
                  <a:txBody>
                    <a:bodyPr/>
                    <a:lstStyle/>
                    <a:p>
                      <a:r>
                        <a:rPr lang="en-US" sz="2800" b="1" dirty="0"/>
                        <a:t>B</a:t>
                      </a:r>
                      <a:r>
                        <a:rPr lang="en-US" sz="2800" dirty="0"/>
                        <a:t>. (4, 5)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0900590"/>
                  </a:ext>
                </a:extLst>
              </a:tr>
              <a:tr h="508725">
                <a:tc>
                  <a:txBody>
                    <a:bodyPr/>
                    <a:lstStyle/>
                    <a:p>
                      <a:r>
                        <a:rPr lang="en-US" sz="2800" b="1" dirty="0"/>
                        <a:t>C</a:t>
                      </a:r>
                      <a:r>
                        <a:rPr lang="en-US" sz="2800" dirty="0"/>
                        <a:t>. (2, 4)</a:t>
                      </a:r>
                      <a:endParaRPr lang="en-PH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7780003"/>
                  </a:ext>
                </a:extLst>
              </a:tr>
              <a:tr h="5087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  <a:r>
                        <a:rPr lang="en-US" sz="2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 (3, 4)</a:t>
                      </a:r>
                      <a:endParaRPr lang="en-PH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66300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81313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5C46C-C2E4-B663-0C26-D0451320A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11F1DAD-26C4-AE75-8747-E93FA06F5EDA}"/>
              </a:ext>
            </a:extLst>
          </p:cNvPr>
          <p:cNvSpPr txBox="1"/>
          <p:nvPr/>
        </p:nvSpPr>
        <p:spPr>
          <a:xfrm>
            <a:off x="858915" y="1031993"/>
            <a:ext cx="1028256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05. Given the data: 2, 4, 6, what is the 2-window expanding average?</a:t>
            </a:r>
            <a:endParaRPr lang="en-PH" sz="32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C57EEC7-1948-7DC8-8AF7-F9AE549BED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8695735"/>
              </p:ext>
            </p:extLst>
          </p:nvPr>
        </p:nvGraphicFramePr>
        <p:xfrm>
          <a:off x="932463" y="2391655"/>
          <a:ext cx="10135464" cy="215351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135464">
                  <a:extLst>
                    <a:ext uri="{9D8B030D-6E8A-4147-A177-3AD203B41FA5}">
                      <a16:colId xmlns:a16="http://schemas.microsoft.com/office/drawing/2014/main" val="347220614"/>
                    </a:ext>
                  </a:extLst>
                </a:gridCol>
              </a:tblGrid>
              <a:tr h="3914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800" b="1" dirty="0"/>
                        <a:t>A. </a:t>
                      </a:r>
                      <a:r>
                        <a:rPr lang="en-US" sz="2800" b="0" dirty="0"/>
                        <a:t>(3, 5)</a:t>
                      </a:r>
                      <a:endParaRPr lang="en-PH" sz="2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0890639"/>
                  </a:ext>
                </a:extLst>
              </a:tr>
              <a:tr h="599033">
                <a:tc>
                  <a:txBody>
                    <a:bodyPr/>
                    <a:lstStyle/>
                    <a:p>
                      <a:r>
                        <a:rPr lang="en-US" sz="2800" b="1" dirty="0"/>
                        <a:t>B</a:t>
                      </a:r>
                      <a:r>
                        <a:rPr lang="en-US" sz="2800" dirty="0"/>
                        <a:t>. (4, 5)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0900590"/>
                  </a:ext>
                </a:extLst>
              </a:tr>
              <a:tr h="508725">
                <a:tc>
                  <a:txBody>
                    <a:bodyPr/>
                    <a:lstStyle/>
                    <a:p>
                      <a:r>
                        <a:rPr lang="en-US" sz="2800" b="1" dirty="0"/>
                        <a:t>C</a:t>
                      </a:r>
                      <a:r>
                        <a:rPr lang="en-US" sz="2800" dirty="0"/>
                        <a:t>. (2, 4)</a:t>
                      </a:r>
                      <a:endParaRPr lang="en-PH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7780003"/>
                  </a:ext>
                </a:extLst>
              </a:tr>
              <a:tr h="5087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  <a:r>
                        <a:rPr lang="en-US" sz="2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 (3, 4)</a:t>
                      </a:r>
                      <a:endParaRPr lang="en-PH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6630035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41DE6244-DD77-11CA-9238-CECF4978F506}"/>
              </a:ext>
            </a:extLst>
          </p:cNvPr>
          <p:cNvSpPr txBox="1"/>
          <p:nvPr/>
        </p:nvSpPr>
        <p:spPr>
          <a:xfrm>
            <a:off x="932463" y="4810344"/>
            <a:ext cx="1028256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000" b="1" dirty="0">
                <a:latin typeface="+mj-lt"/>
              </a:rPr>
              <a:t>Quick computation:</a:t>
            </a:r>
            <a:endParaRPr lang="en-PH" sz="2000" dirty="0">
              <a:latin typeface="+mj-lt"/>
            </a:endParaRPr>
          </a:p>
          <a:p>
            <a:r>
              <a:rPr lang="en-US" sz="2000" dirty="0">
                <a:latin typeface="+mj-lt"/>
              </a:rPr>
              <a:t>First expanding average: (2 + 4) / 2 = 6 / 2 = 3 (Average of first 2 values)</a:t>
            </a:r>
          </a:p>
          <a:p>
            <a:r>
              <a:rPr lang="en-US" sz="2000" dirty="0">
                <a:latin typeface="+mj-lt"/>
              </a:rPr>
              <a:t>Next expanding average: (2 + 4 + 6) / 3 = 12 / 3 = 4 (Average of first 3 values)</a:t>
            </a:r>
            <a:endParaRPr lang="ar-AE" sz="2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4887601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721364" y="2562078"/>
            <a:ext cx="107492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latin typeface="Arial" pitchFamily="34" charset="0"/>
                <a:cs typeface="Arial" pitchFamily="34" charset="0"/>
              </a:rPr>
              <a:t>Thank you very much for listening</a:t>
            </a:r>
            <a:r>
              <a:rPr lang="en-US" sz="3200" b="1" dirty="0">
                <a:latin typeface="Arial" pitchFamily="34" charset="0"/>
                <a:cs typeface="Arial" pitchFamily="34" charset="0"/>
              </a:rPr>
              <a:t>.</a:t>
            </a:r>
            <a:endParaRPr lang="en-US" sz="3200" b="1" dirty="0">
              <a:solidFill>
                <a:schemeClr val="accent2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83788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1222</TotalTime>
  <Words>927</Words>
  <Application>Microsoft Office PowerPoint</Application>
  <PresentationFormat>Widescreen</PresentationFormat>
  <Paragraphs>132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Arial Black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Wael Elmedany</dc:creator>
  <cp:lastModifiedBy>Renato Maaliw III</cp:lastModifiedBy>
  <cp:revision>264</cp:revision>
  <dcterms:created xsi:type="dcterms:W3CDTF">2018-09-30T06:22:05Z</dcterms:created>
  <dcterms:modified xsi:type="dcterms:W3CDTF">2026-01-23T02:18:18Z</dcterms:modified>
</cp:coreProperties>
</file>