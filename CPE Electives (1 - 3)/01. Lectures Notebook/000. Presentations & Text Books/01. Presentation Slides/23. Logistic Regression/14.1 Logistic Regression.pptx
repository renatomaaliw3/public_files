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6" r:id="rId2"/>
    <p:sldId id="264" r:id="rId3"/>
    <p:sldId id="287" r:id="rId4"/>
    <p:sldId id="288" r:id="rId5"/>
    <p:sldId id="289" r:id="rId6"/>
    <p:sldId id="290" r:id="rId7"/>
    <p:sldId id="293" r:id="rId8"/>
    <p:sldId id="294" r:id="rId9"/>
    <p:sldId id="297" r:id="rId10"/>
    <p:sldId id="295" r:id="rId11"/>
    <p:sldId id="298" r:id="rId12"/>
    <p:sldId id="299" r:id="rId13"/>
    <p:sldId id="300" r:id="rId14"/>
    <p:sldId id="301" r:id="rId15"/>
    <p:sldId id="29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5938"/>
    <a:srgbClr val="F5EA5A"/>
    <a:srgbClr val="00B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70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7F418-D31A-43EE-A0C4-DE0D40923F98}" type="datetimeFigureOut">
              <a:rPr lang="en-CA" smtClean="0"/>
              <a:t>2026-03-06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7A79B-AE40-4F3A-AC33-553894F268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122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CF9D4-6142-441F-9CC7-B111E5F3C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BD84C9-C47B-4688-9E12-08B97B78C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306C19-EDB8-45AC-A06D-1C6E7A46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420566-273E-44F3-9CE4-498C9486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6D2815-D915-46BB-8E74-27731C32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97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785E31-5EE4-4031-8DAA-64044DE08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AB51F7-AD05-4812-9AEE-F0A7A18CE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9D8A6-338D-4A25-B834-B4A942E9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93547E-E0C5-4326-ADC3-C43A6781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67DB44-D3F4-429C-AB2C-E561CB26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67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80BB85-69F4-4080-A77B-EECE9C1B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01A13A-6D46-453F-BAB2-4BAD520A2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488E4D-D5CA-49EC-B38E-714DAC9C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8CB60D-9BAE-4973-973B-4C6853AB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C6DFA2-C663-4447-B1F9-BB6A38C3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347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9C6E8-AF90-4703-A9FA-9A65E134A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2C6401-88FE-47FD-A731-DD657AEEC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D3D0E6-298D-4282-8913-20026FB74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5D25A3-27E5-4E98-8C5A-B2B0697A7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63F4A1-44B5-41E4-B96B-51C286B3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6F89BA-5274-4D7F-A22B-03488DE5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78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0A037-7520-4515-B45B-E8BD71A13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742552-6925-46F5-A258-858B909F1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D3C8B9-BC17-42B1-9536-626041E4B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F04948-91DA-4B89-B095-A18DE466F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12104A-EB67-4275-8DE6-7CA0254DD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CE6559-6BBF-4F82-812F-26DCBE157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43346E-31FD-437F-8433-ED2A4FFA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BB8E7B-DEEF-4F36-AC1E-1ADBCD81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03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D8A9B-DDEE-472D-98C8-342D02A24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891E0F-5CBA-4701-9802-49F747FD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DB64FE-FE57-4FE5-A383-911D9E8B2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80F91C-FC09-444F-8303-0A51AAC9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38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4DC091D-E20B-43AF-85A6-D06B098A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256F216-F3C5-4473-B251-72A6A8FB0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10FE17-D12B-4940-A9BA-F5142885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76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FB74CF-2BF5-499E-835A-8CD87C61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A49E46-BCFA-4A8B-A9EC-843184808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73AFB1-BE5F-4F23-82EA-A9E2EDCFC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A59952-DF38-4E91-AC68-8C3C22117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2383BB-619B-4187-A5BC-042AE98C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22BE86-61A8-405E-B05C-9ED660BAE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41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85C4CA-FD62-44D2-81B3-AB78C84EB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4F94F9-A9E5-4C0A-BC98-D38C5AA9A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88FB35-2220-4ACE-970D-43F2556CC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CB7B7F-DA8E-4AED-B458-D0634CB1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F43AE8-ADD4-4B08-B8BC-39D66C3A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4F0B5B-F0B4-42E7-AEF3-F79F9477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71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DE03E-921D-4B71-9894-652B786F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79575F-2318-430B-A3C7-280A00723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D7F357-B243-4712-AB7A-F0C6E60AA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3082FC-CA95-4D75-B66C-561D51CC3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50573C-42FA-4875-8D00-243C2A88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20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45DC263-2243-4775-9DD9-3D4006A07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D7DE7F-6F3E-45F8-BCCB-1A39543D1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E95832-C46F-4E70-8D36-2D6C6305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B8BEBA-10F7-420F-850F-8C895A1E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5B1847-01D3-4BFB-9989-12EDDB18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004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3E1944-26C3-41F2-9AC9-82569296A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855009-06D1-457C-AA16-D256E4C89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319EE4-DC46-41D9-BA81-50318AE27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E9FA1-3201-4CFE-B59E-2CC3904A385B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15DEA4-AA2E-4600-8609-2131E0FB2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E62007-BA97-4721-9442-9F52017CE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DFB81-B4D1-4C46-8DB6-75181515B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2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E67B3E4-BB7B-40BE-A577-E4FDFEC453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DEA9233-6D6E-462E-AE1B-A4C215EB6A69}"/>
              </a:ext>
            </a:extLst>
          </p:cNvPr>
          <p:cNvSpPr/>
          <p:nvPr/>
        </p:nvSpPr>
        <p:spPr>
          <a:xfrm>
            <a:off x="472210" y="568978"/>
            <a:ext cx="4846550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600"/>
              </a:lnSpc>
            </a:pPr>
            <a:r>
              <a:rPr lang="en-US" sz="3400" b="1" dirty="0">
                <a:solidFill>
                  <a:srgbClr val="F0FFFB"/>
                </a:solidFill>
                <a:latin typeface="Montserrat" charset="0"/>
                <a:ea typeface="Montserrat" charset="0"/>
                <a:cs typeface="Montserrat" charset="0"/>
              </a:rPr>
              <a:t>MACHINE LEARNING REGRESSION</a:t>
            </a:r>
            <a:endParaRPr lang="ru-RU" sz="3400" b="1" dirty="0">
              <a:solidFill>
                <a:srgbClr val="F0FFFB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5C1B52A-51DB-404A-8E99-A04068EE7437}"/>
              </a:ext>
            </a:extLst>
          </p:cNvPr>
          <p:cNvSpPr/>
          <p:nvPr/>
        </p:nvSpPr>
        <p:spPr>
          <a:xfrm>
            <a:off x="464590" y="2351366"/>
            <a:ext cx="5918103" cy="1728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600"/>
              </a:lnSpc>
            </a:pPr>
            <a:r>
              <a:rPr lang="en-US" sz="4900" b="1" dirty="0">
                <a:solidFill>
                  <a:srgbClr val="F0FFFB"/>
                </a:solidFill>
                <a:latin typeface="Montserrat" charset="0"/>
                <a:ea typeface="Montserrat" charset="0"/>
                <a:cs typeface="Montserrat" charset="0"/>
              </a:rPr>
              <a:t>LOGISTIC </a:t>
            </a:r>
          </a:p>
          <a:p>
            <a:pPr>
              <a:lnSpc>
                <a:spcPts val="6600"/>
              </a:lnSpc>
            </a:pPr>
            <a:r>
              <a:rPr lang="en-US" sz="4900" b="1" dirty="0">
                <a:solidFill>
                  <a:srgbClr val="F0FFFB"/>
                </a:solidFill>
                <a:latin typeface="Montserrat" charset="0"/>
                <a:ea typeface="Montserrat" charset="0"/>
                <a:cs typeface="Montserrat" charset="0"/>
              </a:rPr>
              <a:t>REGRESSION</a:t>
            </a:r>
            <a:endParaRPr lang="ru-RU" sz="4900" b="1" dirty="0">
              <a:solidFill>
                <a:srgbClr val="F0FFFB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86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LOGISTIC REGRESSION: INTUITION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39700" y="1278900"/>
            <a:ext cx="1131415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2000" b="1" dirty="0">
                <a:latin typeface="Montserrat" panose="02000505000000020004" pitchFamily="2" charset="0"/>
              </a:rPr>
              <a:t>Linear regression </a:t>
            </a:r>
            <a:r>
              <a:rPr lang="en-CA" sz="2000" dirty="0">
                <a:latin typeface="Montserrat" panose="02000505000000020004" pitchFamily="2" charset="0"/>
              </a:rPr>
              <a:t>is used to predict outputs on a continuous spectrum. </a:t>
            </a:r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CA" dirty="0">
                <a:latin typeface="Montserrat" panose="02000505000000020004" pitchFamily="2" charset="0"/>
              </a:rPr>
              <a:t> Example: predicting revenue based on the outside air temperature.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2000" b="1" dirty="0">
                <a:latin typeface="Montserrat" panose="02000505000000020004" pitchFamily="2" charset="0"/>
              </a:rPr>
              <a:t>Logistic regression is used to predict binary outputs</a:t>
            </a:r>
            <a:r>
              <a:rPr lang="en-CA" sz="2000" dirty="0">
                <a:latin typeface="Montserrat" panose="02000505000000020004" pitchFamily="2" charset="0"/>
              </a:rPr>
              <a:t> with 2 possible values (0 or 1)</a:t>
            </a:r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CA" dirty="0">
                <a:latin typeface="Montserrat" panose="02000505000000020004" pitchFamily="2" charset="0"/>
              </a:rPr>
              <a:t> Logistic model output can be one of two classes: pass/fail, win/lose, healthy/sick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800" dirty="0">
              <a:latin typeface="Montserrat" charset="0"/>
              <a:ea typeface="Montserrat" charset="0"/>
              <a:cs typeface="Montserrat" charset="0"/>
            </a:endParaRPr>
          </a:p>
          <a:p>
            <a:pPr fontAlgn="base"/>
            <a:endParaRPr lang="en-CA" sz="1800" dirty="0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2273946" y="3279496"/>
            <a:ext cx="5098404" cy="29178"/>
          </a:xfrm>
          <a:prstGeom prst="line">
            <a:avLst/>
          </a:prstGeom>
          <a:ln w="57150">
            <a:solidFill>
              <a:srgbClr val="A5D9E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2297378" y="5645234"/>
            <a:ext cx="5074972" cy="47702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2290202" y="3031524"/>
            <a:ext cx="37834" cy="2684438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47095" y="5509636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/>
          <p:cNvSpPr/>
          <p:nvPr/>
        </p:nvSpPr>
        <p:spPr>
          <a:xfrm>
            <a:off x="3043686" y="5515585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/>
          <p:cNvSpPr/>
          <p:nvPr/>
        </p:nvSpPr>
        <p:spPr>
          <a:xfrm>
            <a:off x="3600856" y="5509636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/>
          <p:cNvSpPr/>
          <p:nvPr/>
        </p:nvSpPr>
        <p:spPr>
          <a:xfrm>
            <a:off x="3966689" y="3158615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/>
          <p:cNvSpPr/>
          <p:nvPr/>
        </p:nvSpPr>
        <p:spPr>
          <a:xfrm>
            <a:off x="5830172" y="3129437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/>
          <p:cNvSpPr/>
          <p:nvPr/>
        </p:nvSpPr>
        <p:spPr>
          <a:xfrm>
            <a:off x="6271264" y="3129437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/>
          <p:cNvSpPr/>
          <p:nvPr/>
        </p:nvSpPr>
        <p:spPr>
          <a:xfrm>
            <a:off x="5397502" y="3139084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/>
          <p:cNvSpPr/>
          <p:nvPr/>
        </p:nvSpPr>
        <p:spPr>
          <a:xfrm>
            <a:off x="4548292" y="3138516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TextBox 22"/>
          <p:cNvSpPr txBox="1"/>
          <p:nvPr/>
        </p:nvSpPr>
        <p:spPr>
          <a:xfrm>
            <a:off x="4912793" y="5665644"/>
            <a:ext cx="2980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HOURS OF STUDYING</a:t>
            </a:r>
          </a:p>
        </p:txBody>
      </p:sp>
      <p:sp>
        <p:nvSpPr>
          <p:cNvPr id="24" name="TextBox 23"/>
          <p:cNvSpPr txBox="1"/>
          <p:nvPr/>
        </p:nvSpPr>
        <p:spPr>
          <a:xfrm rot="16200000">
            <a:off x="1212565" y="4004159"/>
            <a:ext cx="1459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PASS/FAIL</a:t>
            </a:r>
          </a:p>
        </p:txBody>
      </p:sp>
      <p:sp>
        <p:nvSpPr>
          <p:cNvPr id="25" name="Oval 24"/>
          <p:cNvSpPr/>
          <p:nvPr/>
        </p:nvSpPr>
        <p:spPr>
          <a:xfrm>
            <a:off x="4154189" y="5503445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/>
          <p:cNvSpPr/>
          <p:nvPr/>
        </p:nvSpPr>
        <p:spPr>
          <a:xfrm>
            <a:off x="4612517" y="5515617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2194"/>
              </p:ext>
            </p:extLst>
          </p:nvPr>
        </p:nvGraphicFramePr>
        <p:xfrm>
          <a:off x="7768191" y="2801722"/>
          <a:ext cx="353352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Hours</a:t>
                      </a:r>
                      <a:r>
                        <a:rPr lang="en-CA" baseline="0" dirty="0"/>
                        <a:t> Studying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Pass/Fail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35" name="Straight Connector 34"/>
          <p:cNvCxnSpPr/>
          <p:nvPr/>
        </p:nvCxnSpPr>
        <p:spPr>
          <a:xfrm flipH="1">
            <a:off x="4091643" y="2724933"/>
            <a:ext cx="1447959" cy="3721430"/>
          </a:xfrm>
          <a:prstGeom prst="line">
            <a:avLst/>
          </a:prstGeom>
          <a:ln w="57150">
            <a:solidFill>
              <a:srgbClr val="A5D9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 flipV="1">
            <a:off x="4296289" y="3948984"/>
            <a:ext cx="713861" cy="373777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848999" y="4131948"/>
            <a:ext cx="2167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FF0000"/>
                </a:solidFill>
              </a:rPr>
              <a:t>LINEAR MODEL</a:t>
            </a:r>
          </a:p>
        </p:txBody>
      </p:sp>
      <p:pic>
        <p:nvPicPr>
          <p:cNvPr id="38" name="Picture 2" descr="Image result for fail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918" y="4099043"/>
            <a:ext cx="2539914" cy="142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61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 animBg="1"/>
      <p:bldP spid="26" grpId="0" animBg="1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LOGISTIC REGRESSION: INTUITION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39700" y="1278900"/>
            <a:ext cx="114729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2000" dirty="0">
                <a:latin typeface="Montserrat" panose="02000505000000020004" pitchFamily="2" charset="0"/>
              </a:rPr>
              <a:t>Linear regression is not suitable for classification problem.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2000" dirty="0">
                <a:latin typeface="Montserrat" panose="02000505000000020004" pitchFamily="2" charset="0"/>
              </a:rPr>
              <a:t>Linear regression is unbounded, so logistic regression will be better candidate in which the output value ranges from 0 to 1.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800" dirty="0">
              <a:latin typeface="Montserrat" charset="0"/>
              <a:ea typeface="Montserrat" charset="0"/>
              <a:cs typeface="Montserrat" charset="0"/>
            </a:endParaRPr>
          </a:p>
          <a:p>
            <a:pPr fontAlgn="base"/>
            <a:endParaRPr lang="en-CA" sz="1800" dirty="0"/>
          </a:p>
        </p:txBody>
      </p:sp>
      <p:cxnSp>
        <p:nvCxnSpPr>
          <p:cNvPr id="27" name="Straight Connector 26"/>
          <p:cNvCxnSpPr/>
          <p:nvPr/>
        </p:nvCxnSpPr>
        <p:spPr>
          <a:xfrm flipH="1">
            <a:off x="3744904" y="2992903"/>
            <a:ext cx="5098404" cy="29178"/>
          </a:xfrm>
          <a:prstGeom prst="line">
            <a:avLst/>
          </a:prstGeom>
          <a:ln w="57150">
            <a:solidFill>
              <a:srgbClr val="A5D9E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3768336" y="5358641"/>
            <a:ext cx="5074972" cy="47702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3744902" y="2467429"/>
            <a:ext cx="54092" cy="2961940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918053" y="5223043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4514644" y="5228992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5129095" y="5231209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5437647" y="2872022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7301130" y="2842844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7742222" y="2842844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6885054" y="2857433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6019250" y="2851923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62799" y="5501429"/>
            <a:ext cx="2980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HOURS OF STUDYING</a:t>
            </a:r>
          </a:p>
        </p:txBody>
      </p:sp>
      <p:sp>
        <p:nvSpPr>
          <p:cNvPr id="44" name="TextBox 43"/>
          <p:cNvSpPr txBox="1"/>
          <p:nvPr/>
        </p:nvSpPr>
        <p:spPr>
          <a:xfrm rot="16200000">
            <a:off x="2683523" y="3717566"/>
            <a:ext cx="1459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PASS/FAIL</a:t>
            </a:r>
          </a:p>
        </p:txBody>
      </p:sp>
      <p:sp>
        <p:nvSpPr>
          <p:cNvPr id="45" name="Oval 44"/>
          <p:cNvSpPr/>
          <p:nvPr/>
        </p:nvSpPr>
        <p:spPr>
          <a:xfrm>
            <a:off x="5601446" y="5201311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019249" y="5201311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flipH="1">
            <a:off x="5562600" y="1934029"/>
            <a:ext cx="1674261" cy="4225741"/>
          </a:xfrm>
          <a:prstGeom prst="line">
            <a:avLst/>
          </a:prstGeom>
          <a:ln w="57150">
            <a:solidFill>
              <a:srgbClr val="A5D9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/>
          <p:cNvCxnSpPr/>
          <p:nvPr/>
        </p:nvCxnSpPr>
        <p:spPr>
          <a:xfrm flipV="1">
            <a:off x="6009100" y="2391397"/>
            <a:ext cx="1001460" cy="343708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637895" y="2438340"/>
            <a:ext cx="2167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FF0000"/>
                </a:solidFill>
              </a:rPr>
              <a:t>LINEAR MODEL</a:t>
            </a:r>
          </a:p>
        </p:txBody>
      </p:sp>
      <p:sp>
        <p:nvSpPr>
          <p:cNvPr id="50" name="Freeform 49"/>
          <p:cNvSpPr/>
          <p:nvPr/>
        </p:nvSpPr>
        <p:spPr>
          <a:xfrm>
            <a:off x="4189270" y="3045263"/>
            <a:ext cx="4523874" cy="2290351"/>
          </a:xfrm>
          <a:custGeom>
            <a:avLst/>
            <a:gdLst>
              <a:gd name="connsiteX0" fmla="*/ 0 w 4523874"/>
              <a:gd name="connsiteY0" fmla="*/ 1890929 h 1915505"/>
              <a:gd name="connsiteX1" fmla="*/ 1395663 w 4523874"/>
              <a:gd name="connsiteY1" fmla="*/ 1878897 h 1915505"/>
              <a:gd name="connsiteX2" fmla="*/ 1816769 w 4523874"/>
              <a:gd name="connsiteY2" fmla="*/ 1542013 h 1915505"/>
              <a:gd name="connsiteX3" fmla="*/ 2346158 w 4523874"/>
              <a:gd name="connsiteY3" fmla="*/ 423076 h 1915505"/>
              <a:gd name="connsiteX4" fmla="*/ 3092116 w 4523874"/>
              <a:gd name="connsiteY4" fmla="*/ 50097 h 1915505"/>
              <a:gd name="connsiteX5" fmla="*/ 4523874 w 4523874"/>
              <a:gd name="connsiteY5" fmla="*/ 14002 h 191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23874" h="1915505">
                <a:moveTo>
                  <a:pt x="0" y="1890929"/>
                </a:moveTo>
                <a:cubicBezTo>
                  <a:pt x="546434" y="1913989"/>
                  <a:pt x="1092868" y="1937050"/>
                  <a:pt x="1395663" y="1878897"/>
                </a:cubicBezTo>
                <a:cubicBezTo>
                  <a:pt x="1698458" y="1820744"/>
                  <a:pt x="1658353" y="1784650"/>
                  <a:pt x="1816769" y="1542013"/>
                </a:cubicBezTo>
                <a:cubicBezTo>
                  <a:pt x="1975185" y="1299376"/>
                  <a:pt x="2133600" y="671729"/>
                  <a:pt x="2346158" y="423076"/>
                </a:cubicBezTo>
                <a:cubicBezTo>
                  <a:pt x="2558716" y="174423"/>
                  <a:pt x="2729163" y="118276"/>
                  <a:pt x="3092116" y="50097"/>
                </a:cubicBezTo>
                <a:cubicBezTo>
                  <a:pt x="3455069" y="-18082"/>
                  <a:pt x="4094748" y="-2040"/>
                  <a:pt x="4523874" y="14002"/>
                </a:cubicBezTo>
              </a:path>
            </a:pathLst>
          </a:cu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TextBox 50"/>
          <p:cNvSpPr txBox="1"/>
          <p:nvPr/>
        </p:nvSpPr>
        <p:spPr>
          <a:xfrm>
            <a:off x="4075391" y="3605499"/>
            <a:ext cx="2167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FF0000"/>
                </a:solidFill>
              </a:rPr>
              <a:t>LOGISTIC REGRESSION MODEL</a:t>
            </a:r>
          </a:p>
        </p:txBody>
      </p:sp>
      <p:cxnSp>
        <p:nvCxnSpPr>
          <p:cNvPr id="52" name="Curved Connector 51"/>
          <p:cNvCxnSpPr/>
          <p:nvPr/>
        </p:nvCxnSpPr>
        <p:spPr>
          <a:xfrm flipV="1">
            <a:off x="4798843" y="3988134"/>
            <a:ext cx="1504605" cy="612651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94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9" grpId="0" animBg="1"/>
      <p:bldP spid="40" grpId="0" animBg="1"/>
      <p:bldP spid="41" grpId="0" animBg="1"/>
      <p:bldP spid="42" grpId="0" animBg="1"/>
      <p:bldP spid="45" grpId="0" animBg="1"/>
      <p:bldP spid="46" grpId="0" animBg="1"/>
      <p:bldP spid="49" grpId="0"/>
      <p:bldP spid="50" grpId="0" animBg="1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LOGISTIC REGRESSION: MATH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39700" y="1278900"/>
            <a:ext cx="114729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2000" dirty="0">
                <a:latin typeface="Montserrat" panose="02000505000000020004" pitchFamily="2" charset="0"/>
              </a:rPr>
              <a:t>Linear regression is not suitable for classification problem.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2000" dirty="0">
                <a:latin typeface="Montserrat" panose="02000505000000020004" pitchFamily="2" charset="0"/>
              </a:rPr>
              <a:t>Linear regression is unbounded, so logistic regression will be better candidate in which the output value ranges from 0 to 1.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800" dirty="0">
              <a:latin typeface="Montserrat" charset="0"/>
              <a:ea typeface="Montserrat" charset="0"/>
              <a:cs typeface="Montserrat" charset="0"/>
            </a:endParaRPr>
          </a:p>
          <a:p>
            <a:pPr fontAlgn="base"/>
            <a:endParaRPr lang="en-CA" sz="1800" dirty="0"/>
          </a:p>
        </p:txBody>
      </p:sp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86930" y="7299222"/>
            <a:ext cx="28448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 flipH="1">
            <a:off x="1477023" y="3157733"/>
            <a:ext cx="5098404" cy="29178"/>
          </a:xfrm>
          <a:prstGeom prst="line">
            <a:avLst/>
          </a:prstGeom>
          <a:ln w="57150">
            <a:solidFill>
              <a:srgbClr val="A5D9E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1500455" y="5523471"/>
            <a:ext cx="5074972" cy="47702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1477021" y="2632259"/>
            <a:ext cx="54092" cy="2961940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650172" y="5387873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val 37"/>
          <p:cNvSpPr/>
          <p:nvPr/>
        </p:nvSpPr>
        <p:spPr>
          <a:xfrm>
            <a:off x="2246763" y="5393822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Oval 52"/>
          <p:cNvSpPr/>
          <p:nvPr/>
        </p:nvSpPr>
        <p:spPr>
          <a:xfrm>
            <a:off x="2861214" y="5396039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Oval 53"/>
          <p:cNvSpPr/>
          <p:nvPr/>
        </p:nvSpPr>
        <p:spPr>
          <a:xfrm>
            <a:off x="3169766" y="3036852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Oval 54"/>
          <p:cNvSpPr/>
          <p:nvPr/>
        </p:nvSpPr>
        <p:spPr>
          <a:xfrm>
            <a:off x="5033249" y="3007674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Oval 55"/>
          <p:cNvSpPr/>
          <p:nvPr/>
        </p:nvSpPr>
        <p:spPr>
          <a:xfrm>
            <a:off x="5474341" y="3007674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Oval 56"/>
          <p:cNvSpPr/>
          <p:nvPr/>
        </p:nvSpPr>
        <p:spPr>
          <a:xfrm>
            <a:off x="4617173" y="3022263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Oval 57"/>
          <p:cNvSpPr/>
          <p:nvPr/>
        </p:nvSpPr>
        <p:spPr>
          <a:xfrm>
            <a:off x="3751369" y="3016753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TextBox 58"/>
          <p:cNvSpPr txBox="1"/>
          <p:nvPr/>
        </p:nvSpPr>
        <p:spPr>
          <a:xfrm>
            <a:off x="3943138" y="5655024"/>
            <a:ext cx="2980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HOURS OF STUDYING</a:t>
            </a:r>
          </a:p>
        </p:txBody>
      </p:sp>
      <p:sp>
        <p:nvSpPr>
          <p:cNvPr id="60" name="TextBox 59"/>
          <p:cNvSpPr txBox="1"/>
          <p:nvPr/>
        </p:nvSpPr>
        <p:spPr>
          <a:xfrm rot="16200000">
            <a:off x="415642" y="3882396"/>
            <a:ext cx="1459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PASS/FAIL</a:t>
            </a:r>
          </a:p>
        </p:txBody>
      </p:sp>
      <p:sp>
        <p:nvSpPr>
          <p:cNvPr id="61" name="Oval 60"/>
          <p:cNvSpPr/>
          <p:nvPr/>
        </p:nvSpPr>
        <p:spPr>
          <a:xfrm>
            <a:off x="3333565" y="5366141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Oval 61"/>
          <p:cNvSpPr/>
          <p:nvPr/>
        </p:nvSpPr>
        <p:spPr>
          <a:xfrm>
            <a:off x="3751368" y="5366141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Freeform 62"/>
          <p:cNvSpPr/>
          <p:nvPr/>
        </p:nvSpPr>
        <p:spPr>
          <a:xfrm>
            <a:off x="1921389" y="3210093"/>
            <a:ext cx="4523874" cy="2290351"/>
          </a:xfrm>
          <a:custGeom>
            <a:avLst/>
            <a:gdLst>
              <a:gd name="connsiteX0" fmla="*/ 0 w 4523874"/>
              <a:gd name="connsiteY0" fmla="*/ 1890929 h 1915505"/>
              <a:gd name="connsiteX1" fmla="*/ 1395663 w 4523874"/>
              <a:gd name="connsiteY1" fmla="*/ 1878897 h 1915505"/>
              <a:gd name="connsiteX2" fmla="*/ 1816769 w 4523874"/>
              <a:gd name="connsiteY2" fmla="*/ 1542013 h 1915505"/>
              <a:gd name="connsiteX3" fmla="*/ 2346158 w 4523874"/>
              <a:gd name="connsiteY3" fmla="*/ 423076 h 1915505"/>
              <a:gd name="connsiteX4" fmla="*/ 3092116 w 4523874"/>
              <a:gd name="connsiteY4" fmla="*/ 50097 h 1915505"/>
              <a:gd name="connsiteX5" fmla="*/ 4523874 w 4523874"/>
              <a:gd name="connsiteY5" fmla="*/ 14002 h 191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23874" h="1915505">
                <a:moveTo>
                  <a:pt x="0" y="1890929"/>
                </a:moveTo>
                <a:cubicBezTo>
                  <a:pt x="546434" y="1913989"/>
                  <a:pt x="1092868" y="1937050"/>
                  <a:pt x="1395663" y="1878897"/>
                </a:cubicBezTo>
                <a:cubicBezTo>
                  <a:pt x="1698458" y="1820744"/>
                  <a:pt x="1658353" y="1784650"/>
                  <a:pt x="1816769" y="1542013"/>
                </a:cubicBezTo>
                <a:cubicBezTo>
                  <a:pt x="1975185" y="1299376"/>
                  <a:pt x="2133600" y="671729"/>
                  <a:pt x="2346158" y="423076"/>
                </a:cubicBezTo>
                <a:cubicBezTo>
                  <a:pt x="2558716" y="174423"/>
                  <a:pt x="2729163" y="118276"/>
                  <a:pt x="3092116" y="50097"/>
                </a:cubicBezTo>
                <a:cubicBezTo>
                  <a:pt x="3455069" y="-18082"/>
                  <a:pt x="4094748" y="-2040"/>
                  <a:pt x="4523874" y="14002"/>
                </a:cubicBezTo>
              </a:path>
            </a:pathLst>
          </a:cu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TextBox 63"/>
          <p:cNvSpPr txBox="1"/>
          <p:nvPr/>
        </p:nvSpPr>
        <p:spPr>
          <a:xfrm>
            <a:off x="1807510" y="3770329"/>
            <a:ext cx="2167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FF0000"/>
                </a:solidFill>
              </a:rPr>
              <a:t>LOGISTIC REGRESSION MODEL</a:t>
            </a:r>
          </a:p>
        </p:txBody>
      </p:sp>
      <p:cxnSp>
        <p:nvCxnSpPr>
          <p:cNvPr id="65" name="Curved Connector 64"/>
          <p:cNvCxnSpPr/>
          <p:nvPr/>
        </p:nvCxnSpPr>
        <p:spPr>
          <a:xfrm flipV="1">
            <a:off x="2530962" y="4152964"/>
            <a:ext cx="1504605" cy="612651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7477547" y="3210093"/>
                <a:ext cx="6096000" cy="335540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sz="2400" u="sng" dirty="0">
                    <a:latin typeface="medium-content-serif-font"/>
                  </a:rPr>
                  <a:t>Linear equation: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2400" b="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CA" sz="2400" dirty="0">
                  <a:latin typeface="medium-content-serif-fon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sz="2400" u="sng" dirty="0">
                    <a:latin typeface="medium-content-serif-font"/>
                  </a:rPr>
                  <a:t>Apply Sigmoid function: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l-G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400" b="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CA" sz="2400" b="0" i="1" dirty="0">
                        <a:latin typeface="Cambria Math" panose="02040503050406030204" pitchFamily="18" charset="0"/>
                      </a:rPr>
                      <m:t>𝑠𝑖𝑔𝑚𝑜𝑖𝑑</m:t>
                    </m:r>
                    <m:r>
                      <a:rPr lang="en-CA" sz="2400" b="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CA" sz="24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CA" sz="2400" dirty="0">
                  <a:latin typeface="medium-content-serif-fon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2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CA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4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CA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CA" sz="2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</m:oMath>
                </a14:m>
                <a:endParaRPr lang="en-CA" sz="2400" dirty="0">
                  <a:latin typeface="medium-content-serif-fon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2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CA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CA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CA" sz="24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CA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400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CA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CA" sz="24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CA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400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CA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sz="2400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CA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A" sz="24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CA" sz="2400" dirty="0">
                  <a:latin typeface="medium-content-serif-fon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CA" sz="2400" dirty="0">
                  <a:latin typeface="medium-content-serif-fon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CA" sz="2400" dirty="0">
                  <a:latin typeface="medium-content-serif-font"/>
                </a:endParaRPr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547" y="3210093"/>
                <a:ext cx="6096000" cy="3355406"/>
              </a:xfrm>
              <a:prstGeom prst="rect">
                <a:avLst/>
              </a:prstGeom>
              <a:blipFill rotWithShape="0">
                <a:blip r:embed="rId3"/>
                <a:stretch>
                  <a:fillRect l="-1400" t="-127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91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2" y="297659"/>
            <a:ext cx="120775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LOGISTIC REGRESSION: FROM PROBABILITY TO CLASS</a:t>
            </a:r>
          </a:p>
          <a:p>
            <a:endParaRPr lang="en-US" sz="3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39700" y="1278900"/>
            <a:ext cx="114729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2000" dirty="0">
                <a:latin typeface="Montserrat" panose="02000505000000020004" pitchFamily="2" charset="0"/>
              </a:rPr>
              <a:t>Now we need to convert from a probability to a class value which is “0” or “1”.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800" dirty="0">
              <a:latin typeface="Montserrat" charset="0"/>
              <a:ea typeface="Montserrat" charset="0"/>
              <a:cs typeface="Montserrat" charset="0"/>
            </a:endParaRPr>
          </a:p>
          <a:p>
            <a:pPr fontAlgn="base"/>
            <a:endParaRPr lang="en-CA" sz="1800" dirty="0"/>
          </a:p>
        </p:txBody>
      </p:sp>
      <p:sp>
        <p:nvSpPr>
          <p:cNvPr id="25" name="Rectangle 24"/>
          <p:cNvSpPr/>
          <p:nvPr/>
        </p:nvSpPr>
        <p:spPr>
          <a:xfrm>
            <a:off x="1531113" y="3645249"/>
            <a:ext cx="2523367" cy="121404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Class 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35567" y="2551910"/>
            <a:ext cx="2898633" cy="102321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Class 1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1477023" y="2522733"/>
            <a:ext cx="5098404" cy="29178"/>
          </a:xfrm>
          <a:prstGeom prst="line">
            <a:avLst/>
          </a:prstGeom>
          <a:ln w="57150">
            <a:solidFill>
              <a:srgbClr val="A5D9E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1500455" y="4888471"/>
            <a:ext cx="5074972" cy="47702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1477021" y="1997259"/>
            <a:ext cx="54092" cy="2961940"/>
          </a:xfrm>
          <a:prstGeom prst="straightConnector1">
            <a:avLst/>
          </a:prstGeom>
          <a:ln w="57150">
            <a:solidFill>
              <a:srgbClr val="1243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650172" y="4752873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246763" y="4758822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861214" y="4761039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3169766" y="2401852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5033249" y="2372674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74341" y="2372674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4617173" y="2387263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3751369" y="2381753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4918" y="5031259"/>
            <a:ext cx="2980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HOURS OF STUDYING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-17803" y="3200728"/>
            <a:ext cx="1459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PASS/FAIL</a:t>
            </a:r>
          </a:p>
        </p:txBody>
      </p:sp>
      <p:sp>
        <p:nvSpPr>
          <p:cNvPr id="46" name="Oval 45"/>
          <p:cNvSpPr/>
          <p:nvPr/>
        </p:nvSpPr>
        <p:spPr>
          <a:xfrm>
            <a:off x="3333565" y="4731141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3751368" y="4731141"/>
            <a:ext cx="284199" cy="300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1921389" y="2575093"/>
            <a:ext cx="4523874" cy="2290351"/>
          </a:xfrm>
          <a:custGeom>
            <a:avLst/>
            <a:gdLst>
              <a:gd name="connsiteX0" fmla="*/ 0 w 4523874"/>
              <a:gd name="connsiteY0" fmla="*/ 1890929 h 1915505"/>
              <a:gd name="connsiteX1" fmla="*/ 1395663 w 4523874"/>
              <a:gd name="connsiteY1" fmla="*/ 1878897 h 1915505"/>
              <a:gd name="connsiteX2" fmla="*/ 1816769 w 4523874"/>
              <a:gd name="connsiteY2" fmla="*/ 1542013 h 1915505"/>
              <a:gd name="connsiteX3" fmla="*/ 2346158 w 4523874"/>
              <a:gd name="connsiteY3" fmla="*/ 423076 h 1915505"/>
              <a:gd name="connsiteX4" fmla="*/ 3092116 w 4523874"/>
              <a:gd name="connsiteY4" fmla="*/ 50097 h 1915505"/>
              <a:gd name="connsiteX5" fmla="*/ 4523874 w 4523874"/>
              <a:gd name="connsiteY5" fmla="*/ 14002 h 191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23874" h="1915505">
                <a:moveTo>
                  <a:pt x="0" y="1890929"/>
                </a:moveTo>
                <a:cubicBezTo>
                  <a:pt x="546434" y="1913989"/>
                  <a:pt x="1092868" y="1937050"/>
                  <a:pt x="1395663" y="1878897"/>
                </a:cubicBezTo>
                <a:cubicBezTo>
                  <a:pt x="1698458" y="1820744"/>
                  <a:pt x="1658353" y="1784650"/>
                  <a:pt x="1816769" y="1542013"/>
                </a:cubicBezTo>
                <a:cubicBezTo>
                  <a:pt x="1975185" y="1299376"/>
                  <a:pt x="2133600" y="671729"/>
                  <a:pt x="2346158" y="423076"/>
                </a:cubicBezTo>
                <a:cubicBezTo>
                  <a:pt x="2558716" y="174423"/>
                  <a:pt x="2729163" y="118276"/>
                  <a:pt x="3092116" y="50097"/>
                </a:cubicBezTo>
                <a:cubicBezTo>
                  <a:pt x="3455069" y="-18082"/>
                  <a:pt x="4094748" y="-2040"/>
                  <a:pt x="4523874" y="14002"/>
                </a:cubicBezTo>
              </a:path>
            </a:pathLst>
          </a:cu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9" name="Curved Connector 48"/>
          <p:cNvCxnSpPr/>
          <p:nvPr/>
        </p:nvCxnSpPr>
        <p:spPr>
          <a:xfrm rot="10800000">
            <a:off x="5033249" y="3647737"/>
            <a:ext cx="1196838" cy="713697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1587712" y="3575124"/>
            <a:ext cx="5098404" cy="29178"/>
          </a:xfrm>
          <a:prstGeom prst="line">
            <a:avLst/>
          </a:prstGeom>
          <a:ln w="57150">
            <a:solidFill>
              <a:srgbClr val="A5D9E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69035" y="4097367"/>
            <a:ext cx="2167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FF0000"/>
                </a:solidFill>
              </a:rPr>
              <a:t>THRESHOLD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4493" y="3358880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0.5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21982" y="2799265"/>
            <a:ext cx="2167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FF0000"/>
                </a:solidFill>
              </a:rPr>
              <a:t>LOGISTIC REGRESSION MODEL</a:t>
            </a:r>
          </a:p>
        </p:txBody>
      </p:sp>
      <p:cxnSp>
        <p:nvCxnSpPr>
          <p:cNvPr id="69" name="Curved Connector 68"/>
          <p:cNvCxnSpPr/>
          <p:nvPr/>
        </p:nvCxnSpPr>
        <p:spPr>
          <a:xfrm>
            <a:off x="2666900" y="3125258"/>
            <a:ext cx="1200877" cy="851635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7206128" y="2203201"/>
                <a:ext cx="6096000" cy="254967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sz="2400" u="sng" dirty="0">
                    <a:latin typeface="medium-content-serif-font"/>
                  </a:rPr>
                  <a:t>Linear equation: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2400" b="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CA" sz="2400" dirty="0">
                  <a:latin typeface="medium-content-serif-font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sz="2400" u="sng" dirty="0">
                    <a:latin typeface="medium-content-serif-font"/>
                  </a:rPr>
                  <a:t>Apply Sigmoid function: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l-G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400" b="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CA" sz="2400" b="0" i="1" dirty="0">
                        <a:latin typeface="Cambria Math" panose="02040503050406030204" pitchFamily="18" charset="0"/>
                      </a:rPr>
                      <m:t>𝑠𝑖𝑔𝑚𝑜𝑖𝑑</m:t>
                    </m:r>
                    <m:r>
                      <a:rPr lang="en-CA" sz="2400" b="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CA" sz="24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CA" sz="2400" dirty="0">
                  <a:latin typeface="medium-content-serif-fon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2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2400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CA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4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CA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CA" sz="2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</m:oMath>
                </a14:m>
                <a:endParaRPr lang="en-CA" sz="2400" dirty="0">
                  <a:latin typeface="medium-content-serif-fon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CA" sz="2400" dirty="0">
                  <a:latin typeface="medium-content-serif-font"/>
                </a:endParaRPr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128" y="2203201"/>
                <a:ext cx="6096000" cy="2549672"/>
              </a:xfrm>
              <a:prstGeom prst="rect">
                <a:avLst/>
              </a:prstGeom>
              <a:blipFill rotWithShape="0">
                <a:blip r:embed="rId3"/>
                <a:stretch>
                  <a:fillRect l="-1300" t="-167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52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E67B3E4-BB7B-40BE-A577-E4FDFEC453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DEA9233-6D6E-462E-AE1B-A4C215EB6A69}"/>
              </a:ext>
            </a:extLst>
          </p:cNvPr>
          <p:cNvSpPr/>
          <p:nvPr/>
        </p:nvSpPr>
        <p:spPr>
          <a:xfrm>
            <a:off x="472210" y="568978"/>
            <a:ext cx="4846550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600"/>
              </a:lnSpc>
            </a:pPr>
            <a:r>
              <a:rPr lang="en-US" sz="3400" b="1" dirty="0">
                <a:solidFill>
                  <a:srgbClr val="F0FFFB"/>
                </a:solidFill>
                <a:latin typeface="Montserrat" charset="0"/>
                <a:ea typeface="Montserrat" charset="0"/>
                <a:cs typeface="Montserrat" charset="0"/>
              </a:rPr>
              <a:t>MACHINE LEARNING REGRESSION</a:t>
            </a:r>
            <a:endParaRPr lang="ru-RU" sz="3400" b="1" dirty="0">
              <a:solidFill>
                <a:srgbClr val="F0FFFB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5C1B52A-51DB-404A-8E99-A04068EE7437}"/>
              </a:ext>
            </a:extLst>
          </p:cNvPr>
          <p:cNvSpPr/>
          <p:nvPr/>
        </p:nvSpPr>
        <p:spPr>
          <a:xfrm>
            <a:off x="464590" y="2351366"/>
            <a:ext cx="5918103" cy="1728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600"/>
              </a:lnSpc>
            </a:pPr>
            <a:r>
              <a:rPr lang="en-CA" sz="4900" b="1" dirty="0">
                <a:solidFill>
                  <a:srgbClr val="F0FFFB"/>
                </a:solidFill>
                <a:latin typeface="Montserrat" charset="0"/>
                <a:ea typeface="Montserrat" charset="0"/>
                <a:cs typeface="Montserrat" charset="0"/>
              </a:rPr>
              <a:t>PERFORMANCE ASSESSMENT</a:t>
            </a:r>
            <a:endParaRPr lang="ru-RU" sz="4900" b="1" dirty="0">
              <a:solidFill>
                <a:srgbClr val="F0FFFB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96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CONFUSION MATRIX</a:t>
            </a:r>
          </a:p>
        </p:txBody>
      </p:sp>
      <p:sp>
        <p:nvSpPr>
          <p:cNvPr id="50" name="Google Shape;121;p17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000000"/>
              </a:buClr>
              <a:buSzPts val="3200"/>
              <a:buFont typeface="Calibri"/>
              <a:buNone/>
            </a:pPr>
            <a:endParaRPr sz="3200" b="1" kern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1" name="Google Shape;123;p17"/>
          <p:cNvSpPr txBox="1"/>
          <p:nvPr/>
        </p:nvSpPr>
        <p:spPr>
          <a:xfrm>
            <a:off x="584199" y="1833049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124359"/>
              </a:buClr>
              <a:buSzPts val="3200"/>
              <a:buFont typeface="Montserrat Black"/>
              <a:buNone/>
            </a:pPr>
            <a:endParaRPr sz="3200" b="1" kern="0" dirty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4449798" y="2314782"/>
          <a:ext cx="4145594" cy="3526786"/>
        </p:xfrm>
        <a:graphic>
          <a:graphicData uri="http://schemas.openxmlformats.org/drawingml/2006/table">
            <a:tbl>
              <a:tblPr firstRow="1" bandRow="1"/>
              <a:tblGrid>
                <a:gridCol w="2072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860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9pPr>
                    </a:lstStyle>
                    <a:p>
                      <a:endParaRPr lang="en-CA" dirty="0"/>
                    </a:p>
                  </a:txBody>
                  <a:tcPr>
                    <a:lnL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9pPr>
                    </a:lstStyle>
                    <a:p>
                      <a:endParaRPr lang="en-CA" dirty="0"/>
                    </a:p>
                  </a:txBody>
                  <a:tcPr>
                    <a:lnL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07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9pPr>
                    </a:lstStyle>
                    <a:p>
                      <a:endParaRPr lang="en-CA" dirty="0"/>
                    </a:p>
                  </a:txBody>
                  <a:tcPr>
                    <a:lnL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9pPr>
                    </a:lstStyle>
                    <a:p>
                      <a:endParaRPr lang="en-CA" dirty="0"/>
                    </a:p>
                  </a:txBody>
                  <a:tcPr>
                    <a:lnL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" name="Left Brace 52"/>
          <p:cNvSpPr/>
          <p:nvPr/>
        </p:nvSpPr>
        <p:spPr>
          <a:xfrm>
            <a:off x="3805929" y="2307656"/>
            <a:ext cx="424543" cy="3594163"/>
          </a:xfrm>
          <a:prstGeom prst="leftBrace">
            <a:avLst>
              <a:gd name="adj1" fmla="val 123718"/>
              <a:gd name="adj2" fmla="val 50000"/>
            </a:avLst>
          </a:prstGeom>
          <a:noFill/>
          <a:ln w="571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4" name="Left Brace 53"/>
          <p:cNvSpPr/>
          <p:nvPr/>
        </p:nvSpPr>
        <p:spPr>
          <a:xfrm rot="5400000">
            <a:off x="6330526" y="-89087"/>
            <a:ext cx="384139" cy="4012246"/>
          </a:xfrm>
          <a:prstGeom prst="leftBrace">
            <a:avLst>
              <a:gd name="adj1" fmla="val 123718"/>
              <a:gd name="adj2" fmla="val 50473"/>
            </a:avLst>
          </a:prstGeom>
          <a:noFill/>
          <a:ln w="571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298797" y="3869398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PREDICTIONS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404340" y="1107542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TRUE CLASS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47543" y="2976614"/>
            <a:ext cx="1287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Roboto"/>
              </a:rPr>
              <a:t>TRUE +</a:t>
            </a:r>
            <a:endParaRPr lang="en-CA" sz="2400" b="1" dirty="0">
              <a:solidFill>
                <a:srgbClr val="00B050"/>
              </a:solidFill>
              <a:latin typeface="Roboto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953262" y="4762479"/>
            <a:ext cx="121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Roboto"/>
              </a:rPr>
              <a:t>TRUE -</a:t>
            </a:r>
            <a:endParaRPr lang="en-CA" sz="2400" b="1" dirty="0">
              <a:solidFill>
                <a:srgbClr val="00B050"/>
              </a:solidFill>
              <a:latin typeface="Roboto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050213" y="2915658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+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066970" y="5076069"/>
            <a:ext cx="253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-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26072" y="1845991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+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432886" y="1829260"/>
            <a:ext cx="253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-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849053" y="2986232"/>
            <a:ext cx="1440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Roboto"/>
              </a:rPr>
              <a:t>FALSE +</a:t>
            </a:r>
            <a:endParaRPr lang="en-CA" sz="2400" b="1" dirty="0">
              <a:solidFill>
                <a:srgbClr val="FFC000"/>
              </a:solidFill>
              <a:latin typeface="Roboto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872854" y="4762479"/>
            <a:ext cx="1363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FALSE -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cxnSp>
        <p:nvCxnSpPr>
          <p:cNvPr id="65" name="Curved Connector 64"/>
          <p:cNvCxnSpPr/>
          <p:nvPr/>
        </p:nvCxnSpPr>
        <p:spPr>
          <a:xfrm rot="10800000" flipV="1">
            <a:off x="3094995" y="5590997"/>
            <a:ext cx="1647376" cy="325644"/>
          </a:xfrm>
          <a:prstGeom prst="curvedConnector3">
            <a:avLst/>
          </a:prstGeom>
          <a:noFill/>
          <a:ln w="57150" cap="flat" cmpd="sng" algn="ctr">
            <a:solidFill>
              <a:srgbClr val="89C8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6" name="Curved Connector 65"/>
          <p:cNvCxnSpPr/>
          <p:nvPr/>
        </p:nvCxnSpPr>
        <p:spPr>
          <a:xfrm flipV="1">
            <a:off x="8174577" y="2497287"/>
            <a:ext cx="1655221" cy="552864"/>
          </a:xfrm>
          <a:prstGeom prst="curvedConnector3">
            <a:avLst/>
          </a:prstGeom>
          <a:noFill/>
          <a:ln w="57150" cap="flat" cmpd="sng" algn="ctr">
            <a:solidFill>
              <a:srgbClr val="89C8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958014" y="5454976"/>
            <a:ext cx="2525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/>
              </a:rPr>
              <a:t>TYPE II ERROR</a:t>
            </a:r>
            <a:endParaRPr lang="en-CA" sz="2400" b="1" dirty="0">
              <a:solidFill>
                <a:srgbClr val="0070C0"/>
              </a:solidFill>
              <a:latin typeface="Roboto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151448" y="2702484"/>
            <a:ext cx="2355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/>
              </a:rPr>
              <a:t>TYPE I ERROR</a:t>
            </a:r>
            <a:endParaRPr lang="en-CA" sz="2400" b="1" dirty="0">
              <a:solidFill>
                <a:srgbClr val="0070C0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35058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/>
      <p:bldP spid="56" grpId="0"/>
      <p:bldP spid="57" grpId="0"/>
      <p:bldP spid="58" grpId="0"/>
      <p:bldP spid="63" grpId="0"/>
      <p:bldP spid="64" grpId="0"/>
      <p:bldP spid="67" grpId="0"/>
      <p:bldP spid="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CONFUSION MATRIX</a:t>
            </a:r>
          </a:p>
        </p:txBody>
      </p:sp>
      <p:sp>
        <p:nvSpPr>
          <p:cNvPr id="50" name="Google Shape;121;p17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000000"/>
              </a:buClr>
              <a:buSzPts val="3200"/>
              <a:buFont typeface="Calibri"/>
              <a:buNone/>
            </a:pPr>
            <a:endParaRPr sz="3200" b="1" kern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" name="Прямоугольник 11">
            <a:extLst>
              <a:ext uri="{FF2B5EF4-FFF2-40B4-BE49-F238E27FC236}">
                <a16:creationId xmlns:a16="http://schemas.microsoft.com/office/drawing/2014/main" id="{B4B1F363-5EFE-402E-91B7-C999DD6A5345}"/>
              </a:ext>
            </a:extLst>
          </p:cNvPr>
          <p:cNvSpPr/>
          <p:nvPr/>
        </p:nvSpPr>
        <p:spPr>
          <a:xfrm>
            <a:off x="333524" y="1346271"/>
            <a:ext cx="1033447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A confusion matrix is used to describe the performance of a classiﬁcation model: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True positives (TP): cases when classiﬁer predicted TRUE (they have the disease), and correct class was TRUE (patient has disease).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True negatives (TN): cases when model predicted FALSE (no disease), and correct class was FALSE (patient do not have disease).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False positives (FP) (Type I error): classiﬁer predicted TRUE, but correct class was FALSE (patient did not have disease).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False negatives (FN) (Type II error): classiﬁer predicted FALSE (patient do not have disease), but they actually do have the disease</a:t>
            </a:r>
          </a:p>
        </p:txBody>
      </p:sp>
    </p:spTree>
    <p:extLst>
      <p:ext uri="{BB962C8B-B14F-4D97-AF65-F5344CB8AC3E}">
        <p14:creationId xmlns:p14="http://schemas.microsoft.com/office/powerpoint/2010/main" val="344403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PERFORMANCE INDICATORS (KPI)</a:t>
            </a:r>
          </a:p>
        </p:txBody>
      </p:sp>
      <p:sp>
        <p:nvSpPr>
          <p:cNvPr id="50" name="Google Shape;121;p17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000000"/>
              </a:buClr>
              <a:buSzPts val="3200"/>
              <a:buFont typeface="Calibri"/>
              <a:buNone/>
            </a:pPr>
            <a:endParaRPr sz="3200" b="1" kern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" name="Прямоугольник 11">
            <a:extLst>
              <a:ext uri="{FF2B5EF4-FFF2-40B4-BE49-F238E27FC236}">
                <a16:creationId xmlns:a16="http://schemas.microsoft.com/office/drawing/2014/main" id="{B4B1F363-5EFE-402E-91B7-C999DD6A5345}"/>
              </a:ext>
            </a:extLst>
          </p:cNvPr>
          <p:cNvSpPr/>
          <p:nvPr/>
        </p:nvSpPr>
        <p:spPr>
          <a:xfrm>
            <a:off x="333523" y="1346271"/>
            <a:ext cx="105726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Classiﬁcation Accuracy = (TP+TN) / (TP + TN + FP + FN)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Misclassiﬁcation rate (Error Rate) = (FP + FN) / (TP + TN + FP + FN)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Precision = TP/Total TRUE Predictions = TP/ (TP+FP) (When model predicted TRUE class, how often was it right?)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Recall = TP/ Actual TRUE = TP/ (TP+FN) (when the class was actually TRUE, how often did the classiﬁer get it right?)</a:t>
            </a:r>
          </a:p>
        </p:txBody>
      </p:sp>
    </p:spTree>
    <p:extLst>
      <p:ext uri="{BB962C8B-B14F-4D97-AF65-F5344CB8AC3E}">
        <p14:creationId xmlns:p14="http://schemas.microsoft.com/office/powerpoint/2010/main" val="82745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PERFORMANCE INDICATORS (KPI)</a:t>
            </a:r>
          </a:p>
        </p:txBody>
      </p:sp>
      <p:sp>
        <p:nvSpPr>
          <p:cNvPr id="50" name="Google Shape;121;p17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000000"/>
              </a:buClr>
              <a:buSzPts val="3200"/>
              <a:buFont typeface="Calibri"/>
              <a:buNone/>
            </a:pPr>
            <a:endParaRPr sz="3200" b="1" kern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" name="Прямоугольник 11">
            <a:extLst>
              <a:ext uri="{FF2B5EF4-FFF2-40B4-BE49-F238E27FC236}">
                <a16:creationId xmlns:a16="http://schemas.microsoft.com/office/drawing/2014/main" id="{B4B1F363-5EFE-402E-91B7-C999DD6A5345}"/>
              </a:ext>
            </a:extLst>
          </p:cNvPr>
          <p:cNvSpPr/>
          <p:nvPr/>
        </p:nvSpPr>
        <p:spPr>
          <a:xfrm>
            <a:off x="333523" y="1346271"/>
            <a:ext cx="10572601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b="1" dirty="0">
                <a:latin typeface="Montserrat" charset="0"/>
                <a:ea typeface="Montserrat" charset="0"/>
                <a:cs typeface="Montserrat" charset="0"/>
              </a:rPr>
              <a:t>Accuracy</a:t>
            </a:r>
          </a:p>
          <a:p>
            <a:pPr lvl="1"/>
            <a:endParaRPr lang="en-CA" sz="2800" b="1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“How many predictions were correct out of all predictions made.”</a:t>
            </a:r>
          </a:p>
          <a:p>
            <a:pPr lvl="1"/>
            <a:endParaRPr lang="en-CA" sz="2800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“Out of everything I guessed, how many did I get right?”</a:t>
            </a:r>
          </a:p>
          <a:p>
            <a:pPr lvl="1"/>
            <a:endParaRPr lang="en-CA" sz="2800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Example: You took a test with 100 questions and got 90 right, Your accuracy is 90% </a:t>
            </a:r>
          </a:p>
          <a:p>
            <a:pPr lvl="1"/>
            <a:endParaRPr lang="en-CA" dirty="0"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025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PERFORMANCE INDICATORS (KPI)</a:t>
            </a:r>
          </a:p>
        </p:txBody>
      </p:sp>
      <p:sp>
        <p:nvSpPr>
          <p:cNvPr id="50" name="Google Shape;121;p17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000000"/>
              </a:buClr>
              <a:buSzPts val="3200"/>
              <a:buFont typeface="Calibri"/>
              <a:buNone/>
            </a:pPr>
            <a:endParaRPr sz="3200" b="1" kern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" name="Прямоугольник 11">
            <a:extLst>
              <a:ext uri="{FF2B5EF4-FFF2-40B4-BE49-F238E27FC236}">
                <a16:creationId xmlns:a16="http://schemas.microsoft.com/office/drawing/2014/main" id="{B4B1F363-5EFE-402E-91B7-C999DD6A5345}"/>
              </a:ext>
            </a:extLst>
          </p:cNvPr>
          <p:cNvSpPr/>
          <p:nvPr/>
        </p:nvSpPr>
        <p:spPr>
          <a:xfrm>
            <a:off x="333523" y="1346271"/>
            <a:ext cx="105726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b="1" dirty="0">
                <a:latin typeface="Montserrat" charset="0"/>
                <a:ea typeface="Montserrat" charset="0"/>
                <a:cs typeface="Montserrat" charset="0"/>
              </a:rPr>
              <a:t>Precision</a:t>
            </a:r>
          </a:p>
          <a:p>
            <a:pPr lvl="1"/>
            <a:endParaRPr lang="en-CA" sz="2800" b="1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“Out of all the time you predicted ‘positive’, how many were actually positive?.”</a:t>
            </a:r>
          </a:p>
          <a:p>
            <a:pPr lvl="1"/>
            <a:endParaRPr lang="en-CA" sz="2800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“When I say someone has the disease, how often am I right?”</a:t>
            </a:r>
          </a:p>
          <a:p>
            <a:pPr lvl="1"/>
            <a:endParaRPr lang="en-CA" sz="2800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Example: If a model predicted 10 people had a disease, but only 7 really did, precision is 7/10 = 70%</a:t>
            </a:r>
          </a:p>
          <a:p>
            <a:pPr lvl="1"/>
            <a:endParaRPr lang="en-CA" dirty="0"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070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PERFORMANCE INDICATORS (KPI)</a:t>
            </a:r>
          </a:p>
        </p:txBody>
      </p:sp>
      <p:sp>
        <p:nvSpPr>
          <p:cNvPr id="50" name="Google Shape;121;p17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000000"/>
              </a:buClr>
              <a:buSzPts val="3200"/>
              <a:buFont typeface="Calibri"/>
              <a:buNone/>
            </a:pPr>
            <a:endParaRPr sz="3200" b="1" kern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" name="Прямоугольник 11">
            <a:extLst>
              <a:ext uri="{FF2B5EF4-FFF2-40B4-BE49-F238E27FC236}">
                <a16:creationId xmlns:a16="http://schemas.microsoft.com/office/drawing/2014/main" id="{B4B1F363-5EFE-402E-91B7-C999DD6A5345}"/>
              </a:ext>
            </a:extLst>
          </p:cNvPr>
          <p:cNvSpPr/>
          <p:nvPr/>
        </p:nvSpPr>
        <p:spPr>
          <a:xfrm>
            <a:off x="333523" y="1346271"/>
            <a:ext cx="105726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b="1" dirty="0">
                <a:latin typeface="Montserrat" charset="0"/>
                <a:ea typeface="Montserrat" charset="0"/>
                <a:cs typeface="Montserrat" charset="0"/>
              </a:rPr>
              <a:t>Recall (Sensitivity or True Positive Rate)</a:t>
            </a:r>
          </a:p>
          <a:p>
            <a:pPr lvl="1"/>
            <a:endParaRPr lang="en-CA" sz="2800" b="1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“Out of all the people who actually had the disease, how many did you successfully find?”</a:t>
            </a:r>
          </a:p>
          <a:p>
            <a:pPr lvl="1"/>
            <a:endParaRPr lang="en-CA" sz="2800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“How good am I at catching the real positives?”</a:t>
            </a:r>
          </a:p>
          <a:p>
            <a:pPr lvl="1"/>
            <a:endParaRPr lang="en-CA" sz="2800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Example: If 10 people had the disease and your model correctly predicted 7 of them, recall is 7/10 = 70%</a:t>
            </a:r>
          </a:p>
          <a:p>
            <a:pPr lvl="1"/>
            <a:endParaRPr lang="en-CA" dirty="0"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562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PERFORMANCE INDICATORS (KPI)</a:t>
            </a:r>
          </a:p>
        </p:txBody>
      </p:sp>
      <p:sp>
        <p:nvSpPr>
          <p:cNvPr id="50" name="Google Shape;121;p17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000000"/>
              </a:buClr>
              <a:buSzPts val="3200"/>
              <a:buFont typeface="Calibri"/>
              <a:buNone/>
            </a:pPr>
            <a:endParaRPr sz="3200" b="1" kern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" name="Прямоугольник 11">
            <a:extLst>
              <a:ext uri="{FF2B5EF4-FFF2-40B4-BE49-F238E27FC236}">
                <a16:creationId xmlns:a16="http://schemas.microsoft.com/office/drawing/2014/main" id="{B4B1F363-5EFE-402E-91B7-C999DD6A5345}"/>
              </a:ext>
            </a:extLst>
          </p:cNvPr>
          <p:cNvSpPr/>
          <p:nvPr/>
        </p:nvSpPr>
        <p:spPr>
          <a:xfrm>
            <a:off x="333523" y="1346271"/>
            <a:ext cx="10572601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b="1" dirty="0">
                <a:latin typeface="Montserrat" charset="0"/>
                <a:ea typeface="Montserrat" charset="0"/>
                <a:cs typeface="Montserrat" charset="0"/>
              </a:rPr>
              <a:t>F1 Score</a:t>
            </a:r>
          </a:p>
          <a:p>
            <a:pPr lvl="1"/>
            <a:endParaRPr lang="en-CA" sz="2800" b="1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It is a balance between precision and recall</a:t>
            </a:r>
          </a:p>
          <a:p>
            <a:pPr lvl="1"/>
            <a:endParaRPr lang="en-CA" sz="2800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“Let’s find a good middle ground between being right when I say ‘positive’ (precision) and not missing real positives (recall)”</a:t>
            </a:r>
          </a:p>
          <a:p>
            <a:pPr lvl="1"/>
            <a:endParaRPr lang="en-CA" sz="2800" dirty="0">
              <a:latin typeface="Montserrat" charset="0"/>
              <a:ea typeface="Montserrat" charset="0"/>
              <a:cs typeface="Montserrat" charset="0"/>
            </a:endParaRPr>
          </a:p>
          <a:p>
            <a:pPr lvl="1"/>
            <a:r>
              <a:rPr lang="en-CA" sz="2800" dirty="0">
                <a:latin typeface="Montserrat" charset="0"/>
                <a:ea typeface="Montserrat" charset="0"/>
                <a:cs typeface="Montserrat" charset="0"/>
              </a:rPr>
              <a:t>Example: If precision = 70% and recall = 70%, the F1 Score is also 70%. If one is high and the other is low, the F1 Score will be closer to the lower value.</a:t>
            </a:r>
          </a:p>
          <a:p>
            <a:pPr lvl="1"/>
            <a:endParaRPr lang="en-CA" dirty="0"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647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PERFORMANCE INDICATORS (KPI)</a:t>
            </a:r>
          </a:p>
        </p:txBody>
      </p:sp>
      <p:sp>
        <p:nvSpPr>
          <p:cNvPr id="50" name="Google Shape;121;p17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000000"/>
              </a:buClr>
              <a:buSzPts val="3200"/>
              <a:buFont typeface="Calibri"/>
              <a:buNone/>
            </a:pPr>
            <a:endParaRPr sz="3200" b="1" kern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878230-6199-45CE-AD9B-91452FF3C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892397"/>
            <a:ext cx="10774120" cy="352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41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C5093A-C6A1-4ED0-B1E4-51472D48F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8138-48BD-46AA-94F3-3B05DD703F63}"/>
              </a:ext>
            </a:extLst>
          </p:cNvPr>
          <p:cNvSpPr/>
          <p:nvPr/>
        </p:nvSpPr>
        <p:spPr>
          <a:xfrm>
            <a:off x="554183" y="297659"/>
            <a:ext cx="9827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PRECISION Vs. </a:t>
            </a:r>
            <a:r>
              <a:rPr lang="en-CA" sz="3000" b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RECALL EXAMPLE </a:t>
            </a:r>
            <a:endParaRPr lang="en-CA" sz="3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50" name="Google Shape;121;p17"/>
          <p:cNvSpPr txBox="1"/>
          <p:nvPr/>
        </p:nvSpPr>
        <p:spPr>
          <a:xfrm>
            <a:off x="695325" y="741577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000000"/>
              </a:buClr>
              <a:buSzPts val="3200"/>
              <a:buFont typeface="Calibri"/>
              <a:buNone/>
            </a:pPr>
            <a:endParaRPr sz="3200" b="1" kern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" name="Прямоугольник 11">
            <a:extLst>
              <a:ext uri="{FF2B5EF4-FFF2-40B4-BE49-F238E27FC236}">
                <a16:creationId xmlns:a16="http://schemas.microsoft.com/office/drawing/2014/main" id="{B4B1F363-5EFE-402E-91B7-C999DD6A5345}"/>
              </a:ext>
            </a:extLst>
          </p:cNvPr>
          <p:cNvSpPr/>
          <p:nvPr/>
        </p:nvSpPr>
        <p:spPr>
          <a:xfrm>
            <a:off x="1123950" y="4703246"/>
            <a:ext cx="105726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dirty="0">
              <a:latin typeface="Montserrat" charset="0"/>
              <a:ea typeface="Montserrat" charset="0"/>
              <a:cs typeface="Montserrat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Classiﬁcation Accuracy = (TP+TN) / (TP + TN + FP + FN) = 91%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Precision = TP/Total TRUE Predictions = TP/ (TP+FP) = ½=50%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CA" dirty="0">
                <a:latin typeface="Montserrat" charset="0"/>
                <a:ea typeface="Montserrat" charset="0"/>
                <a:cs typeface="Montserrat" charset="0"/>
              </a:rPr>
              <a:t>Recall = TP/ Actual TRUE = TP/ (TP+FN) = 1/9 = 11%</a:t>
            </a:r>
          </a:p>
        </p:txBody>
      </p:sp>
      <p:sp>
        <p:nvSpPr>
          <p:cNvPr id="7" name="Google Shape;123;p17"/>
          <p:cNvSpPr txBox="1"/>
          <p:nvPr/>
        </p:nvSpPr>
        <p:spPr>
          <a:xfrm>
            <a:off x="584199" y="1833049"/>
            <a:ext cx="5940423" cy="509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0000"/>
              </a:lnSpc>
              <a:buClr>
                <a:srgbClr val="124359"/>
              </a:buClr>
              <a:buSzPts val="3200"/>
              <a:buFont typeface="Montserrat Black"/>
              <a:buNone/>
            </a:pPr>
            <a:endParaRPr sz="3200" b="1" kern="0" dirty="0">
              <a:solidFill>
                <a:srgbClr val="124359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49798" y="2314782"/>
          <a:ext cx="3236832" cy="2574512"/>
        </p:xfrm>
        <a:graphic>
          <a:graphicData uri="http://schemas.openxmlformats.org/drawingml/2006/table">
            <a:tbl>
              <a:tblPr firstRow="1" bandRow="1"/>
              <a:tblGrid>
                <a:gridCol w="1618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037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9pPr>
                    </a:lstStyle>
                    <a:p>
                      <a:endParaRPr lang="en-CA" dirty="0"/>
                    </a:p>
                  </a:txBody>
                  <a:tcPr>
                    <a:lnL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9pPr>
                    </a:lstStyle>
                    <a:p>
                      <a:endParaRPr lang="en-CA" dirty="0"/>
                    </a:p>
                  </a:txBody>
                  <a:tcPr>
                    <a:lnL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7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9pPr>
                    </a:lstStyle>
                    <a:p>
                      <a:endParaRPr lang="en-CA" dirty="0"/>
                    </a:p>
                  </a:txBody>
                  <a:tcPr>
                    <a:lnL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Roboto"/>
                        </a:defRPr>
                      </a:lvl9pPr>
                    </a:lstStyle>
                    <a:p>
                      <a:endParaRPr lang="en-CA" dirty="0"/>
                    </a:p>
                  </a:txBody>
                  <a:tcPr>
                    <a:lnL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A09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Left Brace 8"/>
          <p:cNvSpPr/>
          <p:nvPr/>
        </p:nvSpPr>
        <p:spPr>
          <a:xfrm>
            <a:off x="3805929" y="2307656"/>
            <a:ext cx="424543" cy="2432167"/>
          </a:xfrm>
          <a:prstGeom prst="leftBrace">
            <a:avLst>
              <a:gd name="adj1" fmla="val 123718"/>
              <a:gd name="adj2" fmla="val 50000"/>
            </a:avLst>
          </a:prstGeom>
          <a:noFill/>
          <a:ln w="571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1" name="Left Brace 10"/>
          <p:cNvSpPr/>
          <p:nvPr/>
        </p:nvSpPr>
        <p:spPr>
          <a:xfrm rot="5400000">
            <a:off x="5977877" y="263563"/>
            <a:ext cx="384139" cy="3306947"/>
          </a:xfrm>
          <a:prstGeom prst="leftBrace">
            <a:avLst>
              <a:gd name="adj1" fmla="val 123718"/>
              <a:gd name="adj2" fmla="val 50473"/>
            </a:avLst>
          </a:prstGeom>
          <a:noFill/>
          <a:ln w="571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srgbClr val="0A091B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60554" y="3292906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PREDICTIONS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49959" y="1088168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TRUE CLASS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3741" y="2768401"/>
            <a:ext cx="1092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Roboto"/>
              </a:rPr>
              <a:t>TP = 1</a:t>
            </a:r>
            <a:endParaRPr lang="en-CA" sz="2400" b="1" dirty="0">
              <a:solidFill>
                <a:srgbClr val="00B050"/>
              </a:solidFill>
              <a:latin typeface="Robot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70389" y="4028335"/>
            <a:ext cx="1287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Roboto"/>
              </a:rPr>
              <a:t>TN = 90</a:t>
            </a:r>
            <a:endParaRPr lang="en-CA" sz="2400" b="1" dirty="0">
              <a:solidFill>
                <a:srgbClr val="00B050"/>
              </a:solidFill>
              <a:latin typeface="Robo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50213" y="2915658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+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8700" y="3998826"/>
            <a:ext cx="253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-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38736" y="1855799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+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4848" y="1800039"/>
            <a:ext cx="253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-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40026" y="2768401"/>
            <a:ext cx="1092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Roboto"/>
              </a:rPr>
              <a:t>FP = 1</a:t>
            </a:r>
            <a:endParaRPr lang="en-CA" sz="2400" b="1" dirty="0">
              <a:solidFill>
                <a:srgbClr val="FFC000"/>
              </a:solidFill>
              <a:latin typeface="Robot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78336" y="4044359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"/>
              </a:rPr>
              <a:t>FN = 8</a:t>
            </a:r>
            <a:endParaRPr lang="en-CA" sz="2400" b="1" dirty="0">
              <a:solidFill>
                <a:srgbClr val="FF0000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972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/>
      <p:bldP spid="13" grpId="0"/>
      <p:bldP spid="14" grpId="0"/>
      <p:bldP spid="15" grpId="0"/>
      <p:bldP spid="20" grpId="0"/>
      <p:bldP spid="21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897</Words>
  <Application>Microsoft Office PowerPoint</Application>
  <PresentationFormat>Widescreen</PresentationFormat>
  <Paragraphs>149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Courier New</vt:lpstr>
      <vt:lpstr>medium-content-serif-font</vt:lpstr>
      <vt:lpstr>Montserrat</vt:lpstr>
      <vt:lpstr>Montserrat Black</vt:lpstr>
      <vt:lpstr>Roboto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Renato Maaliw III</cp:lastModifiedBy>
  <cp:revision>59</cp:revision>
  <dcterms:created xsi:type="dcterms:W3CDTF">2019-05-23T09:27:58Z</dcterms:created>
  <dcterms:modified xsi:type="dcterms:W3CDTF">2026-03-06T02:10:15Z</dcterms:modified>
</cp:coreProperties>
</file>