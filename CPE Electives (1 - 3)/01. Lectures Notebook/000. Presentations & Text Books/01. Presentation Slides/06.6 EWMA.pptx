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27"/>
  </p:notesMasterIdLst>
  <p:handoutMasterIdLst>
    <p:handoutMasterId r:id="rId28"/>
  </p:handoutMasterIdLst>
  <p:sldIdLst>
    <p:sldId id="258" r:id="rId2"/>
    <p:sldId id="395" r:id="rId3"/>
    <p:sldId id="428" r:id="rId4"/>
    <p:sldId id="429" r:id="rId5"/>
    <p:sldId id="430" r:id="rId6"/>
    <p:sldId id="397" r:id="rId7"/>
    <p:sldId id="431" r:id="rId8"/>
    <p:sldId id="432" r:id="rId9"/>
    <p:sldId id="433" r:id="rId10"/>
    <p:sldId id="434" r:id="rId11"/>
    <p:sldId id="435" r:id="rId12"/>
    <p:sldId id="436" r:id="rId13"/>
    <p:sldId id="437" r:id="rId14"/>
    <p:sldId id="438" r:id="rId15"/>
    <p:sldId id="439" r:id="rId16"/>
    <p:sldId id="392" r:id="rId17"/>
    <p:sldId id="346" r:id="rId18"/>
    <p:sldId id="440" r:id="rId19"/>
    <p:sldId id="441" r:id="rId20"/>
    <p:sldId id="442" r:id="rId21"/>
    <p:sldId id="443" r:id="rId22"/>
    <p:sldId id="444" r:id="rId23"/>
    <p:sldId id="445" r:id="rId24"/>
    <p:sldId id="446" r:id="rId25"/>
    <p:sldId id="31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42" autoAdjust="0"/>
    <p:restoredTop sz="94660"/>
  </p:normalViewPr>
  <p:slideViewPr>
    <p:cSldViewPr snapToGrid="0">
      <p:cViewPr varScale="1">
        <p:scale>
          <a:sx n="86" d="100"/>
          <a:sy n="86" d="100"/>
        </p:scale>
        <p:origin x="298" y="67"/>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54" y="6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B6B94FD-5702-4F25-9A4D-07294FF3292C}" type="datetimeFigureOut">
              <a:rPr lang="en-PH" smtClean="0"/>
              <a:t>30 Jan 2026</a:t>
            </a:fld>
            <a:endParaRPr lang="en-PH"/>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8B5033A-92B8-453C-88B4-A91D8703A97C}" type="slidenum">
              <a:rPr lang="en-PH" smtClean="0"/>
              <a:t>‹#›</a:t>
            </a:fld>
            <a:endParaRPr lang="en-PH"/>
          </a:p>
        </p:txBody>
      </p:sp>
    </p:spTree>
    <p:extLst>
      <p:ext uri="{BB962C8B-B14F-4D97-AF65-F5344CB8AC3E}">
        <p14:creationId xmlns:p14="http://schemas.microsoft.com/office/powerpoint/2010/main" val="9542015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65AC51-C568-4371-A28D-D14CF2BCF8BA}" type="datetimeFigureOut">
              <a:rPr lang="en-US" smtClean="0"/>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38477-70AC-4892-810E-E936ABB30F23}" type="slidenum">
              <a:rPr lang="en-US" smtClean="0"/>
              <a:t>‹#›</a:t>
            </a:fld>
            <a:endParaRPr lang="en-US"/>
          </a:p>
        </p:txBody>
      </p:sp>
    </p:spTree>
    <p:extLst>
      <p:ext uri="{BB962C8B-B14F-4D97-AF65-F5344CB8AC3E}">
        <p14:creationId xmlns:p14="http://schemas.microsoft.com/office/powerpoint/2010/main" val="3740525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2A838477-70AC-4892-810E-E936ABB30F23}" type="slidenum">
              <a:rPr lang="en-US" smtClean="0"/>
              <a:t>1</a:t>
            </a:fld>
            <a:endParaRPr lang="en-US"/>
          </a:p>
        </p:txBody>
      </p:sp>
    </p:spTree>
    <p:extLst>
      <p:ext uri="{BB962C8B-B14F-4D97-AF65-F5344CB8AC3E}">
        <p14:creationId xmlns:p14="http://schemas.microsoft.com/office/powerpoint/2010/main" val="3268279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09E07-A799-163A-631B-B9A0A4DA3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E3F58-AADE-7AC0-A2FE-EBCB20C7A6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C1A55-4169-E3D5-FF74-17940E0CE88C}"/>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4349A43D-D378-A926-D0DD-C0FE32B2F867}"/>
              </a:ext>
            </a:extLst>
          </p:cNvPr>
          <p:cNvSpPr>
            <a:spLocks noGrp="1"/>
          </p:cNvSpPr>
          <p:nvPr>
            <p:ph type="sldNum" sz="quarter" idx="10"/>
          </p:nvPr>
        </p:nvSpPr>
        <p:spPr/>
        <p:txBody>
          <a:bodyPr/>
          <a:lstStyle/>
          <a:p>
            <a:fld id="{2A838477-70AC-4892-810E-E936ABB30F23}" type="slidenum">
              <a:rPr lang="en-US" smtClean="0"/>
              <a:t>17</a:t>
            </a:fld>
            <a:endParaRPr lang="en-US"/>
          </a:p>
        </p:txBody>
      </p:sp>
    </p:spTree>
    <p:extLst>
      <p:ext uri="{BB962C8B-B14F-4D97-AF65-F5344CB8AC3E}">
        <p14:creationId xmlns:p14="http://schemas.microsoft.com/office/powerpoint/2010/main" val="4225107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AAEDC-BB0F-8E35-FC61-07AE6B0B13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AD6DE-02EA-5BB9-ED96-8E2103DA6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EB9B5-40B6-4374-361A-62B0780943DC}"/>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AC67C053-6C71-B1DC-B374-8327B60838D4}"/>
              </a:ext>
            </a:extLst>
          </p:cNvPr>
          <p:cNvSpPr>
            <a:spLocks noGrp="1"/>
          </p:cNvSpPr>
          <p:nvPr>
            <p:ph type="sldNum" sz="quarter" idx="10"/>
          </p:nvPr>
        </p:nvSpPr>
        <p:spPr/>
        <p:txBody>
          <a:bodyPr/>
          <a:lstStyle/>
          <a:p>
            <a:fld id="{2A838477-70AC-4892-810E-E936ABB30F23}" type="slidenum">
              <a:rPr lang="en-US" smtClean="0"/>
              <a:t>18</a:t>
            </a:fld>
            <a:endParaRPr lang="en-US"/>
          </a:p>
        </p:txBody>
      </p:sp>
    </p:spTree>
    <p:extLst>
      <p:ext uri="{BB962C8B-B14F-4D97-AF65-F5344CB8AC3E}">
        <p14:creationId xmlns:p14="http://schemas.microsoft.com/office/powerpoint/2010/main" val="9238066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C8356-8512-87D6-EF83-A976F8663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A0E9B-09D9-FE60-241A-317B5F692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EA445-3FD0-55E4-3827-E185D3EB4544}"/>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FE3BC456-D70C-59DE-AD84-44A97482F5F1}"/>
              </a:ext>
            </a:extLst>
          </p:cNvPr>
          <p:cNvSpPr>
            <a:spLocks noGrp="1"/>
          </p:cNvSpPr>
          <p:nvPr>
            <p:ph type="sldNum" sz="quarter" idx="10"/>
          </p:nvPr>
        </p:nvSpPr>
        <p:spPr/>
        <p:txBody>
          <a:bodyPr/>
          <a:lstStyle/>
          <a:p>
            <a:fld id="{2A838477-70AC-4892-810E-E936ABB30F23}" type="slidenum">
              <a:rPr lang="en-US" smtClean="0"/>
              <a:t>19</a:t>
            </a:fld>
            <a:endParaRPr lang="en-US"/>
          </a:p>
        </p:txBody>
      </p:sp>
    </p:spTree>
    <p:extLst>
      <p:ext uri="{BB962C8B-B14F-4D97-AF65-F5344CB8AC3E}">
        <p14:creationId xmlns:p14="http://schemas.microsoft.com/office/powerpoint/2010/main" val="4023145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12B3C-F5F1-FBC7-FAC4-8871C36A4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C65E3-3FB8-900A-A381-665A49A02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5FC4F-8535-9DD0-677F-95DE3F6D13B6}"/>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4ACB5A3B-4D5F-0EA8-5B3B-4989FB5C2301}"/>
              </a:ext>
            </a:extLst>
          </p:cNvPr>
          <p:cNvSpPr>
            <a:spLocks noGrp="1"/>
          </p:cNvSpPr>
          <p:nvPr>
            <p:ph type="sldNum" sz="quarter" idx="10"/>
          </p:nvPr>
        </p:nvSpPr>
        <p:spPr/>
        <p:txBody>
          <a:bodyPr/>
          <a:lstStyle/>
          <a:p>
            <a:fld id="{2A838477-70AC-4892-810E-E936ABB30F23}" type="slidenum">
              <a:rPr lang="en-US" smtClean="0"/>
              <a:t>20</a:t>
            </a:fld>
            <a:endParaRPr lang="en-US"/>
          </a:p>
        </p:txBody>
      </p:sp>
    </p:spTree>
    <p:extLst>
      <p:ext uri="{BB962C8B-B14F-4D97-AF65-F5344CB8AC3E}">
        <p14:creationId xmlns:p14="http://schemas.microsoft.com/office/powerpoint/2010/main" val="1759455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F4159-0A0A-93D2-8FB6-1675AA2D4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83A9C-68D1-9ADF-9F19-5F2D89302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84EF59-AC12-C215-B4BB-5B0425F3103F}"/>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4B16F970-1652-F6C6-F45C-ED0C88DD3DE5}"/>
              </a:ext>
            </a:extLst>
          </p:cNvPr>
          <p:cNvSpPr>
            <a:spLocks noGrp="1"/>
          </p:cNvSpPr>
          <p:nvPr>
            <p:ph type="sldNum" sz="quarter" idx="10"/>
          </p:nvPr>
        </p:nvSpPr>
        <p:spPr/>
        <p:txBody>
          <a:bodyPr/>
          <a:lstStyle/>
          <a:p>
            <a:fld id="{2A838477-70AC-4892-810E-E936ABB30F23}" type="slidenum">
              <a:rPr lang="en-US" smtClean="0"/>
              <a:t>21</a:t>
            </a:fld>
            <a:endParaRPr lang="en-US"/>
          </a:p>
        </p:txBody>
      </p:sp>
    </p:spTree>
    <p:extLst>
      <p:ext uri="{BB962C8B-B14F-4D97-AF65-F5344CB8AC3E}">
        <p14:creationId xmlns:p14="http://schemas.microsoft.com/office/powerpoint/2010/main" val="2397513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BE97-9039-83A8-D791-620BCD15F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CD3D2-34EF-6EE8-6C73-07CC86D67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ECFC96-3912-4E97-4764-6FC16A508357}"/>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3A7F6B69-1349-1DFC-252E-5590B5F3FED8}"/>
              </a:ext>
            </a:extLst>
          </p:cNvPr>
          <p:cNvSpPr>
            <a:spLocks noGrp="1"/>
          </p:cNvSpPr>
          <p:nvPr>
            <p:ph type="sldNum" sz="quarter" idx="10"/>
          </p:nvPr>
        </p:nvSpPr>
        <p:spPr/>
        <p:txBody>
          <a:bodyPr/>
          <a:lstStyle/>
          <a:p>
            <a:fld id="{2A838477-70AC-4892-810E-E936ABB30F23}" type="slidenum">
              <a:rPr lang="en-US" smtClean="0"/>
              <a:t>22</a:t>
            </a:fld>
            <a:endParaRPr lang="en-US"/>
          </a:p>
        </p:txBody>
      </p:sp>
    </p:spTree>
    <p:extLst>
      <p:ext uri="{BB962C8B-B14F-4D97-AF65-F5344CB8AC3E}">
        <p14:creationId xmlns:p14="http://schemas.microsoft.com/office/powerpoint/2010/main" val="1185177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FA429-DF83-AD6F-1C5C-0A6532517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BEE47-AF68-2C42-AF21-AB0C0F6C0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1A3A5-8B00-F810-7C40-CB432855F92B}"/>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253EC483-145C-30F2-E72B-1059383DF075}"/>
              </a:ext>
            </a:extLst>
          </p:cNvPr>
          <p:cNvSpPr>
            <a:spLocks noGrp="1"/>
          </p:cNvSpPr>
          <p:nvPr>
            <p:ph type="sldNum" sz="quarter" idx="10"/>
          </p:nvPr>
        </p:nvSpPr>
        <p:spPr/>
        <p:txBody>
          <a:bodyPr/>
          <a:lstStyle/>
          <a:p>
            <a:fld id="{2A838477-70AC-4892-810E-E936ABB30F23}" type="slidenum">
              <a:rPr lang="en-US" smtClean="0"/>
              <a:t>23</a:t>
            </a:fld>
            <a:endParaRPr lang="en-US"/>
          </a:p>
        </p:txBody>
      </p:sp>
    </p:spTree>
    <p:extLst>
      <p:ext uri="{BB962C8B-B14F-4D97-AF65-F5344CB8AC3E}">
        <p14:creationId xmlns:p14="http://schemas.microsoft.com/office/powerpoint/2010/main" val="4260871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4836-E8A4-E64B-71A1-019BB7E89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27D59-5E77-D965-29A9-5407B386A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59587-59AB-95FD-BF8A-FCB357AB833F}"/>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731102DC-8E06-E586-D484-23414EC0559D}"/>
              </a:ext>
            </a:extLst>
          </p:cNvPr>
          <p:cNvSpPr>
            <a:spLocks noGrp="1"/>
          </p:cNvSpPr>
          <p:nvPr>
            <p:ph type="sldNum" sz="quarter" idx="10"/>
          </p:nvPr>
        </p:nvSpPr>
        <p:spPr/>
        <p:txBody>
          <a:bodyPr/>
          <a:lstStyle/>
          <a:p>
            <a:fld id="{2A838477-70AC-4892-810E-E936ABB30F23}" type="slidenum">
              <a:rPr lang="en-US" smtClean="0"/>
              <a:t>24</a:t>
            </a:fld>
            <a:endParaRPr lang="en-US"/>
          </a:p>
        </p:txBody>
      </p:sp>
    </p:spTree>
    <p:extLst>
      <p:ext uri="{BB962C8B-B14F-4D97-AF65-F5344CB8AC3E}">
        <p14:creationId xmlns:p14="http://schemas.microsoft.com/office/powerpoint/2010/main" val="4240893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4"/>
            <a:ext cx="10363200" cy="1470025"/>
          </a:xfrm>
          <a:prstGeom prst="rect">
            <a:avLst/>
          </a:prstGeom>
        </p:spPr>
        <p:txBody>
          <a:bodyPr/>
          <a:lstStyle/>
          <a:p>
            <a:r>
              <a:rPr lang="en-US"/>
              <a:t>Click to edit Master title style</a:t>
            </a:r>
            <a:endParaRPr lang="en-PH"/>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PH"/>
          </a:p>
        </p:txBody>
      </p:sp>
      <p:sp>
        <p:nvSpPr>
          <p:cNvPr id="4" name="Date Placeholder 3"/>
          <p:cNvSpPr>
            <a:spLocks noGrp="1"/>
          </p:cNvSpPr>
          <p:nvPr>
            <p:ph type="dt" sz="half" idx="10"/>
          </p:nvPr>
        </p:nvSpPr>
        <p:spPr>
          <a:xfrm>
            <a:off x="9000066" y="6347892"/>
            <a:ext cx="2844800" cy="365125"/>
          </a:xfrm>
          <a:prstGeom prst="rect">
            <a:avLst/>
          </a:prstGeom>
        </p:spPr>
        <p:txBody>
          <a:bodyPr/>
          <a:lstStyle/>
          <a:p>
            <a:endParaRPr lang="en-PH" dirty="0"/>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35000" y="6347893"/>
            <a:ext cx="2844800" cy="365125"/>
          </a:xfrm>
          <a:prstGeom prst="rect">
            <a:avLst/>
          </a:prstGeom>
        </p:spPr>
        <p:txBody>
          <a:bodyPr/>
          <a:lstStyle/>
          <a:p>
            <a:fld id="{52DC67D9-7476-42EA-B107-119E1B18B658}" type="slidenum">
              <a:rPr lang="en-US" smtClean="0"/>
              <a:t>‹#›</a:t>
            </a:fld>
            <a:endParaRPr lang="en-US" dirty="0"/>
          </a:p>
        </p:txBody>
      </p:sp>
    </p:spTree>
    <p:extLst>
      <p:ext uri="{BB962C8B-B14F-4D97-AF65-F5344CB8AC3E}">
        <p14:creationId xmlns:p14="http://schemas.microsoft.com/office/powerpoint/2010/main" val="495501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Content Placeholder 2"/>
          <p:cNvSpPr>
            <a:spLocks noGrp="1"/>
          </p:cNvSpPr>
          <p:nvPr>
            <p:ph idx="1"/>
          </p:nvPr>
        </p:nvSpPr>
        <p:spPr>
          <a:xfrm>
            <a:off x="609600" y="1600206"/>
            <a:ext cx="109728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dirty="0"/>
          </a:p>
        </p:txBody>
      </p:sp>
    </p:spTree>
    <p:extLst>
      <p:ext uri="{BB962C8B-B14F-4D97-AF65-F5344CB8AC3E}">
        <p14:creationId xmlns:p14="http://schemas.microsoft.com/office/powerpoint/2010/main" val="83708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9"/>
            <a:ext cx="10363200" cy="1362075"/>
          </a:xfrm>
          <a:prstGeom prst="rect">
            <a:avLst/>
          </a:prstGeom>
        </p:spPr>
        <p:txBody>
          <a:bodyPr anchor="t"/>
          <a:lstStyle>
            <a:lvl1pPr algn="l">
              <a:defRPr sz="4000" b="1" cap="all"/>
            </a:lvl1pPr>
          </a:lstStyle>
          <a:p>
            <a:r>
              <a:rPr lang="en-US"/>
              <a:t>Click to edit Master title style</a:t>
            </a:r>
            <a:endParaRPr lang="en-PH"/>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1254297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Content Placeholder 2"/>
          <p:cNvSpPr>
            <a:spLocks noGrp="1"/>
          </p:cNvSpPr>
          <p:nvPr>
            <p:ph sz="half" idx="1"/>
          </p:nvPr>
        </p:nvSpPr>
        <p:spPr>
          <a:xfrm>
            <a:off x="609600" y="1600206"/>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97600" y="1600206"/>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PH"/>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362669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endParaRPr lang="en-PH"/>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93373"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3"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a:xfrm>
            <a:off x="609600" y="6356359"/>
            <a:ext cx="2844800" cy="365125"/>
          </a:xfrm>
          <a:prstGeom prst="rect">
            <a:avLst/>
          </a:prstGeom>
        </p:spPr>
        <p:txBody>
          <a:bodyPr/>
          <a:lstStyle/>
          <a:p>
            <a:endParaRPr lang="en-PH"/>
          </a:p>
        </p:txBody>
      </p:sp>
      <p:sp>
        <p:nvSpPr>
          <p:cNvPr id="8" name="Footer Placeholder 7"/>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656336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Date Placeholder 2"/>
          <p:cNvSpPr>
            <a:spLocks noGrp="1"/>
          </p:cNvSpPr>
          <p:nvPr>
            <p:ph type="dt" sz="half" idx="10"/>
          </p:nvPr>
        </p:nvSpPr>
        <p:spPr>
          <a:xfrm>
            <a:off x="609600" y="6356359"/>
            <a:ext cx="2844800" cy="365125"/>
          </a:xfrm>
          <a:prstGeom prst="rect">
            <a:avLst/>
          </a:prstGeom>
        </p:spPr>
        <p:txBody>
          <a:bodyPr/>
          <a:lstStyle/>
          <a:p>
            <a:endParaRPr lang="en-PH"/>
          </a:p>
        </p:txBody>
      </p:sp>
      <p:sp>
        <p:nvSpPr>
          <p:cNvPr id="4" name="Footer Placeholder 3"/>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662513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9"/>
            <a:ext cx="2844800" cy="365125"/>
          </a:xfrm>
          <a:prstGeom prst="rect">
            <a:avLst/>
          </a:prstGeom>
        </p:spPr>
        <p:txBody>
          <a:bodyPr/>
          <a:lstStyle/>
          <a:p>
            <a:endParaRPr lang="en-PH"/>
          </a:p>
        </p:txBody>
      </p:sp>
      <p:sp>
        <p:nvSpPr>
          <p:cNvPr id="3" name="Footer Placeholder 2"/>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1797757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a:prstGeom prst="rect">
            <a:avLst/>
          </a:prstGeom>
        </p:spPr>
        <p:txBody>
          <a:bodyPr anchor="b"/>
          <a:lstStyle>
            <a:lvl1pPr algn="l">
              <a:defRPr sz="2000" b="1"/>
            </a:lvl1pPr>
          </a:lstStyle>
          <a:p>
            <a:r>
              <a:rPr lang="en-US"/>
              <a:t>Click to edit Master title style</a:t>
            </a:r>
            <a:endParaRPr lang="en-PH"/>
          </a:p>
        </p:txBody>
      </p:sp>
      <p:sp>
        <p:nvSpPr>
          <p:cNvPr id="3" name="Content Placeholder 2"/>
          <p:cNvSpPr>
            <a:spLocks noGrp="1"/>
          </p:cNvSpPr>
          <p:nvPr>
            <p:ph idx="1"/>
          </p:nvPr>
        </p:nvSpPr>
        <p:spPr>
          <a:xfrm>
            <a:off x="4766733" y="273059"/>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609603"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PH"/>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4085177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endParaRPr lang="en-PH"/>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9"/>
            <a:ext cx="2844800" cy="365125"/>
          </a:xfrm>
          <a:prstGeom prst="rect">
            <a:avLst/>
          </a:prstGeom>
        </p:spPr>
        <p:txBody>
          <a:bodyPr/>
          <a:lstStyle/>
          <a:p>
            <a:endParaRPr lang="en-US"/>
          </a:p>
        </p:txBody>
      </p:sp>
      <p:sp>
        <p:nvSpPr>
          <p:cNvPr id="6" name="Footer Placeholder 5"/>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271771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endParaRPr lang="en-PH"/>
          </a:p>
        </p:txBody>
      </p:sp>
      <p:sp>
        <p:nvSpPr>
          <p:cNvPr id="3" name="Vertical Text Placeholder 2"/>
          <p:cNvSpPr>
            <a:spLocks noGrp="1"/>
          </p:cNvSpPr>
          <p:nvPr>
            <p:ph type="body" orient="vert" idx="1"/>
          </p:nvPr>
        </p:nvSpPr>
        <p:spPr>
          <a:xfrm>
            <a:off x="609600" y="1600206"/>
            <a:ext cx="109728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PH"/>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
        <p:nvSpPr>
          <p:cNvPr id="7" name="Footer Placeholder 4">
            <a:extLst>
              <a:ext uri="{FF2B5EF4-FFF2-40B4-BE49-F238E27FC236}">
                <a16:creationId xmlns:a16="http://schemas.microsoft.com/office/drawing/2014/main" id="{D057E4A9-8BC1-4D03-B0CD-00353C3D487D}"/>
              </a:ext>
            </a:extLst>
          </p:cNvPr>
          <p:cNvSpPr>
            <a:spLocks noGrp="1"/>
          </p:cNvSpPr>
          <p:nvPr userDrawn="1"/>
        </p:nvSpPr>
        <p:spPr>
          <a:xfrm>
            <a:off x="4038600" y="635159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C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3ICT 2021 - 29-30 September 2021    University of Bahrain</a:t>
            </a:r>
          </a:p>
        </p:txBody>
      </p:sp>
    </p:spTree>
    <p:extLst>
      <p:ext uri="{BB962C8B-B14F-4D97-AF65-F5344CB8AC3E}">
        <p14:creationId xmlns:p14="http://schemas.microsoft.com/office/powerpoint/2010/main" val="2384099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7"/>
            <a:ext cx="2743200" cy="5851525"/>
          </a:xfrm>
          <a:prstGeom prst="rect">
            <a:avLst/>
          </a:prstGeo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609600" y="274647"/>
            <a:ext cx="80264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a:xfrm>
            <a:off x="609600" y="6356359"/>
            <a:ext cx="2844800" cy="365125"/>
          </a:xfrm>
          <a:prstGeom prst="rect">
            <a:avLst/>
          </a:prstGeom>
        </p:spPr>
        <p:txBody>
          <a:bodyPr/>
          <a:lstStyle/>
          <a:p>
            <a:endParaRPr lang="en-PH"/>
          </a:p>
        </p:txBody>
      </p:sp>
      <p:sp>
        <p:nvSpPr>
          <p:cNvPr id="5" name="Footer Placeholder 4"/>
          <p:cNvSpPr>
            <a:spLocks noGrp="1"/>
          </p:cNvSpPr>
          <p:nvPr>
            <p:ph type="ftr" sz="quarter" idx="11"/>
          </p:nvPr>
        </p:nvSpPr>
        <p:spPr>
          <a:xfrm>
            <a:off x="3632200" y="6356359"/>
            <a:ext cx="50292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737600" y="6356359"/>
            <a:ext cx="2844800" cy="365125"/>
          </a:xfrm>
          <a:prstGeom prst="rect">
            <a:avLst/>
          </a:prstGeom>
        </p:spPr>
        <p:txBody>
          <a:bodyPr/>
          <a:lstStyle/>
          <a:p>
            <a:fld id="{52DC67D9-7476-42EA-B107-119E1B18B658}" type="slidenum">
              <a:rPr lang="en-US" smtClean="0"/>
              <a:t>‹#›</a:t>
            </a:fld>
            <a:endParaRPr lang="en-US"/>
          </a:p>
        </p:txBody>
      </p:sp>
    </p:spTree>
    <p:extLst>
      <p:ext uri="{BB962C8B-B14F-4D97-AF65-F5344CB8AC3E}">
        <p14:creationId xmlns:p14="http://schemas.microsoft.com/office/powerpoint/2010/main" val="690751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146801"/>
            <a:ext cx="12192000" cy="7112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10" name="Rectangle 9"/>
          <p:cNvSpPr/>
          <p:nvPr userDrawn="1"/>
        </p:nvSpPr>
        <p:spPr>
          <a:xfrm>
            <a:off x="1" y="6354237"/>
            <a:ext cx="12192000" cy="368300"/>
          </a:xfrm>
          <a:prstGeom prst="rect">
            <a:avLst/>
          </a:prstGeom>
          <a:solidFill>
            <a:schemeClr val="tx2">
              <a:lumMod val="75000"/>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EXPONENTIAL WEIGHTED MOVING AVERAGE (EWMA)</a:t>
            </a:r>
            <a:endParaRPr lang="en-PH" sz="1400" b="1" dirty="0"/>
          </a:p>
        </p:txBody>
      </p:sp>
      <p:sp>
        <p:nvSpPr>
          <p:cNvPr id="17" name="Rectangle 16"/>
          <p:cNvSpPr/>
          <p:nvPr userDrawn="1"/>
        </p:nvSpPr>
        <p:spPr>
          <a:xfrm>
            <a:off x="254977" y="385020"/>
            <a:ext cx="11720146" cy="313266"/>
          </a:xfrm>
          <a:prstGeom prst="rect">
            <a:avLst/>
          </a:prstGeom>
          <a:solidFill>
            <a:srgbClr val="C00000">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B050"/>
                </a:solidFill>
                <a:latin typeface="Arial Black" pitchFamily="34" charset="0"/>
              </a:rPr>
              <a:t>Cognate/Professional Electives</a:t>
            </a:r>
            <a:endParaRPr lang="en-PH" sz="2000" b="1" dirty="0">
              <a:solidFill>
                <a:srgbClr val="0070C0"/>
              </a:solidFill>
              <a:latin typeface="Arial Black" pitchFamily="34" charset="0"/>
            </a:endParaRPr>
          </a:p>
        </p:txBody>
      </p:sp>
    </p:spTree>
    <p:extLst>
      <p:ext uri="{BB962C8B-B14F-4D97-AF65-F5344CB8AC3E}">
        <p14:creationId xmlns:p14="http://schemas.microsoft.com/office/powerpoint/2010/main" val="31357943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9902" y="1759366"/>
            <a:ext cx="11452196" cy="1569660"/>
          </a:xfrm>
          <a:prstGeom prst="rect">
            <a:avLst/>
          </a:prstGeom>
          <a:noFill/>
        </p:spPr>
        <p:txBody>
          <a:bodyPr wrap="square" rtlCol="0">
            <a:spAutoFit/>
          </a:bodyPr>
          <a:lstStyle/>
          <a:p>
            <a:pPr algn="ctr"/>
            <a:r>
              <a:rPr lang="en-US" sz="4800" b="1" dirty="0"/>
              <a:t>Exponential Weighted </a:t>
            </a:r>
          </a:p>
          <a:p>
            <a:pPr algn="ctr"/>
            <a:r>
              <a:rPr lang="en-US" sz="4800" b="1" dirty="0"/>
              <a:t>Moving Average (EWMA)</a:t>
            </a:r>
          </a:p>
        </p:txBody>
      </p:sp>
      <p:sp>
        <p:nvSpPr>
          <p:cNvPr id="6" name="TextBox 5"/>
          <p:cNvSpPr txBox="1"/>
          <p:nvPr/>
        </p:nvSpPr>
        <p:spPr>
          <a:xfrm>
            <a:off x="3318029" y="4059278"/>
            <a:ext cx="5555942" cy="1323439"/>
          </a:xfrm>
          <a:prstGeom prst="rect">
            <a:avLst/>
          </a:prstGeom>
          <a:noFill/>
        </p:spPr>
        <p:txBody>
          <a:bodyPr wrap="square" rtlCol="0">
            <a:spAutoFit/>
          </a:bodyPr>
          <a:lstStyle/>
          <a:p>
            <a:pPr algn="ctr"/>
            <a:r>
              <a:rPr lang="en-US" sz="2000" b="1" dirty="0"/>
              <a:t>Renato R. </a:t>
            </a:r>
            <a:r>
              <a:rPr lang="en-US" sz="2000" b="1" dirty="0" err="1"/>
              <a:t>Maaliw</a:t>
            </a:r>
            <a:r>
              <a:rPr lang="en-US" sz="2000" b="1" dirty="0"/>
              <a:t> III, </a:t>
            </a:r>
            <a:r>
              <a:rPr lang="en-US" sz="2000" b="1" i="1" dirty="0"/>
              <a:t>DIT</a:t>
            </a:r>
          </a:p>
          <a:p>
            <a:pPr algn="ctr"/>
            <a:r>
              <a:rPr lang="en-US" sz="2000" i="1" dirty="0"/>
              <a:t>Professor 1, College of Engineering</a:t>
            </a:r>
          </a:p>
          <a:p>
            <a:pPr algn="ctr"/>
            <a:r>
              <a:rPr lang="en-US" sz="2000" i="1" dirty="0"/>
              <a:t>Southern Luzon State University</a:t>
            </a:r>
          </a:p>
          <a:p>
            <a:pPr algn="ctr"/>
            <a:r>
              <a:rPr lang="en-US" sz="2000" dirty="0" err="1"/>
              <a:t>Lucban</a:t>
            </a:r>
            <a:r>
              <a:rPr lang="en-US" sz="2000" dirty="0"/>
              <a:t>, Quezon, Philippines</a:t>
            </a:r>
            <a:endParaRPr lang="en-PH" sz="2000" dirty="0"/>
          </a:p>
        </p:txBody>
      </p:sp>
    </p:spTree>
    <p:extLst>
      <p:ext uri="{BB962C8B-B14F-4D97-AF65-F5344CB8AC3E}">
        <p14:creationId xmlns:p14="http://schemas.microsoft.com/office/powerpoint/2010/main" val="3906540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1211204"/>
            <a:ext cx="5205762" cy="4216539"/>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Imagine you are managing coffee shop. Every day, you order coffee beans based on your </a:t>
            </a:r>
            <a:r>
              <a:rPr lang="en-US" sz="4000" dirty="0">
                <a:solidFill>
                  <a:srgbClr val="FF0000"/>
                </a:solidFill>
                <a:latin typeface="+mj-lt"/>
                <a:cs typeface="Arial" pitchFamily="34" charset="0"/>
              </a:rPr>
              <a:t>past sales</a:t>
            </a:r>
            <a:r>
              <a:rPr lang="en-US" sz="4000" dirty="0">
                <a:latin typeface="+mj-lt"/>
                <a:cs typeface="Arial" pitchFamily="34" charset="0"/>
              </a:rPr>
              <a:t>.</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498" y="1143496"/>
            <a:ext cx="4379586" cy="4393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4253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1211204"/>
            <a:ext cx="5205762" cy="4216539"/>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Recently, you noticed </a:t>
            </a:r>
            <a:r>
              <a:rPr lang="en-US" sz="4000" dirty="0">
                <a:solidFill>
                  <a:srgbClr val="FF0000"/>
                </a:solidFill>
                <a:latin typeface="+mj-lt"/>
                <a:cs typeface="Arial" pitchFamily="34" charset="0"/>
              </a:rPr>
              <a:t>sudden changes</a:t>
            </a:r>
            <a:r>
              <a:rPr lang="en-US" sz="4000" dirty="0">
                <a:latin typeface="+mj-lt"/>
                <a:cs typeface="Arial" pitchFamily="34" charset="0"/>
              </a:rPr>
              <a:t>: some day you run out early, other days you have left overs.</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133" y="1211204"/>
            <a:ext cx="4351446" cy="425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7252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48855" y="1211204"/>
            <a:ext cx="5205762" cy="4216539"/>
          </a:xfrm>
          <a:prstGeom prst="rect">
            <a:avLst/>
          </a:prstGeom>
          <a:noFill/>
        </p:spPr>
        <p:txBody>
          <a:bodyPr wrap="square" rtlCol="0">
            <a:spAutoFit/>
          </a:bodyPr>
          <a:lstStyle/>
          <a:p>
            <a:r>
              <a:rPr lang="en-US" sz="4400" b="1" dirty="0"/>
              <a:t>Motivation:</a:t>
            </a:r>
          </a:p>
          <a:p>
            <a:endParaRPr lang="en-US" sz="2400" b="1" dirty="0"/>
          </a:p>
          <a:p>
            <a:r>
              <a:rPr lang="en-US" sz="4000" dirty="0">
                <a:latin typeface="+mj-lt"/>
                <a:cs typeface="Arial" pitchFamily="34" charset="0"/>
              </a:rPr>
              <a:t>How can you </a:t>
            </a:r>
            <a:r>
              <a:rPr lang="en-US" sz="4000" dirty="0">
                <a:solidFill>
                  <a:srgbClr val="FF0000"/>
                </a:solidFill>
                <a:latin typeface="+mj-lt"/>
                <a:cs typeface="Arial" pitchFamily="34" charset="0"/>
              </a:rPr>
              <a:t>adjust quickly</a:t>
            </a:r>
            <a:r>
              <a:rPr lang="en-US" sz="4000" dirty="0">
                <a:latin typeface="+mj-lt"/>
                <a:cs typeface="Arial" pitchFamily="34" charset="0"/>
              </a:rPr>
              <a:t> to avoid disappointing customers and lost profits?</a:t>
            </a:r>
            <a:endParaRPr lang="en-PH" sz="4000" dirty="0">
              <a:latin typeface="+mj-lt"/>
              <a:cs typeface="Arial" pitchFamily="34" charset="0"/>
            </a:endParaRPr>
          </a:p>
        </p:txBody>
      </p:sp>
      <p:sp>
        <p:nvSpPr>
          <p:cNvPr id="2" name="AutoShape 2"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3" name="AutoShape 4" descr="A cozy coffee shop with a barista checking a digital tablet while ordering coffee beans. The counter is filled with coffee cups, a cash register, and a chalkboard menu listing different coffee options. Behind the barista, shelves stocked with coffee beans, syrups, and brewing equipment. Customers are sitting at wooden tables, enjoying their drinks, with large windows letting in natural sunlight. The atmosphere is warm and inviting, with a mix of modern and rustic dec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374" y="1224700"/>
            <a:ext cx="4258529" cy="4203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676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290984"/>
            <a:ext cx="10558668" cy="4154984"/>
          </a:xfrm>
          <a:prstGeom prst="rect">
            <a:avLst/>
          </a:prstGeom>
          <a:noFill/>
        </p:spPr>
        <p:txBody>
          <a:bodyPr wrap="square" rtlCol="0">
            <a:spAutoFit/>
          </a:bodyPr>
          <a:lstStyle/>
          <a:p>
            <a:r>
              <a:rPr lang="en-US" sz="4400" b="1" dirty="0"/>
              <a:t>This is where EWMA helps! </a:t>
            </a:r>
          </a:p>
          <a:p>
            <a:endParaRPr lang="en-US" sz="4400" b="1" dirty="0"/>
          </a:p>
          <a:p>
            <a:r>
              <a:rPr lang="en-US" sz="4400" dirty="0"/>
              <a:t>By using EWMA, </a:t>
            </a:r>
            <a:r>
              <a:rPr lang="en-US" sz="4400" dirty="0">
                <a:solidFill>
                  <a:srgbClr val="C00000"/>
                </a:solidFill>
              </a:rPr>
              <a:t>you prioritize recent sales </a:t>
            </a:r>
            <a:r>
              <a:rPr lang="en-US" sz="4400" dirty="0"/>
              <a:t>information to quickly adapt your orders, ensuring you always have the right amount of coffee beans.</a:t>
            </a:r>
          </a:p>
        </p:txBody>
      </p:sp>
    </p:spTree>
    <p:extLst>
      <p:ext uri="{BB962C8B-B14F-4D97-AF65-F5344CB8AC3E}">
        <p14:creationId xmlns:p14="http://schemas.microsoft.com/office/powerpoint/2010/main" val="3227111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4216539"/>
          </a:xfrm>
          <a:prstGeom prst="rect">
            <a:avLst/>
          </a:prstGeom>
          <a:noFill/>
        </p:spPr>
        <p:txBody>
          <a:bodyPr wrap="square" rtlCol="0">
            <a:spAutoFit/>
          </a:bodyPr>
          <a:lstStyle/>
          <a:p>
            <a:r>
              <a:rPr lang="en-US" sz="4400" b="1" dirty="0"/>
              <a:t>EWMA</a:t>
            </a:r>
          </a:p>
          <a:p>
            <a:endParaRPr lang="en-US" sz="2400" b="1" dirty="0"/>
          </a:p>
          <a:p>
            <a:pPr marL="571500" indent="-571500">
              <a:buFontTx/>
              <a:buChar char="-"/>
            </a:pPr>
            <a:r>
              <a:rPr lang="en-US" sz="4000" dirty="0">
                <a:latin typeface="+mj-lt"/>
                <a:cs typeface="Arial" pitchFamily="34" charset="0"/>
              </a:rPr>
              <a:t>a statistical method used to analyze data trends over time. </a:t>
            </a:r>
          </a:p>
          <a:p>
            <a:pPr marL="571500" indent="-571500">
              <a:buFontTx/>
              <a:buChar char="-"/>
            </a:pPr>
            <a:r>
              <a:rPr lang="en-US" sz="4000" dirty="0">
                <a:latin typeface="+mj-lt"/>
                <a:cs typeface="Arial" pitchFamily="34" charset="0"/>
              </a:rPr>
              <a:t>unlike SMA, it </a:t>
            </a:r>
            <a:r>
              <a:rPr lang="en-US" sz="4000" dirty="0">
                <a:solidFill>
                  <a:srgbClr val="C00000"/>
                </a:solidFill>
                <a:latin typeface="+mj-lt"/>
                <a:cs typeface="Arial" pitchFamily="34" charset="0"/>
              </a:rPr>
              <a:t>assigns importance </a:t>
            </a:r>
            <a:r>
              <a:rPr lang="en-US" sz="4000" dirty="0">
                <a:latin typeface="+mj-lt"/>
                <a:cs typeface="Arial" pitchFamily="34" charset="0"/>
              </a:rPr>
              <a:t>(“weight”) to </a:t>
            </a:r>
            <a:r>
              <a:rPr lang="en-US" sz="4000" dirty="0">
                <a:solidFill>
                  <a:srgbClr val="C00000"/>
                </a:solidFill>
                <a:latin typeface="+mj-lt"/>
                <a:cs typeface="Arial" pitchFamily="34" charset="0"/>
              </a:rPr>
              <a:t>recent observations</a:t>
            </a:r>
            <a:r>
              <a:rPr lang="en-US" sz="4000" dirty="0">
                <a:latin typeface="+mj-lt"/>
                <a:cs typeface="Arial" pitchFamily="34" charset="0"/>
              </a:rPr>
              <a:t>, with older data gradually receiving less importance.</a:t>
            </a:r>
          </a:p>
        </p:txBody>
      </p:sp>
    </p:spTree>
    <p:extLst>
      <p:ext uri="{BB962C8B-B14F-4D97-AF65-F5344CB8AC3E}">
        <p14:creationId xmlns:p14="http://schemas.microsoft.com/office/powerpoint/2010/main" val="475145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2800767"/>
          </a:xfrm>
          <a:prstGeom prst="rect">
            <a:avLst/>
          </a:prstGeom>
          <a:noFill/>
        </p:spPr>
        <p:txBody>
          <a:bodyPr wrap="square" rtlCol="0">
            <a:spAutoFit/>
          </a:bodyPr>
          <a:lstStyle/>
          <a:p>
            <a:r>
              <a:rPr lang="en-US" sz="4400" b="1" dirty="0"/>
              <a:t>Why use EWMA?</a:t>
            </a:r>
          </a:p>
          <a:p>
            <a:endParaRPr lang="en-US" sz="2400" b="1" dirty="0"/>
          </a:p>
          <a:p>
            <a:pPr marL="571500" indent="-571500">
              <a:buFontTx/>
              <a:buChar char="-"/>
            </a:pPr>
            <a:r>
              <a:rPr lang="en-US" sz="3600" dirty="0">
                <a:latin typeface="+mj-lt"/>
                <a:cs typeface="Arial" pitchFamily="34" charset="0"/>
              </a:rPr>
              <a:t>recent data carries </a:t>
            </a:r>
            <a:r>
              <a:rPr lang="en-US" sz="3600" dirty="0">
                <a:solidFill>
                  <a:srgbClr val="C00000"/>
                </a:solidFill>
                <a:latin typeface="+mj-lt"/>
                <a:cs typeface="Arial" pitchFamily="34" charset="0"/>
              </a:rPr>
              <a:t>more relevance</a:t>
            </a:r>
            <a:r>
              <a:rPr lang="en-US" sz="3600" dirty="0">
                <a:latin typeface="+mj-lt"/>
                <a:cs typeface="Arial" pitchFamily="34" charset="0"/>
              </a:rPr>
              <a:t> that older data</a:t>
            </a:r>
          </a:p>
          <a:p>
            <a:pPr marL="571500" indent="-571500">
              <a:buFontTx/>
              <a:buChar char="-"/>
            </a:pPr>
            <a:r>
              <a:rPr lang="en-US" sz="3600" dirty="0">
                <a:latin typeface="+mj-lt"/>
                <a:cs typeface="Arial" pitchFamily="34" charset="0"/>
              </a:rPr>
              <a:t>data contains noise or random fluctuations</a:t>
            </a:r>
          </a:p>
          <a:p>
            <a:pPr marL="571500" indent="-571500">
              <a:buFontTx/>
              <a:buChar char="-"/>
            </a:pPr>
            <a:r>
              <a:rPr lang="en-US" sz="3600" dirty="0">
                <a:latin typeface="+mj-lt"/>
                <a:cs typeface="Arial" pitchFamily="34" charset="0"/>
              </a:rPr>
              <a:t>rapid detection of changes is crucial</a:t>
            </a:r>
          </a:p>
        </p:txBody>
      </p:sp>
    </p:spTree>
    <p:extLst>
      <p:ext uri="{BB962C8B-B14F-4D97-AF65-F5344CB8AC3E}">
        <p14:creationId xmlns:p14="http://schemas.microsoft.com/office/powerpoint/2010/main" val="2452030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3354765"/>
          </a:xfrm>
          <a:prstGeom prst="rect">
            <a:avLst/>
          </a:prstGeom>
          <a:noFill/>
        </p:spPr>
        <p:txBody>
          <a:bodyPr wrap="square" rtlCol="0">
            <a:spAutoFit/>
          </a:bodyPr>
          <a:lstStyle/>
          <a:p>
            <a:r>
              <a:rPr lang="en-US" sz="4400" b="1" dirty="0"/>
              <a:t>Key Components:</a:t>
            </a:r>
          </a:p>
          <a:p>
            <a:endParaRPr lang="en-US" sz="2400" b="1" dirty="0"/>
          </a:p>
          <a:p>
            <a:r>
              <a:rPr lang="en-US" sz="3600" dirty="0">
                <a:latin typeface="+mj-lt"/>
                <a:cs typeface="Arial" pitchFamily="34" charset="0"/>
              </a:rPr>
              <a:t>1. Smoothing Factor (</a:t>
            </a:r>
            <a:r>
              <a:rPr lang="el-GR" sz="3600" b="1" dirty="0"/>
              <a:t>λ – </a:t>
            </a:r>
            <a:r>
              <a:rPr lang="en-PH" sz="3600" b="1" dirty="0"/>
              <a:t>lambda)</a:t>
            </a:r>
            <a:endParaRPr lang="en-PH" sz="3600" dirty="0"/>
          </a:p>
          <a:p>
            <a:r>
              <a:rPr lang="en-US" sz="3600" dirty="0">
                <a:latin typeface="+mj-lt"/>
                <a:cs typeface="Arial" pitchFamily="34" charset="0"/>
              </a:rPr>
              <a:t>     - determines the </a:t>
            </a:r>
            <a:r>
              <a:rPr lang="en-US" sz="3600" dirty="0">
                <a:solidFill>
                  <a:srgbClr val="C00000"/>
                </a:solidFill>
                <a:latin typeface="+mj-lt"/>
                <a:cs typeface="Arial" pitchFamily="34" charset="0"/>
              </a:rPr>
              <a:t>emphasis</a:t>
            </a:r>
            <a:r>
              <a:rPr lang="en-US" sz="3600" dirty="0">
                <a:latin typeface="+mj-lt"/>
                <a:cs typeface="Arial" pitchFamily="34" charset="0"/>
              </a:rPr>
              <a:t> given to recent data</a:t>
            </a:r>
          </a:p>
          <a:p>
            <a:r>
              <a:rPr lang="en-US" sz="3600" dirty="0">
                <a:latin typeface="+mj-lt"/>
                <a:cs typeface="Arial" pitchFamily="34" charset="0"/>
              </a:rPr>
              <a:t>     - value ranges from </a:t>
            </a:r>
            <a:r>
              <a:rPr lang="en-US" sz="3600" dirty="0">
                <a:solidFill>
                  <a:srgbClr val="C00000"/>
                </a:solidFill>
                <a:latin typeface="+mj-lt"/>
                <a:cs typeface="Arial" pitchFamily="34" charset="0"/>
              </a:rPr>
              <a:t>0 to 1</a:t>
            </a:r>
          </a:p>
          <a:p>
            <a:r>
              <a:rPr lang="en-US" sz="3600" dirty="0">
                <a:latin typeface="+mj-lt"/>
                <a:cs typeface="Arial" pitchFamily="34" charset="0"/>
              </a:rPr>
              <a:t>     - a higher </a:t>
            </a:r>
            <a:r>
              <a:rPr lang="el-GR" sz="3600" b="1" dirty="0"/>
              <a:t>λ</a:t>
            </a:r>
            <a:r>
              <a:rPr lang="en-US" sz="3600" b="1" dirty="0"/>
              <a:t> </a:t>
            </a:r>
            <a:r>
              <a:rPr lang="en-US" sz="3600" dirty="0"/>
              <a:t>indicates </a:t>
            </a:r>
            <a:r>
              <a:rPr lang="en-US" sz="3600" dirty="0">
                <a:solidFill>
                  <a:srgbClr val="C00000"/>
                </a:solidFill>
              </a:rPr>
              <a:t>more emphasis</a:t>
            </a:r>
            <a:r>
              <a:rPr lang="en-US" sz="3600" dirty="0"/>
              <a:t> on recent data</a:t>
            </a:r>
            <a:endParaRPr lang="en-US" sz="3600" dirty="0">
              <a:latin typeface="+mj-lt"/>
              <a:cs typeface="Arial" pitchFamily="34" charset="0"/>
            </a:endParaRPr>
          </a:p>
        </p:txBody>
      </p:sp>
    </p:spTree>
    <p:extLst>
      <p:ext uri="{BB962C8B-B14F-4D97-AF65-F5344CB8AC3E}">
        <p14:creationId xmlns:p14="http://schemas.microsoft.com/office/powerpoint/2010/main" val="2578110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1185878"/>
            <a:ext cx="10558668" cy="2800767"/>
          </a:xfrm>
          <a:prstGeom prst="rect">
            <a:avLst/>
          </a:prstGeom>
          <a:noFill/>
        </p:spPr>
        <p:txBody>
          <a:bodyPr wrap="square" rtlCol="0">
            <a:spAutoFit/>
          </a:bodyPr>
          <a:lstStyle/>
          <a:p>
            <a:r>
              <a:rPr lang="en-US" sz="4400" b="1" dirty="0"/>
              <a:t>Key Components:</a:t>
            </a:r>
          </a:p>
          <a:p>
            <a:endParaRPr lang="en-US" sz="2400" b="1" dirty="0"/>
          </a:p>
          <a:p>
            <a:r>
              <a:rPr lang="en-US" sz="3600" dirty="0">
                <a:latin typeface="+mj-lt"/>
                <a:cs typeface="Arial" pitchFamily="34" charset="0"/>
              </a:rPr>
              <a:t>2. Previous EWMA value </a:t>
            </a:r>
          </a:p>
          <a:p>
            <a:r>
              <a:rPr lang="en-US" sz="3600" dirty="0">
                <a:latin typeface="+mj-lt"/>
                <a:cs typeface="Arial" pitchFamily="34" charset="0"/>
              </a:rPr>
              <a:t>     - the previous EWMA calculation </a:t>
            </a:r>
            <a:r>
              <a:rPr lang="en-US" sz="3600" dirty="0">
                <a:solidFill>
                  <a:srgbClr val="C00000"/>
                </a:solidFill>
                <a:latin typeface="+mj-lt"/>
                <a:cs typeface="Arial" pitchFamily="34" charset="0"/>
              </a:rPr>
              <a:t>influences</a:t>
            </a:r>
            <a:r>
              <a:rPr lang="en-US" sz="3600" dirty="0">
                <a:latin typeface="+mj-lt"/>
                <a:cs typeface="Arial" pitchFamily="34" charset="0"/>
              </a:rPr>
              <a:t> current   </a:t>
            </a:r>
          </a:p>
          <a:p>
            <a:r>
              <a:rPr lang="en-US" sz="3600" dirty="0">
                <a:latin typeface="+mj-lt"/>
                <a:cs typeface="Arial" pitchFamily="34" charset="0"/>
              </a:rPr>
              <a:t>       EWMA, for smooth transitions and continuity</a:t>
            </a:r>
          </a:p>
        </p:txBody>
      </p:sp>
    </p:spTree>
    <p:extLst>
      <p:ext uri="{BB962C8B-B14F-4D97-AF65-F5344CB8AC3E}">
        <p14:creationId xmlns:p14="http://schemas.microsoft.com/office/powerpoint/2010/main" val="405971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923128"/>
            <a:ext cx="10558668" cy="4985980"/>
          </a:xfrm>
          <a:prstGeom prst="rect">
            <a:avLst/>
          </a:prstGeom>
          <a:noFill/>
        </p:spPr>
        <p:txBody>
          <a:bodyPr wrap="square" rtlCol="0">
            <a:spAutoFit/>
          </a:bodyPr>
          <a:lstStyle/>
          <a:p>
            <a:r>
              <a:rPr lang="en-US" sz="4000" b="1" dirty="0"/>
              <a:t>Motivation on Choosing the Smoothing Factor </a:t>
            </a:r>
            <a:r>
              <a:rPr lang="el-GR" sz="4000" b="1" dirty="0"/>
              <a:t>(λ)</a:t>
            </a:r>
          </a:p>
          <a:p>
            <a:endParaRPr lang="en-US" sz="1400" b="1" dirty="0"/>
          </a:p>
          <a:p>
            <a:r>
              <a:rPr lang="en-US" sz="3600" b="1" dirty="0">
                <a:latin typeface="+mj-lt"/>
                <a:cs typeface="Arial" pitchFamily="34" charset="0"/>
              </a:rPr>
              <a:t>Higher </a:t>
            </a:r>
            <a:r>
              <a:rPr lang="el-GR" sz="3600" b="1" dirty="0"/>
              <a:t>λ</a:t>
            </a:r>
            <a:r>
              <a:rPr lang="en-US" sz="3600" b="1" dirty="0"/>
              <a:t> </a:t>
            </a:r>
            <a:r>
              <a:rPr lang="en-US" sz="3600" dirty="0"/>
              <a:t>(close to 1)</a:t>
            </a:r>
          </a:p>
          <a:p>
            <a:r>
              <a:rPr lang="en-US" sz="3600" dirty="0">
                <a:latin typeface="+mj-lt"/>
                <a:cs typeface="Arial" pitchFamily="34" charset="0"/>
              </a:rPr>
              <a:t>   - places significant importance on </a:t>
            </a:r>
            <a:r>
              <a:rPr lang="en-US" sz="3600" dirty="0">
                <a:solidFill>
                  <a:srgbClr val="C00000"/>
                </a:solidFill>
                <a:latin typeface="+mj-lt"/>
                <a:cs typeface="Arial" pitchFamily="34" charset="0"/>
              </a:rPr>
              <a:t>recent data</a:t>
            </a:r>
          </a:p>
          <a:p>
            <a:r>
              <a:rPr lang="en-US" sz="3600" dirty="0">
                <a:latin typeface="+mj-lt"/>
                <a:cs typeface="Arial" pitchFamily="34" charset="0"/>
              </a:rPr>
              <a:t>   - you want quick detection of recent changes</a:t>
            </a:r>
          </a:p>
          <a:p>
            <a:endParaRPr lang="en-US" sz="1200" dirty="0">
              <a:latin typeface="+mj-lt"/>
              <a:cs typeface="Arial" pitchFamily="34" charset="0"/>
            </a:endParaRPr>
          </a:p>
          <a:p>
            <a:r>
              <a:rPr lang="en-US" sz="3600" b="1" dirty="0">
                <a:cs typeface="Arial" pitchFamily="34" charset="0"/>
              </a:rPr>
              <a:t>Lower </a:t>
            </a:r>
            <a:r>
              <a:rPr lang="el-GR" sz="3600" b="1" dirty="0"/>
              <a:t>λ</a:t>
            </a:r>
            <a:r>
              <a:rPr lang="en-US" sz="3600" b="1" dirty="0"/>
              <a:t> </a:t>
            </a:r>
            <a:r>
              <a:rPr lang="en-US" sz="3600" dirty="0"/>
              <a:t>(close to 0)</a:t>
            </a:r>
          </a:p>
          <a:p>
            <a:r>
              <a:rPr lang="en-US" sz="3600" dirty="0">
                <a:cs typeface="Arial" pitchFamily="34" charset="0"/>
              </a:rPr>
              <a:t>   - assigns greater weight to </a:t>
            </a:r>
            <a:r>
              <a:rPr lang="en-US" sz="3600" dirty="0">
                <a:solidFill>
                  <a:srgbClr val="C00000"/>
                </a:solidFill>
                <a:cs typeface="Arial" pitchFamily="34" charset="0"/>
              </a:rPr>
              <a:t>historical data</a:t>
            </a:r>
          </a:p>
          <a:p>
            <a:r>
              <a:rPr lang="en-US" sz="3600" dirty="0">
                <a:cs typeface="Arial" pitchFamily="34" charset="0"/>
              </a:rPr>
              <a:t>   - you want a more stable and less volatile trend </a:t>
            </a:r>
          </a:p>
          <a:p>
            <a:r>
              <a:rPr lang="en-US" sz="3600" dirty="0">
                <a:cs typeface="Arial" pitchFamily="34" charset="0"/>
              </a:rPr>
              <a:t>     analysis</a:t>
            </a:r>
          </a:p>
        </p:txBody>
      </p:sp>
    </p:spTree>
    <p:extLst>
      <p:ext uri="{BB962C8B-B14F-4D97-AF65-F5344CB8AC3E}">
        <p14:creationId xmlns:p14="http://schemas.microsoft.com/office/powerpoint/2010/main" val="980221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91598"/>
            <a:ext cx="10558668" cy="5001369"/>
          </a:xfrm>
          <a:prstGeom prst="rect">
            <a:avLst/>
          </a:prstGeom>
          <a:noFill/>
        </p:spPr>
        <p:txBody>
          <a:bodyPr wrap="square" rtlCol="0">
            <a:spAutoFit/>
          </a:bodyPr>
          <a:lstStyle/>
          <a:p>
            <a:r>
              <a:rPr lang="en-US" sz="4000" b="1" dirty="0"/>
              <a:t>Best Practices for Selecting </a:t>
            </a:r>
            <a:r>
              <a:rPr lang="el-GR" sz="4000" b="1" dirty="0"/>
              <a:t>λ</a:t>
            </a:r>
          </a:p>
          <a:p>
            <a:endParaRPr lang="en-US" sz="1200" b="1" dirty="0"/>
          </a:p>
          <a:p>
            <a:r>
              <a:rPr lang="en-US" sz="3200" dirty="0">
                <a:latin typeface="+mj-lt"/>
                <a:cs typeface="Arial" pitchFamily="34" charset="0"/>
              </a:rPr>
              <a:t>Note: There is </a:t>
            </a:r>
            <a:r>
              <a:rPr lang="en-US" sz="3200" dirty="0">
                <a:solidFill>
                  <a:srgbClr val="C00000"/>
                </a:solidFill>
                <a:latin typeface="+mj-lt"/>
                <a:cs typeface="Arial" pitchFamily="34" charset="0"/>
              </a:rPr>
              <a:t>no single perfect </a:t>
            </a:r>
            <a:r>
              <a:rPr lang="el-GR" sz="3200" dirty="0">
                <a:solidFill>
                  <a:srgbClr val="C00000"/>
                </a:solidFill>
              </a:rPr>
              <a:t>λ</a:t>
            </a:r>
            <a:r>
              <a:rPr lang="en-US" sz="3200" dirty="0">
                <a:solidFill>
                  <a:srgbClr val="C00000"/>
                </a:solidFill>
              </a:rPr>
              <a:t> value</a:t>
            </a:r>
            <a:r>
              <a:rPr lang="en-US" sz="3200" dirty="0"/>
              <a:t>, but this general guidelines help:</a:t>
            </a:r>
            <a:endParaRPr lang="el-GR" sz="3200" dirty="0"/>
          </a:p>
          <a:p>
            <a:endParaRPr lang="en-US" sz="1100" dirty="0"/>
          </a:p>
          <a:p>
            <a:pPr marL="971550" lvl="1" indent="-514350">
              <a:buFont typeface="+mj-lt"/>
              <a:buAutoNum type="alphaLcParenR"/>
            </a:pPr>
            <a:r>
              <a:rPr lang="en-US" sz="3200" dirty="0">
                <a:latin typeface="+mj-lt"/>
                <a:cs typeface="Arial" pitchFamily="34" charset="0"/>
              </a:rPr>
              <a:t>Typical values range between </a:t>
            </a:r>
            <a:r>
              <a:rPr lang="en-US" sz="3200" dirty="0">
                <a:solidFill>
                  <a:srgbClr val="C00000"/>
                </a:solidFill>
                <a:latin typeface="+mj-lt"/>
                <a:cs typeface="Arial" pitchFamily="34" charset="0"/>
              </a:rPr>
              <a:t>0.2 to 0.5 </a:t>
            </a:r>
            <a:r>
              <a:rPr lang="en-US" sz="3200" dirty="0">
                <a:latin typeface="+mj-lt"/>
                <a:cs typeface="Arial" pitchFamily="34" charset="0"/>
              </a:rPr>
              <a:t>for balanced responsiveness</a:t>
            </a:r>
          </a:p>
          <a:p>
            <a:pPr marL="971550" lvl="1" indent="-514350">
              <a:buFont typeface="+mj-lt"/>
              <a:buAutoNum type="alphaLcParenR"/>
            </a:pPr>
            <a:r>
              <a:rPr lang="en-US" sz="3200" dirty="0">
                <a:cs typeface="Arial" pitchFamily="34" charset="0"/>
              </a:rPr>
              <a:t>Use historical data to </a:t>
            </a:r>
            <a:r>
              <a:rPr lang="en-US" sz="3200" dirty="0">
                <a:solidFill>
                  <a:srgbClr val="C00000"/>
                </a:solidFill>
                <a:cs typeface="Arial" pitchFamily="34" charset="0"/>
              </a:rPr>
              <a:t>experiment</a:t>
            </a:r>
            <a:r>
              <a:rPr lang="en-US" sz="3200" dirty="0">
                <a:cs typeface="Arial" pitchFamily="34" charset="0"/>
              </a:rPr>
              <a:t> and choose a value </a:t>
            </a:r>
          </a:p>
          <a:p>
            <a:r>
              <a:rPr lang="en-US" sz="3200" dirty="0">
                <a:cs typeface="Arial" pitchFamily="34" charset="0"/>
              </a:rPr>
              <a:t>	that best fits your situation</a:t>
            </a:r>
          </a:p>
          <a:p>
            <a:r>
              <a:rPr lang="en-US" sz="3200" dirty="0">
                <a:cs typeface="Arial" pitchFamily="34" charset="0"/>
              </a:rPr>
              <a:t>     c)  Regularly </a:t>
            </a:r>
            <a:r>
              <a:rPr lang="en-US" sz="3200" dirty="0">
                <a:solidFill>
                  <a:srgbClr val="C00000"/>
                </a:solidFill>
                <a:cs typeface="Arial" pitchFamily="34" charset="0"/>
              </a:rPr>
              <a:t>review</a:t>
            </a:r>
            <a:r>
              <a:rPr lang="en-US" sz="3200" dirty="0">
                <a:cs typeface="Arial" pitchFamily="34" charset="0"/>
              </a:rPr>
              <a:t> and adjust </a:t>
            </a:r>
            <a:r>
              <a:rPr lang="el-GR" sz="3200" dirty="0"/>
              <a:t>λ</a:t>
            </a:r>
            <a:r>
              <a:rPr lang="en-US" sz="3200" dirty="0"/>
              <a:t>, if circumstances or data 	behavior change</a:t>
            </a:r>
            <a:endParaRPr lang="en-US" sz="3200" dirty="0">
              <a:cs typeface="Arial" pitchFamily="34" charset="0"/>
            </a:endParaRPr>
          </a:p>
        </p:txBody>
      </p:sp>
    </p:spTree>
    <p:extLst>
      <p:ext uri="{BB962C8B-B14F-4D97-AF65-F5344CB8AC3E}">
        <p14:creationId xmlns:p14="http://schemas.microsoft.com/office/powerpoint/2010/main" val="3633853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91598"/>
            <a:ext cx="10558668" cy="3477875"/>
          </a:xfrm>
          <a:prstGeom prst="rect">
            <a:avLst/>
          </a:prstGeom>
          <a:noFill/>
        </p:spPr>
        <p:txBody>
          <a:bodyPr wrap="square" rtlCol="0">
            <a:spAutoFit/>
          </a:bodyPr>
          <a:lstStyle/>
          <a:p>
            <a:r>
              <a:rPr lang="en-US" sz="4000" b="1" dirty="0"/>
              <a:t>EWMA Formula</a:t>
            </a:r>
          </a:p>
          <a:p>
            <a:endParaRPr lang="en-US" sz="4000" b="1" dirty="0"/>
          </a:p>
          <a:p>
            <a:endParaRPr lang="en-US" sz="1200" b="1" dirty="0"/>
          </a:p>
          <a:p>
            <a:endParaRPr lang="en-US" sz="3200" b="1" dirty="0"/>
          </a:p>
          <a:p>
            <a:r>
              <a:rPr lang="el-GR" sz="3200" b="1" dirty="0"/>
              <a:t>λ</a:t>
            </a:r>
            <a:r>
              <a:rPr lang="en-US" sz="3200" b="1" dirty="0"/>
              <a:t>: </a:t>
            </a:r>
            <a:r>
              <a:rPr lang="en-US" sz="3200" dirty="0"/>
              <a:t>Smoothing factor</a:t>
            </a:r>
          </a:p>
          <a:p>
            <a:r>
              <a:rPr lang="en-US" sz="3200" b="1" dirty="0"/>
              <a:t>Current Value</a:t>
            </a:r>
            <a:r>
              <a:rPr lang="en-US" sz="3200" dirty="0"/>
              <a:t>: Most recent data</a:t>
            </a:r>
          </a:p>
          <a:p>
            <a:r>
              <a:rPr lang="en-US" sz="3200" b="1" dirty="0"/>
              <a:t>Previous EMWA</a:t>
            </a:r>
            <a:r>
              <a:rPr lang="en-US" sz="3200" dirty="0"/>
              <a:t>: Last Calculated EWMA value</a:t>
            </a:r>
            <a:endParaRPr lang="el-GR" sz="32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092" y="1993470"/>
            <a:ext cx="8957955" cy="516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8845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91598"/>
            <a:ext cx="10558668" cy="3508653"/>
          </a:xfrm>
          <a:prstGeom prst="rect">
            <a:avLst/>
          </a:prstGeom>
          <a:noFill/>
        </p:spPr>
        <p:txBody>
          <a:bodyPr wrap="square" rtlCol="0">
            <a:spAutoFit/>
          </a:bodyPr>
          <a:lstStyle/>
          <a:p>
            <a:r>
              <a:rPr lang="en-US" sz="4000" b="1" dirty="0"/>
              <a:t>Simple Example</a:t>
            </a:r>
          </a:p>
          <a:p>
            <a:r>
              <a:rPr lang="en-US" sz="4000" dirty="0"/>
              <a:t>Imagine tracking website traffic daily:</a:t>
            </a:r>
          </a:p>
          <a:p>
            <a:endParaRPr lang="en-US" sz="1400" b="1" dirty="0"/>
          </a:p>
          <a:p>
            <a:r>
              <a:rPr lang="en-US" sz="3200" dirty="0"/>
              <a:t>Monday: 		100 </a:t>
            </a:r>
          </a:p>
          <a:p>
            <a:r>
              <a:rPr lang="en-US" sz="3200" dirty="0"/>
              <a:t>Tuesday:		120</a:t>
            </a:r>
          </a:p>
          <a:p>
            <a:r>
              <a:rPr lang="en-US" sz="3200" dirty="0"/>
              <a:t>Wednesday:	90</a:t>
            </a:r>
          </a:p>
          <a:p>
            <a:r>
              <a:rPr lang="en-US" sz="3200" dirty="0"/>
              <a:t>Thursday:		130</a:t>
            </a:r>
            <a:r>
              <a:rPr lang="en-US" sz="3200" b="1" dirty="0"/>
              <a:t>		</a:t>
            </a:r>
            <a:endParaRPr lang="en-US" sz="3200" dirty="0"/>
          </a:p>
        </p:txBody>
      </p:sp>
    </p:spTree>
    <p:extLst>
      <p:ext uri="{BB962C8B-B14F-4D97-AF65-F5344CB8AC3E}">
        <p14:creationId xmlns:p14="http://schemas.microsoft.com/office/powerpoint/2010/main" val="795952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714043"/>
            <a:ext cx="10558668" cy="3508653"/>
          </a:xfrm>
          <a:prstGeom prst="rect">
            <a:avLst/>
          </a:prstGeom>
          <a:noFill/>
        </p:spPr>
        <p:txBody>
          <a:bodyPr wrap="square" rtlCol="0">
            <a:spAutoFit/>
          </a:bodyPr>
          <a:lstStyle/>
          <a:p>
            <a:r>
              <a:rPr lang="en-US" sz="4000" b="1" dirty="0"/>
              <a:t>Using </a:t>
            </a:r>
            <a:r>
              <a:rPr lang="el-GR" sz="4000" b="1" dirty="0"/>
              <a:t>λ</a:t>
            </a:r>
            <a:r>
              <a:rPr lang="en-US" sz="4000" b="1" dirty="0"/>
              <a:t> = 0.3 (moderate responsiveness)</a:t>
            </a:r>
          </a:p>
          <a:p>
            <a:r>
              <a:rPr lang="en-US" sz="4000" b="1" dirty="0"/>
              <a:t>[100, 120, 90, 130]</a:t>
            </a:r>
          </a:p>
          <a:p>
            <a:endParaRPr lang="en-US" sz="1400" b="1" dirty="0"/>
          </a:p>
          <a:p>
            <a:r>
              <a:rPr lang="en-US" sz="3200" dirty="0"/>
              <a:t>Monday’s EWMA: 	</a:t>
            </a:r>
            <a:r>
              <a:rPr lang="en-US" sz="3200" dirty="0">
                <a:solidFill>
                  <a:srgbClr val="0070C0"/>
                </a:solidFill>
              </a:rPr>
              <a:t>100</a:t>
            </a:r>
            <a:r>
              <a:rPr lang="en-US" sz="3200" dirty="0"/>
              <a:t> (initial value)</a:t>
            </a:r>
          </a:p>
          <a:p>
            <a:r>
              <a:rPr lang="en-US" sz="3200" dirty="0"/>
              <a:t>Tuesday:			(0.3 * </a:t>
            </a:r>
            <a:r>
              <a:rPr lang="en-US" sz="3200" dirty="0">
                <a:solidFill>
                  <a:srgbClr val="0070C0"/>
                </a:solidFill>
              </a:rPr>
              <a:t>120</a:t>
            </a:r>
            <a:r>
              <a:rPr lang="en-US" sz="3200" dirty="0"/>
              <a:t>) + (0.7 * 100) = </a:t>
            </a:r>
            <a:r>
              <a:rPr lang="en-US" sz="3200" dirty="0">
                <a:solidFill>
                  <a:srgbClr val="FF0000"/>
                </a:solidFill>
              </a:rPr>
              <a:t>106</a:t>
            </a:r>
          </a:p>
          <a:p>
            <a:r>
              <a:rPr lang="en-US" sz="3200" dirty="0"/>
              <a:t>Wednesday:		(0.3 * </a:t>
            </a:r>
            <a:r>
              <a:rPr lang="en-US" sz="3200" dirty="0">
                <a:solidFill>
                  <a:srgbClr val="0070C0"/>
                </a:solidFill>
              </a:rPr>
              <a:t>90</a:t>
            </a:r>
            <a:r>
              <a:rPr lang="en-US" sz="3200" dirty="0"/>
              <a:t>) + (0.7 * </a:t>
            </a:r>
            <a:r>
              <a:rPr lang="en-US" sz="3200" dirty="0">
                <a:solidFill>
                  <a:srgbClr val="FF0000"/>
                </a:solidFill>
              </a:rPr>
              <a:t>106</a:t>
            </a:r>
            <a:r>
              <a:rPr lang="en-US" sz="3200" dirty="0"/>
              <a:t>) = </a:t>
            </a:r>
            <a:r>
              <a:rPr lang="en-US" sz="3200" dirty="0">
                <a:solidFill>
                  <a:srgbClr val="0070C0"/>
                </a:solidFill>
              </a:rPr>
              <a:t>101.2</a:t>
            </a:r>
          </a:p>
          <a:p>
            <a:r>
              <a:rPr lang="en-US" sz="3200" dirty="0"/>
              <a:t>Thursday:		</a:t>
            </a:r>
            <a:r>
              <a:rPr lang="en-US" sz="3200" b="1" dirty="0"/>
              <a:t>	</a:t>
            </a:r>
            <a:r>
              <a:rPr lang="en-US" sz="3200" dirty="0"/>
              <a:t>(0.3 * 130) + (0.7 * </a:t>
            </a:r>
            <a:r>
              <a:rPr lang="en-US" sz="3200" dirty="0">
                <a:solidFill>
                  <a:srgbClr val="0070C0"/>
                </a:solidFill>
              </a:rPr>
              <a:t>101.2</a:t>
            </a:r>
            <a:r>
              <a:rPr lang="en-US" sz="3200" dirty="0"/>
              <a:t>) = </a:t>
            </a:r>
            <a:r>
              <a:rPr lang="en-US" sz="3200" dirty="0">
                <a:highlight>
                  <a:srgbClr val="FFFF00"/>
                </a:highlight>
              </a:rPr>
              <a:t>109.84</a:t>
            </a:r>
            <a:r>
              <a:rPr lang="en-US" sz="3200" b="1" dirty="0"/>
              <a:t>	</a:t>
            </a:r>
            <a:endParaRPr lang="en-US" sz="32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C63A2B5-0747-9B58-BF2C-840CD6FFB6D5}"/>
                  </a:ext>
                </a:extLst>
              </p:cNvPr>
              <p:cNvSpPr txBox="1"/>
              <p:nvPr/>
            </p:nvSpPr>
            <p:spPr>
              <a:xfrm>
                <a:off x="743093" y="4270159"/>
                <a:ext cx="10558668" cy="172354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=0.3</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130</m:t>
                          </m:r>
                        </m:e>
                      </m:d>
                      <m:r>
                        <a:rPr lang="en-US" sz="2000" b="0" i="1" smtClean="0">
                          <a:latin typeface="Cambria Math" panose="02040503050406030204" pitchFamily="18" charset="0"/>
                        </a:rPr>
                        <m:t>+0.21</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90</m:t>
                          </m:r>
                        </m:e>
                      </m:d>
                      <m:r>
                        <a:rPr lang="en-US" sz="2000" b="0" i="1" smtClean="0">
                          <a:latin typeface="Cambria Math" panose="02040503050406030204" pitchFamily="18" charset="0"/>
                        </a:rPr>
                        <m:t>+0.147</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120</m:t>
                          </m:r>
                        </m:e>
                      </m:d>
                      <m:r>
                        <a:rPr lang="en-US" sz="2000" b="0" i="1" smtClean="0">
                          <a:latin typeface="Cambria Math" panose="02040503050406030204" pitchFamily="18" charset="0"/>
                        </a:rPr>
                        <m:t>+0.343</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100</m:t>
                          </m:r>
                        </m:e>
                      </m:d>
                      <m:r>
                        <a:rPr lang="en-US" sz="2000" b="0" i="1" smtClean="0">
                          <a:latin typeface="Cambria Math" panose="02040503050406030204" pitchFamily="18" charset="0"/>
                        </a:rPr>
                        <m:t>=</m:t>
                      </m:r>
                      <m:r>
                        <a:rPr lang="en-US" sz="2000" b="0" i="1" smtClean="0">
                          <a:highlight>
                            <a:srgbClr val="FFFF00"/>
                          </a:highlight>
                          <a:latin typeface="Cambria Math" panose="02040503050406030204" pitchFamily="18" charset="0"/>
                        </a:rPr>
                        <m:t>109.84</m:t>
                      </m:r>
                    </m:oMath>
                  </m:oMathPara>
                </a14:m>
                <a:endParaRPr lang="en-US" sz="2000" dirty="0">
                  <a:highlight>
                    <a:srgbClr val="FFFF00"/>
                  </a:highlight>
                </a:endParaRPr>
              </a:p>
              <a:p>
                <a:endParaRPr lang="en-US" sz="1400" b="1" dirty="0"/>
              </a:p>
              <a:p>
                <a:r>
                  <a:rPr lang="en-US" i="1" dirty="0">
                    <a:latin typeface="Cambria Math" panose="02040503050406030204" pitchFamily="18" charset="0"/>
                  </a:rPr>
                  <a:t>Current: 0.3</a:t>
                </a: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rPr>
                        <m:t>𝑠𝑡𝑒𝑝</m:t>
                      </m:r>
                      <m:r>
                        <a:rPr lang="en-US" b="0" i="1" smtClean="0">
                          <a:latin typeface="Cambria Math" panose="02040503050406030204" pitchFamily="18" charset="0"/>
                        </a:rPr>
                        <m:t> </m:t>
                      </m:r>
                      <m:r>
                        <a:rPr lang="en-US" b="0" i="1" smtClean="0">
                          <a:latin typeface="Cambria Math" panose="02040503050406030204" pitchFamily="18" charset="0"/>
                        </a:rPr>
                        <m:t>𝑜𝑙𝑑</m:t>
                      </m:r>
                      <m:r>
                        <a:rPr lang="en-US" b="0" i="1" smtClean="0">
                          <a:latin typeface="Cambria Math" panose="02040503050406030204" pitchFamily="18" charset="0"/>
                        </a:rPr>
                        <m:t>=0.3</m:t>
                      </m:r>
                      <m:d>
                        <m:dPr>
                          <m:ctrlPr>
                            <a:rPr lang="en-US" i="1" smtClean="0">
                              <a:latin typeface="Cambria Math" panose="02040503050406030204" pitchFamily="18" charset="0"/>
                            </a:rPr>
                          </m:ctrlPr>
                        </m:dPr>
                        <m:e>
                          <m:r>
                            <a:rPr lang="en-US" b="0" i="1" smtClean="0">
                              <a:latin typeface="Cambria Math" panose="02040503050406030204" pitchFamily="18" charset="0"/>
                            </a:rPr>
                            <m:t>0.7</m:t>
                          </m:r>
                        </m:e>
                      </m:d>
                      <m:r>
                        <a:rPr lang="en-US" b="0" i="1" smtClean="0">
                          <a:latin typeface="Cambria Math" panose="02040503050406030204" pitchFamily="18" charset="0"/>
                        </a:rPr>
                        <m:t>=0.21, </m:t>
                      </m:r>
                    </m:oMath>
                  </m:oMathPara>
                </a14:m>
                <a:endParaRPr lang="en-US"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2 </m:t>
                      </m:r>
                      <m:r>
                        <a:rPr lang="en-US" b="0" i="1" smtClean="0">
                          <a:latin typeface="Cambria Math" panose="02040503050406030204" pitchFamily="18" charset="0"/>
                        </a:rPr>
                        <m:t>𝑠𝑡𝑒𝑝</m:t>
                      </m:r>
                      <m:r>
                        <a:rPr lang="en-US" b="0" i="1" smtClean="0">
                          <a:latin typeface="Cambria Math" panose="02040503050406030204" pitchFamily="18" charset="0"/>
                        </a:rPr>
                        <m:t> </m:t>
                      </m:r>
                      <m:r>
                        <a:rPr lang="en-US" b="0" i="1" smtClean="0">
                          <a:latin typeface="Cambria Math" panose="02040503050406030204" pitchFamily="18" charset="0"/>
                        </a:rPr>
                        <m:t>𝑜𝑙𝑑</m:t>
                      </m:r>
                      <m:r>
                        <a:rPr lang="en-US" b="0" i="1" smtClean="0">
                          <a:latin typeface="Cambria Math" panose="02040503050406030204" pitchFamily="18" charset="0"/>
                        </a:rPr>
                        <m:t>=0.3</m:t>
                      </m:r>
                      <m:sSup>
                        <m:sSupPr>
                          <m:ctrlPr>
                            <a:rPr lang="en-US" i="1" smtClean="0">
                              <a:latin typeface="Cambria Math" panose="02040503050406030204" pitchFamily="18" charset="0"/>
                            </a:rPr>
                          </m:ctrlPr>
                        </m:sSupPr>
                        <m:e>
                          <m:r>
                            <a:rPr lang="en-US" b="0" i="1" smtClean="0">
                              <a:latin typeface="Cambria Math" panose="02040503050406030204" pitchFamily="18" charset="0"/>
                            </a:rPr>
                            <m:t>(0.7)</m:t>
                          </m:r>
                        </m:e>
                        <m:sup>
                          <m:r>
                            <a:rPr lang="en-US" b="0" i="1" smtClean="0">
                              <a:latin typeface="Cambria Math" panose="02040503050406030204" pitchFamily="18" charset="0"/>
                            </a:rPr>
                            <m:t>2</m:t>
                          </m:r>
                        </m:sup>
                      </m:sSup>
                      <m:r>
                        <a:rPr lang="en-US" b="0" i="1" smtClean="0">
                          <a:latin typeface="Cambria Math" panose="02040503050406030204" pitchFamily="18" charset="0"/>
                        </a:rPr>
                        <m:t>=0.147</m:t>
                      </m:r>
                    </m:oMath>
                  </m:oMathPara>
                </a14:m>
                <a:endParaRPr lang="en-US" dirty="0"/>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3 </m:t>
                      </m:r>
                      <m:r>
                        <a:rPr lang="en-US" b="0" i="1" smtClean="0">
                          <a:latin typeface="Cambria Math" panose="02040503050406030204" pitchFamily="18" charset="0"/>
                        </a:rPr>
                        <m:t>𝑠𝑡𝑒𝑝</m:t>
                      </m:r>
                      <m:r>
                        <a:rPr lang="en-US" b="0" i="1" smtClean="0">
                          <a:latin typeface="Cambria Math" panose="02040503050406030204" pitchFamily="18" charset="0"/>
                        </a:rPr>
                        <m:t> </m:t>
                      </m:r>
                      <m:r>
                        <a:rPr lang="en-US" b="0" i="1" smtClean="0">
                          <a:latin typeface="Cambria Math" panose="02040503050406030204" pitchFamily="18" charset="0"/>
                        </a:rPr>
                        <m:t>𝑜𝑙𝑑</m:t>
                      </m:r>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0.7</m:t>
                          </m:r>
                        </m:e>
                        <m:sup>
                          <m:r>
                            <a:rPr lang="en-US" b="0" i="1" smtClean="0">
                              <a:latin typeface="Cambria Math" panose="02040503050406030204" pitchFamily="18" charset="0"/>
                            </a:rPr>
                            <m:t>3</m:t>
                          </m:r>
                        </m:sup>
                      </m:sSup>
                      <m:r>
                        <a:rPr lang="en-US" b="0" i="1" smtClean="0">
                          <a:latin typeface="Cambria Math" panose="02040503050406030204" pitchFamily="18" charset="0"/>
                        </a:rPr>
                        <m:t>=0.343</m:t>
                      </m:r>
                      <m:r>
                        <a:rPr lang="en-US" b="0" i="0" smtClean="0">
                          <a:latin typeface="Cambria Math" panose="02040503050406030204" pitchFamily="18" charset="0"/>
                        </a:rPr>
                        <m:t>, </m:t>
                      </m:r>
                      <m:d>
                        <m:dPr>
                          <m:ctrlPr>
                            <a:rPr lang="en-US" i="1" smtClean="0">
                              <a:latin typeface="Cambria Math" panose="02040503050406030204" pitchFamily="18" charset="0"/>
                            </a:rPr>
                          </m:ctrlPr>
                        </m:dPr>
                        <m:e>
                          <m:r>
                            <a:rPr lang="en-US" b="0" i="0" smtClean="0">
                              <a:latin typeface="Cambria Math" panose="02040503050406030204" pitchFamily="18" charset="0"/>
                            </a:rPr>
                            <m:t>0.3 ∗</m:t>
                          </m:r>
                          <m:sSup>
                            <m:sSupPr>
                              <m:ctrlPr>
                                <a:rPr lang="en-US" i="1" smtClean="0">
                                  <a:latin typeface="Cambria Math" panose="02040503050406030204" pitchFamily="18" charset="0"/>
                                </a:rPr>
                              </m:ctrlPr>
                            </m:sSupPr>
                            <m:e>
                              <m:r>
                                <a:rPr lang="en-US" b="0" i="1" smtClean="0">
                                  <a:latin typeface="Cambria Math" panose="02040503050406030204" pitchFamily="18" charset="0"/>
                                </a:rPr>
                                <m:t>0.7</m:t>
                              </m:r>
                            </m:e>
                            <m:sup>
                              <m:r>
                                <a:rPr lang="en-US" b="0" i="1" smtClean="0">
                                  <a:latin typeface="Cambria Math" panose="02040503050406030204" pitchFamily="18" charset="0"/>
                                </a:rPr>
                                <m:t>3</m:t>
                              </m:r>
                            </m:sup>
                          </m:sSup>
                        </m:e>
                      </m:d>
                      <m:r>
                        <a:rPr lang="en-US" b="0" i="1" smtClean="0">
                          <a:latin typeface="Cambria Math" panose="02040503050406030204" pitchFamily="18" charset="0"/>
                        </a:rPr>
                        <m:t>=0.1029</m:t>
                      </m:r>
                    </m:oMath>
                  </m:oMathPara>
                </a14:m>
                <a:endParaRPr lang="en-US" dirty="0"/>
              </a:p>
            </p:txBody>
          </p:sp>
        </mc:Choice>
        <mc:Fallback xmlns="">
          <p:sp>
            <p:nvSpPr>
              <p:cNvPr id="2" name="TextBox 1">
                <a:extLst>
                  <a:ext uri="{FF2B5EF4-FFF2-40B4-BE49-F238E27FC236}">
                    <a16:creationId xmlns:a16="http://schemas.microsoft.com/office/drawing/2014/main" id="{FC63A2B5-0747-9B58-BF2C-840CD6FFB6D5}"/>
                  </a:ext>
                </a:extLst>
              </p:cNvPr>
              <p:cNvSpPr txBox="1">
                <a:spLocks noRot="1" noChangeAspect="1" noMove="1" noResize="1" noEditPoints="1" noAdjustHandles="1" noChangeArrowheads="1" noChangeShapeType="1" noTextEdit="1"/>
              </p:cNvSpPr>
              <p:nvPr/>
            </p:nvSpPr>
            <p:spPr>
              <a:xfrm>
                <a:off x="743093" y="4270159"/>
                <a:ext cx="10558668" cy="1723549"/>
              </a:xfrm>
              <a:prstGeom prst="rect">
                <a:avLst/>
              </a:prstGeom>
              <a:blipFill>
                <a:blip r:embed="rId2"/>
                <a:stretch>
                  <a:fillRect l="-520" b="-1413"/>
                </a:stretch>
              </a:blipFill>
            </p:spPr>
            <p:txBody>
              <a:bodyPr/>
              <a:lstStyle/>
              <a:p>
                <a:r>
                  <a:rPr lang="en-PH">
                    <a:noFill/>
                  </a:rPr>
                  <a:t> </a:t>
                </a:r>
              </a:p>
            </p:txBody>
          </p:sp>
        </mc:Fallback>
      </mc:AlternateContent>
    </p:spTree>
    <p:extLst>
      <p:ext uri="{BB962C8B-B14F-4D97-AF65-F5344CB8AC3E}">
        <p14:creationId xmlns:p14="http://schemas.microsoft.com/office/powerpoint/2010/main" val="777700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43093" y="891598"/>
            <a:ext cx="10558668" cy="4001095"/>
          </a:xfrm>
          <a:prstGeom prst="rect">
            <a:avLst/>
          </a:prstGeom>
          <a:noFill/>
        </p:spPr>
        <p:txBody>
          <a:bodyPr wrap="square" rtlCol="0">
            <a:spAutoFit/>
          </a:bodyPr>
          <a:lstStyle/>
          <a:p>
            <a:r>
              <a:rPr lang="en-US" sz="4000" b="1" dirty="0"/>
              <a:t>Using </a:t>
            </a:r>
            <a:r>
              <a:rPr lang="el-GR" sz="4000" b="1" dirty="0"/>
              <a:t>λ</a:t>
            </a:r>
            <a:r>
              <a:rPr lang="en-US" sz="4000" b="1" dirty="0"/>
              <a:t> = 0.4 (moderate responsiveness)</a:t>
            </a:r>
          </a:p>
          <a:p>
            <a:endParaRPr lang="en-US" sz="1400" b="1" dirty="0"/>
          </a:p>
          <a:p>
            <a:r>
              <a:rPr lang="en-US" sz="4000" b="1" dirty="0"/>
              <a:t>[100, 120, 90, 130]</a:t>
            </a:r>
          </a:p>
          <a:p>
            <a:endParaRPr lang="en-US" sz="3200" dirty="0"/>
          </a:p>
          <a:p>
            <a:r>
              <a:rPr lang="en-US" sz="3200" dirty="0"/>
              <a:t>Monday’s EWMA: 	</a:t>
            </a:r>
            <a:r>
              <a:rPr lang="en-US" sz="3200" dirty="0">
                <a:solidFill>
                  <a:srgbClr val="0070C0"/>
                </a:solidFill>
              </a:rPr>
              <a:t>100</a:t>
            </a:r>
            <a:r>
              <a:rPr lang="en-US" sz="3200" dirty="0"/>
              <a:t> (initial value)</a:t>
            </a:r>
          </a:p>
          <a:p>
            <a:r>
              <a:rPr lang="en-US" sz="3200" dirty="0"/>
              <a:t>Tuesday:			(0.4 * </a:t>
            </a:r>
            <a:r>
              <a:rPr lang="en-US" sz="3200" dirty="0">
                <a:solidFill>
                  <a:srgbClr val="0070C0"/>
                </a:solidFill>
              </a:rPr>
              <a:t>120</a:t>
            </a:r>
            <a:r>
              <a:rPr lang="en-US" sz="3200" dirty="0"/>
              <a:t>) + (0.6 * 100) = </a:t>
            </a:r>
            <a:r>
              <a:rPr lang="en-US" sz="3200" dirty="0">
                <a:solidFill>
                  <a:srgbClr val="FF0000"/>
                </a:solidFill>
              </a:rPr>
              <a:t>108</a:t>
            </a:r>
          </a:p>
          <a:p>
            <a:r>
              <a:rPr lang="en-US" sz="3200" dirty="0"/>
              <a:t>Wednesday:		(0.4 * </a:t>
            </a:r>
            <a:r>
              <a:rPr lang="en-US" sz="3200" dirty="0">
                <a:solidFill>
                  <a:srgbClr val="0070C0"/>
                </a:solidFill>
              </a:rPr>
              <a:t>90</a:t>
            </a:r>
            <a:r>
              <a:rPr lang="en-US" sz="3200" dirty="0"/>
              <a:t>) + (0.6 * </a:t>
            </a:r>
            <a:r>
              <a:rPr lang="en-US" sz="3200" dirty="0">
                <a:solidFill>
                  <a:srgbClr val="FF0000"/>
                </a:solidFill>
              </a:rPr>
              <a:t>108</a:t>
            </a:r>
            <a:r>
              <a:rPr lang="en-US" sz="3200" dirty="0"/>
              <a:t>) = </a:t>
            </a:r>
            <a:r>
              <a:rPr lang="en-US" sz="3200" dirty="0">
                <a:solidFill>
                  <a:srgbClr val="0070C0"/>
                </a:solidFill>
              </a:rPr>
              <a:t>100.8</a:t>
            </a:r>
          </a:p>
          <a:p>
            <a:r>
              <a:rPr lang="en-US" sz="3200" dirty="0"/>
              <a:t>Thursday:		</a:t>
            </a:r>
            <a:r>
              <a:rPr lang="en-US" sz="3200" b="1" dirty="0"/>
              <a:t>	</a:t>
            </a:r>
            <a:r>
              <a:rPr lang="en-US" sz="3200" dirty="0"/>
              <a:t>(0.4 * </a:t>
            </a:r>
            <a:r>
              <a:rPr lang="en-US" sz="3200" dirty="0">
                <a:solidFill>
                  <a:srgbClr val="0070C0"/>
                </a:solidFill>
              </a:rPr>
              <a:t>130</a:t>
            </a:r>
            <a:r>
              <a:rPr lang="en-US" sz="3200" dirty="0"/>
              <a:t>) + (0.6 * </a:t>
            </a:r>
            <a:r>
              <a:rPr lang="en-US" sz="3200" dirty="0">
                <a:solidFill>
                  <a:srgbClr val="0070C0"/>
                </a:solidFill>
              </a:rPr>
              <a:t>100.8</a:t>
            </a:r>
            <a:r>
              <a:rPr lang="en-US" sz="3200" dirty="0"/>
              <a:t>) = 112.48</a:t>
            </a:r>
            <a:r>
              <a:rPr lang="en-US" sz="3200" b="1" dirty="0"/>
              <a:t>	</a:t>
            </a:r>
            <a:endParaRPr lang="en-US" sz="3200" dirty="0"/>
          </a:p>
        </p:txBody>
      </p:sp>
    </p:spTree>
    <p:extLst>
      <p:ext uri="{BB962C8B-B14F-4D97-AF65-F5344CB8AC3E}">
        <p14:creationId xmlns:p14="http://schemas.microsoft.com/office/powerpoint/2010/main" val="864732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1364" y="2562078"/>
            <a:ext cx="10749281" cy="769441"/>
          </a:xfrm>
          <a:prstGeom prst="rect">
            <a:avLst/>
          </a:prstGeom>
          <a:noFill/>
        </p:spPr>
        <p:txBody>
          <a:bodyPr wrap="square" rtlCol="0">
            <a:spAutoFit/>
          </a:bodyPr>
          <a:lstStyle/>
          <a:p>
            <a:pPr algn="ctr"/>
            <a:r>
              <a:rPr lang="en-US" sz="4400" b="1" dirty="0">
                <a:latin typeface="Arial" pitchFamily="34" charset="0"/>
                <a:cs typeface="Arial" pitchFamily="34" charset="0"/>
              </a:rPr>
              <a:t>[Code Demo]</a:t>
            </a:r>
            <a:endParaRPr lang="en-US" sz="2800" b="1" dirty="0">
              <a:solidFill>
                <a:schemeClr val="accent2"/>
              </a:solidFill>
              <a:latin typeface="Arial" pitchFamily="34" charset="0"/>
              <a:cs typeface="Arial" pitchFamily="34" charset="0"/>
            </a:endParaRPr>
          </a:p>
        </p:txBody>
      </p:sp>
    </p:spTree>
    <p:extLst>
      <p:ext uri="{BB962C8B-B14F-4D97-AF65-F5344CB8AC3E}">
        <p14:creationId xmlns:p14="http://schemas.microsoft.com/office/powerpoint/2010/main" val="1237728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FA58A-F216-D3EF-1E0C-3450732A47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849AEC-854C-BBBB-0C4B-5B53B216E0D0}"/>
              </a:ext>
            </a:extLst>
          </p:cNvPr>
          <p:cNvSpPr txBox="1"/>
          <p:nvPr/>
        </p:nvSpPr>
        <p:spPr>
          <a:xfrm>
            <a:off x="909655" y="885546"/>
            <a:ext cx="10282560" cy="1077218"/>
          </a:xfrm>
          <a:prstGeom prst="rect">
            <a:avLst/>
          </a:prstGeom>
          <a:noFill/>
        </p:spPr>
        <p:txBody>
          <a:bodyPr wrap="square" rtlCol="0">
            <a:spAutoFit/>
          </a:bodyPr>
          <a:lstStyle/>
          <a:p>
            <a:r>
              <a:rPr lang="en-US" sz="3200" b="1" dirty="0"/>
              <a:t>01. What is the main advantage of using EWMA over a simple moving average (SMA) or rolling average?</a:t>
            </a:r>
            <a:endParaRPr lang="en-PH" sz="3200" dirty="0"/>
          </a:p>
        </p:txBody>
      </p:sp>
      <p:graphicFrame>
        <p:nvGraphicFramePr>
          <p:cNvPr id="4" name="Table 3">
            <a:extLst>
              <a:ext uri="{FF2B5EF4-FFF2-40B4-BE49-F238E27FC236}">
                <a16:creationId xmlns:a16="http://schemas.microsoft.com/office/drawing/2014/main" id="{27CC8540-1453-0C17-3D4F-3566E3483778}"/>
              </a:ext>
            </a:extLst>
          </p:cNvPr>
          <p:cNvGraphicFramePr>
            <a:graphicFrameLocks noGrp="1"/>
          </p:cNvGraphicFramePr>
          <p:nvPr>
            <p:extLst>
              <p:ext uri="{D42A27DB-BD31-4B8C-83A1-F6EECF244321}">
                <p14:modId xmlns:p14="http://schemas.microsoft.com/office/powerpoint/2010/main" val="2116000879"/>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EWMA gives more weight to older data</a:t>
                      </a:r>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EWMA gives more weight to recent data</a:t>
                      </a:r>
                    </a:p>
                  </a:txBody>
                  <a:tcPr/>
                </a:tc>
                <a:extLst>
                  <a:ext uri="{0D108BD9-81ED-4DB2-BD59-A6C34878D82A}">
                    <a16:rowId xmlns:a16="http://schemas.microsoft.com/office/drawing/2014/main" val="2340900590"/>
                  </a:ext>
                </a:extLst>
              </a:tr>
              <a:tr h="508725">
                <a:tc>
                  <a:txBody>
                    <a:bodyPr/>
                    <a:lstStyle/>
                    <a:p>
                      <a:r>
                        <a:rPr lang="en-US" sz="2800" b="1" dirty="0"/>
                        <a:t>C</a:t>
                      </a:r>
                      <a:r>
                        <a:rPr lang="en-US" sz="2800" dirty="0"/>
                        <a:t>. EWMA and SMA gives equal weights</a:t>
                      </a:r>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Both EWMA and SMA are equally effective</a:t>
                      </a:r>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p:spTree>
    <p:extLst>
      <p:ext uri="{BB962C8B-B14F-4D97-AF65-F5344CB8AC3E}">
        <p14:creationId xmlns:p14="http://schemas.microsoft.com/office/powerpoint/2010/main" val="2076169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4ED3F-5A94-6E66-82C9-403618BA67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789895-D874-5A17-E8E6-DD22FBC21821}"/>
              </a:ext>
            </a:extLst>
          </p:cNvPr>
          <p:cNvSpPr txBox="1"/>
          <p:nvPr/>
        </p:nvSpPr>
        <p:spPr>
          <a:xfrm>
            <a:off x="909655" y="885546"/>
            <a:ext cx="10282560" cy="1077218"/>
          </a:xfrm>
          <a:prstGeom prst="rect">
            <a:avLst/>
          </a:prstGeom>
          <a:noFill/>
        </p:spPr>
        <p:txBody>
          <a:bodyPr wrap="square" rtlCol="0">
            <a:spAutoFit/>
          </a:bodyPr>
          <a:lstStyle/>
          <a:p>
            <a:r>
              <a:rPr lang="en-US" sz="3200" b="1" dirty="0"/>
              <a:t>01. What is the main advantage of using EWMA over a simple moving average (SMA) or rolling average?</a:t>
            </a:r>
            <a:endParaRPr lang="en-PH" sz="3200" dirty="0"/>
          </a:p>
        </p:txBody>
      </p:sp>
      <p:graphicFrame>
        <p:nvGraphicFramePr>
          <p:cNvPr id="4" name="Table 3">
            <a:extLst>
              <a:ext uri="{FF2B5EF4-FFF2-40B4-BE49-F238E27FC236}">
                <a16:creationId xmlns:a16="http://schemas.microsoft.com/office/drawing/2014/main" id="{A7F4F7E9-AC4C-4E50-3318-236D36644DA2}"/>
              </a:ext>
            </a:extLst>
          </p:cNvPr>
          <p:cNvGraphicFramePr>
            <a:graphicFrameLocks noGrp="1"/>
          </p:cNvGraphicFramePr>
          <p:nvPr>
            <p:extLst>
              <p:ext uri="{D42A27DB-BD31-4B8C-83A1-F6EECF244321}">
                <p14:modId xmlns:p14="http://schemas.microsoft.com/office/powerpoint/2010/main" val="1099450706"/>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EWMA gives more weight to older data</a:t>
                      </a:r>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EWMA gives more weight to recent data</a:t>
                      </a:r>
                    </a:p>
                  </a:txBody>
                  <a:tcPr>
                    <a:solidFill>
                      <a:srgbClr val="FFFF00"/>
                    </a:solidFill>
                  </a:tcPr>
                </a:tc>
                <a:extLst>
                  <a:ext uri="{0D108BD9-81ED-4DB2-BD59-A6C34878D82A}">
                    <a16:rowId xmlns:a16="http://schemas.microsoft.com/office/drawing/2014/main" val="2340900590"/>
                  </a:ext>
                </a:extLst>
              </a:tr>
              <a:tr h="508725">
                <a:tc>
                  <a:txBody>
                    <a:bodyPr/>
                    <a:lstStyle/>
                    <a:p>
                      <a:r>
                        <a:rPr lang="en-US" sz="2800" b="1" dirty="0"/>
                        <a:t>C</a:t>
                      </a:r>
                      <a:r>
                        <a:rPr lang="en-US" sz="2800" dirty="0"/>
                        <a:t>. EWMA and SMA gives equal weights</a:t>
                      </a:r>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Both EWMA and SMA are equally effective</a:t>
                      </a:r>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p:spTree>
    <p:extLst>
      <p:ext uri="{BB962C8B-B14F-4D97-AF65-F5344CB8AC3E}">
        <p14:creationId xmlns:p14="http://schemas.microsoft.com/office/powerpoint/2010/main" val="174434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61A65-69EE-3EC3-1617-DBA7BCC31CC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1E61A201-CD4A-A0B6-AD70-E5DC7E6DEC68}"/>
                  </a:ext>
                </a:extLst>
              </p:cNvPr>
              <p:cNvSpPr txBox="1"/>
              <p:nvPr/>
            </p:nvSpPr>
            <p:spPr>
              <a:xfrm>
                <a:off x="932463" y="885546"/>
                <a:ext cx="10282560" cy="1077218"/>
              </a:xfrm>
              <a:prstGeom prst="rect">
                <a:avLst/>
              </a:prstGeom>
              <a:noFill/>
            </p:spPr>
            <p:txBody>
              <a:bodyPr wrap="square" rtlCol="0">
                <a:spAutoFit/>
              </a:bodyPr>
              <a:lstStyle/>
              <a:p>
                <a:r>
                  <a:rPr lang="en-US" sz="3200" b="1" dirty="0"/>
                  <a:t>02. </a:t>
                </a:r>
                <a:r>
                  <a:rPr lang="en-US" sz="3200" dirty="0"/>
                  <a:t>In an EWMA with </a:t>
                </a:r>
                <a14:m>
                  <m:oMath xmlns:m="http://schemas.openxmlformats.org/officeDocument/2006/math">
                    <m:r>
                      <a:rPr lang="en-US" sz="3200" b="0" i="1" smtClean="0">
                        <a:latin typeface="Cambria Math" panose="02040503050406030204" pitchFamily="18" charset="0"/>
                        <a:ea typeface="Cambria Math" panose="02040503050406030204" pitchFamily="18" charset="0"/>
                      </a:rPr>
                      <m:t>𝜆</m:t>
                    </m:r>
                    <m:r>
                      <a:rPr lang="en-US" sz="3200" b="0" i="1" smtClean="0">
                        <a:latin typeface="Cambria Math" panose="02040503050406030204" pitchFamily="18" charset="0"/>
                        <a:ea typeface="Cambria Math" panose="02040503050406030204" pitchFamily="18" charset="0"/>
                      </a:rPr>
                      <m:t>=0.2 </m:t>
                    </m:r>
                  </m:oMath>
                </a14:m>
                <a:r>
                  <a:rPr lang="en-PH" sz="3200" dirty="0"/>
                  <a:t>, what is the weight of </a:t>
                </a:r>
                <a14:m>
                  <m:oMath xmlns:m="http://schemas.openxmlformats.org/officeDocument/2006/math">
                    <m:sSub>
                      <m:sSubPr>
                        <m:ctrlPr>
                          <a:rPr lang="en-PH" sz="320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𝑡</m:t>
                        </m:r>
                        <m:r>
                          <a:rPr lang="en-US" sz="3200" b="0" i="1" smtClean="0">
                            <a:latin typeface="Cambria Math" panose="02040503050406030204" pitchFamily="18" charset="0"/>
                          </a:rPr>
                          <m:t>−2 </m:t>
                        </m:r>
                      </m:sub>
                    </m:sSub>
                  </m:oMath>
                </a14:m>
                <a:r>
                  <a:rPr lang="en-PH" sz="3200" dirty="0"/>
                  <a:t>in </a:t>
                </a:r>
                <a14:m>
                  <m:oMath xmlns:m="http://schemas.openxmlformats.org/officeDocument/2006/math">
                    <m:sSub>
                      <m:sSubPr>
                        <m:ctrlPr>
                          <a:rPr lang="en-PH" sz="320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𝑡</m:t>
                        </m:r>
                      </m:sub>
                    </m:sSub>
                  </m:oMath>
                </a14:m>
                <a:r>
                  <a:rPr lang="en-PH" sz="3200" dirty="0"/>
                  <a:t> (assuming the usual infinite history expansion)?</a:t>
                </a:r>
              </a:p>
            </p:txBody>
          </p:sp>
        </mc:Choice>
        <mc:Fallback>
          <p:sp>
            <p:nvSpPr>
              <p:cNvPr id="2" name="TextBox 1">
                <a:extLst>
                  <a:ext uri="{FF2B5EF4-FFF2-40B4-BE49-F238E27FC236}">
                    <a16:creationId xmlns:a16="http://schemas.microsoft.com/office/drawing/2014/main" id="{1E61A201-CD4A-A0B6-AD70-E5DC7E6DEC68}"/>
                  </a:ext>
                </a:extLst>
              </p:cNvPr>
              <p:cNvSpPr txBox="1">
                <a:spLocks noRot="1" noChangeAspect="1" noMove="1" noResize="1" noEditPoints="1" noAdjustHandles="1" noChangeArrowheads="1" noChangeShapeType="1" noTextEdit="1"/>
              </p:cNvSpPr>
              <p:nvPr/>
            </p:nvSpPr>
            <p:spPr>
              <a:xfrm>
                <a:off x="932463" y="885546"/>
                <a:ext cx="10282560" cy="1077218"/>
              </a:xfrm>
              <a:prstGeom prst="rect">
                <a:avLst/>
              </a:prstGeom>
              <a:blipFill>
                <a:blip r:embed="rId3"/>
                <a:stretch>
                  <a:fillRect l="-1541" t="-6780" b="-18079"/>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60DC9AC6-A997-021A-3A9E-B54483BE4142}"/>
                  </a:ext>
                </a:extLst>
              </p:cNvPr>
              <p:cNvGraphicFramePr>
                <a:graphicFrameLocks noGrp="1"/>
              </p:cNvGraphicFramePr>
              <p:nvPr>
                <p:extLst>
                  <p:ext uri="{D42A27DB-BD31-4B8C-83A1-F6EECF244321}">
                    <p14:modId xmlns:p14="http://schemas.microsoft.com/office/powerpoint/2010/main" val="149112373"/>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0.2</m:t>
                                  </m:r>
                                </m:e>
                                <m:sup>
                                  <m:r>
                                    <a:rPr lang="en-US" sz="2800" b="0" i="1" smtClean="0">
                                      <a:latin typeface="Cambria Math" panose="02040503050406030204" pitchFamily="18" charset="0"/>
                                    </a:rPr>
                                    <m:t>2</m:t>
                                  </m:r>
                                </m:sup>
                              </m:sSup>
                            </m:oMath>
                          </a14:m>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0.2</m:t>
                                  </m:r>
                                  <m:r>
                                    <a:rPr lang="en-US" sz="2800" b="0" i="1" smtClean="0">
                                      <a:latin typeface="Cambria Math" panose="02040503050406030204" pitchFamily="18" charset="0"/>
                                    </a:rPr>
                                    <m:t>(0.8)</m:t>
                                  </m:r>
                                </m:e>
                                <m:sup>
                                  <m:r>
                                    <a:rPr lang="en-US" sz="2800" b="0" i="1" smtClean="0">
                                      <a:latin typeface="Cambria Math" panose="02040503050406030204" pitchFamily="18" charset="0"/>
                                    </a:rPr>
                                    <m:t>2</m:t>
                                  </m:r>
                                </m:sup>
                              </m:sSup>
                            </m:oMath>
                          </a14:m>
                          <a:endParaRPr lang="en-US" sz="2800" dirty="0"/>
                        </a:p>
                      </a:txBody>
                      <a:tcPr/>
                    </a:tc>
                    <a:extLst>
                      <a:ext uri="{0D108BD9-81ED-4DB2-BD59-A6C34878D82A}">
                        <a16:rowId xmlns:a16="http://schemas.microsoft.com/office/drawing/2014/main" val="2340900590"/>
                      </a:ext>
                    </a:extLst>
                  </a:tr>
                  <a:tr h="508725">
                    <a:tc>
                      <a:txBody>
                        <a:bodyPr/>
                        <a:lstStyle/>
                        <a:p>
                          <a:r>
                            <a:rPr lang="en-US" sz="2800" b="1" dirty="0"/>
                            <a:t>C</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m:t>
                                  </m:r>
                                  <m:r>
                                    <a:rPr lang="en-US" sz="2800" b="0" i="1" smtClean="0">
                                      <a:latin typeface="Cambria Math" panose="02040503050406030204" pitchFamily="18" charset="0"/>
                                    </a:rPr>
                                    <m:t>0.</m:t>
                                  </m:r>
                                  <m:r>
                                    <a:rPr lang="en-US" sz="2800" b="0" i="1" smtClean="0">
                                      <a:latin typeface="Cambria Math" panose="02040503050406030204" pitchFamily="18" charset="0"/>
                                    </a:rPr>
                                    <m:t>8)</m:t>
                                  </m:r>
                                </m:e>
                                <m:sup>
                                  <m:r>
                                    <a:rPr lang="en-US" sz="2800" b="0" i="1" smtClean="0">
                                      <a:latin typeface="Cambria Math" panose="02040503050406030204" pitchFamily="18" charset="0"/>
                                    </a:rPr>
                                    <m:t>2</m:t>
                                  </m:r>
                                </m:sup>
                              </m:sSup>
                            </m:oMath>
                          </a14:m>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(0.8)</m:t>
                                  </m:r>
                                  <m:r>
                                    <a:rPr lang="en-US" sz="2800" b="0" i="1" smtClean="0">
                                      <a:latin typeface="Cambria Math" panose="02040503050406030204" pitchFamily="18" charset="0"/>
                                    </a:rPr>
                                    <m:t>(0.2)</m:t>
                                  </m:r>
                                </m:e>
                                <m:sup>
                                  <m:r>
                                    <a:rPr lang="en-US" sz="2800" b="0" i="1" smtClean="0">
                                      <a:latin typeface="Cambria Math" panose="02040503050406030204" pitchFamily="18" charset="0"/>
                                    </a:rPr>
                                    <m:t>2</m:t>
                                  </m:r>
                                </m:sup>
                              </m:sSup>
                            </m:oMath>
                          </a14:m>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mc:Choice>
        <mc:Fallback>
          <p:graphicFrame>
            <p:nvGraphicFramePr>
              <p:cNvPr id="4" name="Table 3">
                <a:extLst>
                  <a:ext uri="{FF2B5EF4-FFF2-40B4-BE49-F238E27FC236}">
                    <a16:creationId xmlns:a16="http://schemas.microsoft.com/office/drawing/2014/main" id="{60DC9AC6-A997-021A-3A9E-B54483BE4142}"/>
                  </a:ext>
                </a:extLst>
              </p:cNvPr>
              <p:cNvGraphicFramePr>
                <a:graphicFrameLocks noGrp="1"/>
              </p:cNvGraphicFramePr>
              <p:nvPr>
                <p:extLst>
                  <p:ext uri="{D42A27DB-BD31-4B8C-83A1-F6EECF244321}">
                    <p14:modId xmlns:p14="http://schemas.microsoft.com/office/powerpoint/2010/main" val="149112373"/>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518160">
                    <a:tc>
                      <a:txBody>
                        <a:bodyPr/>
                        <a:lstStyle/>
                        <a:p>
                          <a:endParaRPr lang="en-US"/>
                        </a:p>
                      </a:txBody>
                      <a:tcPr>
                        <a:blipFill>
                          <a:blip r:embed="rId4"/>
                          <a:stretch>
                            <a:fillRect l="-60" t="-10588" r="-120" b="-350588"/>
                          </a:stretch>
                        </a:blipFill>
                      </a:tcPr>
                    </a:tc>
                    <a:extLst>
                      <a:ext uri="{0D108BD9-81ED-4DB2-BD59-A6C34878D82A}">
                        <a16:rowId xmlns:a16="http://schemas.microsoft.com/office/drawing/2014/main" val="3090890639"/>
                      </a:ext>
                    </a:extLst>
                  </a:tr>
                  <a:tr h="599033">
                    <a:tc>
                      <a:txBody>
                        <a:bodyPr/>
                        <a:lstStyle/>
                        <a:p>
                          <a:endParaRPr lang="en-US"/>
                        </a:p>
                      </a:txBody>
                      <a:tcPr>
                        <a:blipFill>
                          <a:blip r:embed="rId4"/>
                          <a:stretch>
                            <a:fillRect l="-60" t="-94949" r="-120" b="-201010"/>
                          </a:stretch>
                        </a:blipFill>
                      </a:tcPr>
                    </a:tc>
                    <a:extLst>
                      <a:ext uri="{0D108BD9-81ED-4DB2-BD59-A6C34878D82A}">
                        <a16:rowId xmlns:a16="http://schemas.microsoft.com/office/drawing/2014/main" val="2340900590"/>
                      </a:ext>
                    </a:extLst>
                  </a:tr>
                  <a:tr h="518160">
                    <a:tc>
                      <a:txBody>
                        <a:bodyPr/>
                        <a:lstStyle/>
                        <a:p>
                          <a:endParaRPr lang="en-US"/>
                        </a:p>
                      </a:txBody>
                      <a:tcPr>
                        <a:blipFill>
                          <a:blip r:embed="rId4"/>
                          <a:stretch>
                            <a:fillRect l="-60" t="-227059" r="-120" b="-134118"/>
                          </a:stretch>
                        </a:blipFill>
                      </a:tcPr>
                    </a:tc>
                    <a:extLst>
                      <a:ext uri="{0D108BD9-81ED-4DB2-BD59-A6C34878D82A}">
                        <a16:rowId xmlns:a16="http://schemas.microsoft.com/office/drawing/2014/main" val="3017780003"/>
                      </a:ext>
                    </a:extLst>
                  </a:tr>
                  <a:tr h="518160">
                    <a:tc>
                      <a:txBody>
                        <a:bodyPr/>
                        <a:lstStyle/>
                        <a:p>
                          <a:endParaRPr lang="en-US"/>
                        </a:p>
                      </a:txBody>
                      <a:tcPr>
                        <a:blipFill>
                          <a:blip r:embed="rId4"/>
                          <a:stretch>
                            <a:fillRect l="-60" t="-327059" r="-120" b="-34118"/>
                          </a:stretch>
                        </a:blipFill>
                      </a:tcPr>
                    </a:tc>
                    <a:extLst>
                      <a:ext uri="{0D108BD9-81ED-4DB2-BD59-A6C34878D82A}">
                        <a16:rowId xmlns:a16="http://schemas.microsoft.com/office/drawing/2014/main" val="716630035"/>
                      </a:ext>
                    </a:extLst>
                  </a:tr>
                </a:tbl>
              </a:graphicData>
            </a:graphic>
          </p:graphicFrame>
        </mc:Fallback>
      </mc:AlternateContent>
    </p:spTree>
    <p:extLst>
      <p:ext uri="{BB962C8B-B14F-4D97-AF65-F5344CB8AC3E}">
        <p14:creationId xmlns:p14="http://schemas.microsoft.com/office/powerpoint/2010/main" val="3207109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240E4-AAFD-BA89-B82B-D1BB777C5CA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43BDE03-E602-46ED-8E71-F094B3BF09E2}"/>
                  </a:ext>
                </a:extLst>
              </p:cNvPr>
              <p:cNvSpPr txBox="1"/>
              <p:nvPr/>
            </p:nvSpPr>
            <p:spPr>
              <a:xfrm>
                <a:off x="932463" y="885546"/>
                <a:ext cx="10282560" cy="1077218"/>
              </a:xfrm>
              <a:prstGeom prst="rect">
                <a:avLst/>
              </a:prstGeom>
              <a:noFill/>
            </p:spPr>
            <p:txBody>
              <a:bodyPr wrap="square" rtlCol="0">
                <a:spAutoFit/>
              </a:bodyPr>
              <a:lstStyle/>
              <a:p>
                <a:r>
                  <a:rPr lang="en-US" sz="3200" b="1" dirty="0"/>
                  <a:t>02. </a:t>
                </a:r>
                <a:r>
                  <a:rPr lang="en-US" sz="3200" dirty="0"/>
                  <a:t>In an EWMA with </a:t>
                </a:r>
                <a14:m>
                  <m:oMath xmlns:m="http://schemas.openxmlformats.org/officeDocument/2006/math">
                    <m:r>
                      <a:rPr lang="en-US" sz="3200" b="0" i="1" smtClean="0">
                        <a:latin typeface="Cambria Math" panose="02040503050406030204" pitchFamily="18" charset="0"/>
                        <a:ea typeface="Cambria Math" panose="02040503050406030204" pitchFamily="18" charset="0"/>
                      </a:rPr>
                      <m:t>𝜆</m:t>
                    </m:r>
                    <m:r>
                      <a:rPr lang="en-US" sz="3200" b="0" i="1" smtClean="0">
                        <a:latin typeface="Cambria Math" panose="02040503050406030204" pitchFamily="18" charset="0"/>
                        <a:ea typeface="Cambria Math" panose="02040503050406030204" pitchFamily="18" charset="0"/>
                      </a:rPr>
                      <m:t>=0.2 </m:t>
                    </m:r>
                  </m:oMath>
                </a14:m>
                <a:r>
                  <a:rPr lang="en-PH" sz="3200" dirty="0"/>
                  <a:t>, what is the weight of </a:t>
                </a:r>
                <a14:m>
                  <m:oMath xmlns:m="http://schemas.openxmlformats.org/officeDocument/2006/math">
                    <m:sSub>
                      <m:sSubPr>
                        <m:ctrlPr>
                          <a:rPr lang="en-PH" sz="3200" i="1" smtClean="0">
                            <a:latin typeface="Cambria Math" panose="02040503050406030204" pitchFamily="18" charset="0"/>
                          </a:rPr>
                        </m:ctrlPr>
                      </m:sSubPr>
                      <m:e>
                        <m:r>
                          <a:rPr lang="en-US" sz="3200" b="0" i="1" smtClean="0">
                            <a:latin typeface="Cambria Math" panose="02040503050406030204" pitchFamily="18" charset="0"/>
                          </a:rPr>
                          <m:t>𝑥</m:t>
                        </m:r>
                      </m:e>
                      <m:sub>
                        <m:r>
                          <a:rPr lang="en-US" sz="3200" b="0" i="1" smtClean="0">
                            <a:latin typeface="Cambria Math" panose="02040503050406030204" pitchFamily="18" charset="0"/>
                          </a:rPr>
                          <m:t>𝑡</m:t>
                        </m:r>
                        <m:r>
                          <a:rPr lang="en-US" sz="3200" b="0" i="1" smtClean="0">
                            <a:latin typeface="Cambria Math" panose="02040503050406030204" pitchFamily="18" charset="0"/>
                          </a:rPr>
                          <m:t>−2 </m:t>
                        </m:r>
                      </m:sub>
                    </m:sSub>
                  </m:oMath>
                </a14:m>
                <a:r>
                  <a:rPr lang="en-PH" sz="3200" dirty="0"/>
                  <a:t>in </a:t>
                </a:r>
                <a14:m>
                  <m:oMath xmlns:m="http://schemas.openxmlformats.org/officeDocument/2006/math">
                    <m:sSub>
                      <m:sSubPr>
                        <m:ctrlPr>
                          <a:rPr lang="en-PH" sz="3200" i="1" smtClean="0">
                            <a:latin typeface="Cambria Math" panose="02040503050406030204" pitchFamily="18" charset="0"/>
                          </a:rPr>
                        </m:ctrlPr>
                      </m:sSubPr>
                      <m:e>
                        <m:r>
                          <a:rPr lang="en-US" sz="3200" b="0" i="1" smtClean="0">
                            <a:latin typeface="Cambria Math" panose="02040503050406030204" pitchFamily="18" charset="0"/>
                          </a:rPr>
                          <m:t>𝑆</m:t>
                        </m:r>
                      </m:e>
                      <m:sub>
                        <m:r>
                          <a:rPr lang="en-US" sz="3200" b="0" i="1" smtClean="0">
                            <a:latin typeface="Cambria Math" panose="02040503050406030204" pitchFamily="18" charset="0"/>
                          </a:rPr>
                          <m:t>𝑡</m:t>
                        </m:r>
                      </m:sub>
                    </m:sSub>
                  </m:oMath>
                </a14:m>
                <a:r>
                  <a:rPr lang="en-PH" sz="3200" dirty="0"/>
                  <a:t> (assuming the usual infinite history expansion)?</a:t>
                </a:r>
              </a:p>
            </p:txBody>
          </p:sp>
        </mc:Choice>
        <mc:Fallback>
          <p:sp>
            <p:nvSpPr>
              <p:cNvPr id="2" name="TextBox 1">
                <a:extLst>
                  <a:ext uri="{FF2B5EF4-FFF2-40B4-BE49-F238E27FC236}">
                    <a16:creationId xmlns:a16="http://schemas.microsoft.com/office/drawing/2014/main" id="{643BDE03-E602-46ED-8E71-F094B3BF09E2}"/>
                  </a:ext>
                </a:extLst>
              </p:cNvPr>
              <p:cNvSpPr txBox="1">
                <a:spLocks noRot="1" noChangeAspect="1" noMove="1" noResize="1" noEditPoints="1" noAdjustHandles="1" noChangeArrowheads="1" noChangeShapeType="1" noTextEdit="1"/>
              </p:cNvSpPr>
              <p:nvPr/>
            </p:nvSpPr>
            <p:spPr>
              <a:xfrm>
                <a:off x="932463" y="885546"/>
                <a:ext cx="10282560" cy="1077218"/>
              </a:xfrm>
              <a:prstGeom prst="rect">
                <a:avLst/>
              </a:prstGeom>
              <a:blipFill>
                <a:blip r:embed="rId3"/>
                <a:stretch>
                  <a:fillRect l="-1541" t="-6780" b="-18079"/>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AC49DADD-C95F-82DF-ECA7-04A7DE1F41F5}"/>
                  </a:ext>
                </a:extLst>
              </p:cNvPr>
              <p:cNvGraphicFramePr>
                <a:graphicFrameLocks noGrp="1"/>
              </p:cNvGraphicFramePr>
              <p:nvPr>
                <p:extLst>
                  <p:ext uri="{D42A27DB-BD31-4B8C-83A1-F6EECF244321}">
                    <p14:modId xmlns:p14="http://schemas.microsoft.com/office/powerpoint/2010/main" val="1465316597"/>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0.2</m:t>
                                  </m:r>
                                </m:e>
                                <m:sup>
                                  <m:r>
                                    <a:rPr lang="en-US" sz="2800" b="0" i="1" smtClean="0">
                                      <a:latin typeface="Cambria Math" panose="02040503050406030204" pitchFamily="18" charset="0"/>
                                    </a:rPr>
                                    <m:t>2</m:t>
                                  </m:r>
                                </m:sup>
                              </m:sSup>
                            </m:oMath>
                          </a14:m>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0.2</m:t>
                                  </m:r>
                                  <m:r>
                                    <a:rPr lang="en-US" sz="2800" b="0" i="1" smtClean="0">
                                      <a:latin typeface="Cambria Math" panose="02040503050406030204" pitchFamily="18" charset="0"/>
                                    </a:rPr>
                                    <m:t>(0.8)</m:t>
                                  </m:r>
                                </m:e>
                                <m:sup>
                                  <m:r>
                                    <a:rPr lang="en-US" sz="2800" b="0" i="1" smtClean="0">
                                      <a:latin typeface="Cambria Math" panose="02040503050406030204" pitchFamily="18" charset="0"/>
                                    </a:rPr>
                                    <m:t>2</m:t>
                                  </m:r>
                                </m:sup>
                              </m:sSup>
                            </m:oMath>
                          </a14:m>
                          <a:endParaRPr lang="en-US" sz="2800" dirty="0"/>
                        </a:p>
                      </a:txBody>
                      <a:tcPr>
                        <a:solidFill>
                          <a:srgbClr val="FFFF00"/>
                        </a:solidFill>
                      </a:tcPr>
                    </a:tc>
                    <a:extLst>
                      <a:ext uri="{0D108BD9-81ED-4DB2-BD59-A6C34878D82A}">
                        <a16:rowId xmlns:a16="http://schemas.microsoft.com/office/drawing/2014/main" val="2340900590"/>
                      </a:ext>
                    </a:extLst>
                  </a:tr>
                  <a:tr h="508725">
                    <a:tc>
                      <a:txBody>
                        <a:bodyPr/>
                        <a:lstStyle/>
                        <a:p>
                          <a:r>
                            <a:rPr lang="en-US" sz="2800" b="1" dirty="0"/>
                            <a:t>C</a:t>
                          </a:r>
                          <a:r>
                            <a:rPr lang="en-US" sz="2800" dirty="0"/>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m:t>
                                  </m:r>
                                  <m:r>
                                    <a:rPr lang="en-US" sz="2800" b="0" i="1" smtClean="0">
                                      <a:latin typeface="Cambria Math" panose="02040503050406030204" pitchFamily="18" charset="0"/>
                                    </a:rPr>
                                    <m:t>0.</m:t>
                                  </m:r>
                                  <m:r>
                                    <a:rPr lang="en-US" sz="2800" b="0" i="1" smtClean="0">
                                      <a:latin typeface="Cambria Math" panose="02040503050406030204" pitchFamily="18" charset="0"/>
                                    </a:rPr>
                                    <m:t>8)</m:t>
                                  </m:r>
                                </m:e>
                                <m:sup>
                                  <m:r>
                                    <a:rPr lang="en-US" sz="2800" b="0" i="1" smtClean="0">
                                      <a:latin typeface="Cambria Math" panose="02040503050406030204" pitchFamily="18" charset="0"/>
                                    </a:rPr>
                                    <m:t>2</m:t>
                                  </m:r>
                                </m:sup>
                              </m:sSup>
                            </m:oMath>
                          </a14:m>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a:t>
                          </a:r>
                          <a14:m>
                            <m:oMath xmlns:m="http://schemas.openxmlformats.org/officeDocument/2006/math">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(0.8)</m:t>
                                  </m:r>
                                  <m:r>
                                    <a:rPr lang="en-US" sz="2800" b="0" i="1" smtClean="0">
                                      <a:latin typeface="Cambria Math" panose="02040503050406030204" pitchFamily="18" charset="0"/>
                                    </a:rPr>
                                    <m:t>(0.2)</m:t>
                                  </m:r>
                                </m:e>
                                <m:sup>
                                  <m:r>
                                    <a:rPr lang="en-US" sz="2800" b="0" i="1" smtClean="0">
                                      <a:latin typeface="Cambria Math" panose="02040503050406030204" pitchFamily="18" charset="0"/>
                                    </a:rPr>
                                    <m:t>2</m:t>
                                  </m:r>
                                </m:sup>
                              </m:sSup>
                            </m:oMath>
                          </a14:m>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mc:Choice>
        <mc:Fallback>
          <p:graphicFrame>
            <p:nvGraphicFramePr>
              <p:cNvPr id="4" name="Table 3">
                <a:extLst>
                  <a:ext uri="{FF2B5EF4-FFF2-40B4-BE49-F238E27FC236}">
                    <a16:creationId xmlns:a16="http://schemas.microsoft.com/office/drawing/2014/main" id="{AC49DADD-C95F-82DF-ECA7-04A7DE1F41F5}"/>
                  </a:ext>
                </a:extLst>
              </p:cNvPr>
              <p:cNvGraphicFramePr>
                <a:graphicFrameLocks noGrp="1"/>
              </p:cNvGraphicFramePr>
              <p:nvPr>
                <p:extLst>
                  <p:ext uri="{D42A27DB-BD31-4B8C-83A1-F6EECF244321}">
                    <p14:modId xmlns:p14="http://schemas.microsoft.com/office/powerpoint/2010/main" val="1465316597"/>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518160">
                    <a:tc>
                      <a:txBody>
                        <a:bodyPr/>
                        <a:lstStyle/>
                        <a:p>
                          <a:endParaRPr lang="en-US"/>
                        </a:p>
                      </a:txBody>
                      <a:tcPr>
                        <a:blipFill>
                          <a:blip r:embed="rId4"/>
                          <a:stretch>
                            <a:fillRect l="-60" t="-10588" r="-120" b="-350588"/>
                          </a:stretch>
                        </a:blipFill>
                      </a:tcPr>
                    </a:tc>
                    <a:extLst>
                      <a:ext uri="{0D108BD9-81ED-4DB2-BD59-A6C34878D82A}">
                        <a16:rowId xmlns:a16="http://schemas.microsoft.com/office/drawing/2014/main" val="3090890639"/>
                      </a:ext>
                    </a:extLst>
                  </a:tr>
                  <a:tr h="599033">
                    <a:tc>
                      <a:txBody>
                        <a:bodyPr/>
                        <a:lstStyle/>
                        <a:p>
                          <a:endParaRPr lang="en-US"/>
                        </a:p>
                      </a:txBody>
                      <a:tcPr>
                        <a:blipFill>
                          <a:blip r:embed="rId4"/>
                          <a:stretch>
                            <a:fillRect l="-60" t="-94949" r="-120" b="-201010"/>
                          </a:stretch>
                        </a:blipFill>
                      </a:tcPr>
                    </a:tc>
                    <a:extLst>
                      <a:ext uri="{0D108BD9-81ED-4DB2-BD59-A6C34878D82A}">
                        <a16:rowId xmlns:a16="http://schemas.microsoft.com/office/drawing/2014/main" val="2340900590"/>
                      </a:ext>
                    </a:extLst>
                  </a:tr>
                  <a:tr h="518160">
                    <a:tc>
                      <a:txBody>
                        <a:bodyPr/>
                        <a:lstStyle/>
                        <a:p>
                          <a:endParaRPr lang="en-US"/>
                        </a:p>
                      </a:txBody>
                      <a:tcPr>
                        <a:blipFill>
                          <a:blip r:embed="rId4"/>
                          <a:stretch>
                            <a:fillRect l="-60" t="-227059" r="-120" b="-134118"/>
                          </a:stretch>
                        </a:blipFill>
                      </a:tcPr>
                    </a:tc>
                    <a:extLst>
                      <a:ext uri="{0D108BD9-81ED-4DB2-BD59-A6C34878D82A}">
                        <a16:rowId xmlns:a16="http://schemas.microsoft.com/office/drawing/2014/main" val="3017780003"/>
                      </a:ext>
                    </a:extLst>
                  </a:tr>
                  <a:tr h="518160">
                    <a:tc>
                      <a:txBody>
                        <a:bodyPr/>
                        <a:lstStyle/>
                        <a:p>
                          <a:endParaRPr lang="en-US"/>
                        </a:p>
                      </a:txBody>
                      <a:tcPr>
                        <a:blipFill>
                          <a:blip r:embed="rId4"/>
                          <a:stretch>
                            <a:fillRect l="-60" t="-327059" r="-120" b="-34118"/>
                          </a:stretch>
                        </a:blipFill>
                      </a:tcPr>
                    </a:tc>
                    <a:extLst>
                      <a:ext uri="{0D108BD9-81ED-4DB2-BD59-A6C34878D82A}">
                        <a16:rowId xmlns:a16="http://schemas.microsoft.com/office/drawing/2014/main" val="716630035"/>
                      </a:ext>
                    </a:extLst>
                  </a:tr>
                </a:tbl>
              </a:graphicData>
            </a:graphic>
          </p:graphicFrame>
        </mc:Fallback>
      </mc:AlternateContent>
    </p:spTree>
    <p:extLst>
      <p:ext uri="{BB962C8B-B14F-4D97-AF65-F5344CB8AC3E}">
        <p14:creationId xmlns:p14="http://schemas.microsoft.com/office/powerpoint/2010/main" val="1543115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0D495-192E-2B89-B5D8-AF5F4A211BF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531C44-E6B3-EBAA-3CCF-5EF54FB77C32}"/>
              </a:ext>
            </a:extLst>
          </p:cNvPr>
          <p:cNvSpPr txBox="1"/>
          <p:nvPr/>
        </p:nvSpPr>
        <p:spPr>
          <a:xfrm>
            <a:off x="932463" y="885546"/>
            <a:ext cx="10282560" cy="1077218"/>
          </a:xfrm>
          <a:prstGeom prst="rect">
            <a:avLst/>
          </a:prstGeom>
          <a:noFill/>
        </p:spPr>
        <p:txBody>
          <a:bodyPr wrap="square" rtlCol="0">
            <a:spAutoFit/>
          </a:bodyPr>
          <a:lstStyle/>
          <a:p>
            <a:r>
              <a:rPr lang="en-US" sz="3200" b="1" dirty="0"/>
              <a:t>03. </a:t>
            </a:r>
            <a:r>
              <a:rPr lang="en-US" sz="3200" dirty="0"/>
              <a:t>If 𝜆=0.1, about how much weight remains on information from 10 steps ago (relative to the EWMA state)</a:t>
            </a:r>
            <a:endParaRPr lang="en-PH" sz="3200" dirty="0"/>
          </a:p>
        </p:txBody>
      </p:sp>
      <p:graphicFrame>
        <p:nvGraphicFramePr>
          <p:cNvPr id="4" name="Table 3">
            <a:extLst>
              <a:ext uri="{FF2B5EF4-FFF2-40B4-BE49-F238E27FC236}">
                <a16:creationId xmlns:a16="http://schemas.microsoft.com/office/drawing/2014/main" id="{9B44DC3E-1B4D-C4B0-6357-AD27D793E92A}"/>
              </a:ext>
            </a:extLst>
          </p:cNvPr>
          <p:cNvGraphicFramePr>
            <a:graphicFrameLocks noGrp="1"/>
          </p:cNvGraphicFramePr>
          <p:nvPr>
            <p:extLst>
              <p:ext uri="{D42A27DB-BD31-4B8C-83A1-F6EECF244321}">
                <p14:modId xmlns:p14="http://schemas.microsoft.com/office/powerpoint/2010/main" val="3890864119"/>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About 0.9</a:t>
                      </a:r>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About 0.10</a:t>
                      </a:r>
                    </a:p>
                  </a:txBody>
                  <a:tcPr/>
                </a:tc>
                <a:extLst>
                  <a:ext uri="{0D108BD9-81ED-4DB2-BD59-A6C34878D82A}">
                    <a16:rowId xmlns:a16="http://schemas.microsoft.com/office/drawing/2014/main" val="2340900590"/>
                  </a:ext>
                </a:extLst>
              </a:tr>
              <a:tr h="508725">
                <a:tc>
                  <a:txBody>
                    <a:bodyPr/>
                    <a:lstStyle/>
                    <a:p>
                      <a:r>
                        <a:rPr lang="en-US" sz="2800" b="1" dirty="0"/>
                        <a:t>C</a:t>
                      </a:r>
                      <a:r>
                        <a:rPr lang="en-US" sz="2800" dirty="0"/>
                        <a:t>. About 0.35</a:t>
                      </a:r>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About 0.01</a:t>
                      </a:r>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p:spTree>
    <p:extLst>
      <p:ext uri="{BB962C8B-B14F-4D97-AF65-F5344CB8AC3E}">
        <p14:creationId xmlns:p14="http://schemas.microsoft.com/office/powerpoint/2010/main" val="2323490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1001A-585B-8FE9-70AD-F960CE5ADE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A0760A-D5EC-90FE-93AD-C086E68EC9E5}"/>
              </a:ext>
            </a:extLst>
          </p:cNvPr>
          <p:cNvSpPr txBox="1"/>
          <p:nvPr/>
        </p:nvSpPr>
        <p:spPr>
          <a:xfrm>
            <a:off x="932463" y="885546"/>
            <a:ext cx="10282560" cy="1077218"/>
          </a:xfrm>
          <a:prstGeom prst="rect">
            <a:avLst/>
          </a:prstGeom>
          <a:noFill/>
        </p:spPr>
        <p:txBody>
          <a:bodyPr wrap="square" rtlCol="0">
            <a:spAutoFit/>
          </a:bodyPr>
          <a:lstStyle/>
          <a:p>
            <a:r>
              <a:rPr lang="en-US" sz="3200" b="1" dirty="0"/>
              <a:t>03. </a:t>
            </a:r>
            <a:r>
              <a:rPr lang="en-US" sz="3200" dirty="0"/>
              <a:t>If 𝜆 = 0.1, about how much weight remains on information from 10 steps ago (relative to the EWMA state)</a:t>
            </a:r>
            <a:endParaRPr lang="en-PH" sz="3200" dirty="0"/>
          </a:p>
        </p:txBody>
      </p:sp>
      <p:graphicFrame>
        <p:nvGraphicFramePr>
          <p:cNvPr id="4" name="Table 3">
            <a:extLst>
              <a:ext uri="{FF2B5EF4-FFF2-40B4-BE49-F238E27FC236}">
                <a16:creationId xmlns:a16="http://schemas.microsoft.com/office/drawing/2014/main" id="{C64AF3FD-21C3-D4EE-89D0-FC42F56760F0}"/>
              </a:ext>
            </a:extLst>
          </p:cNvPr>
          <p:cNvGraphicFramePr>
            <a:graphicFrameLocks noGrp="1"/>
          </p:cNvGraphicFramePr>
          <p:nvPr>
            <p:extLst>
              <p:ext uri="{D42A27DB-BD31-4B8C-83A1-F6EECF244321}">
                <p14:modId xmlns:p14="http://schemas.microsoft.com/office/powerpoint/2010/main" val="3776015671"/>
              </p:ext>
            </p:extLst>
          </p:nvPr>
        </p:nvGraphicFramePr>
        <p:xfrm>
          <a:off x="1006011" y="2255729"/>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About 0.9</a:t>
                      </a:r>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About 0.10</a:t>
                      </a:r>
                    </a:p>
                  </a:txBody>
                  <a:tcPr/>
                </a:tc>
                <a:extLst>
                  <a:ext uri="{0D108BD9-81ED-4DB2-BD59-A6C34878D82A}">
                    <a16:rowId xmlns:a16="http://schemas.microsoft.com/office/drawing/2014/main" val="2340900590"/>
                  </a:ext>
                </a:extLst>
              </a:tr>
              <a:tr h="508725">
                <a:tc>
                  <a:txBody>
                    <a:bodyPr/>
                    <a:lstStyle/>
                    <a:p>
                      <a:r>
                        <a:rPr lang="en-US" sz="2800" b="1" dirty="0"/>
                        <a:t>C</a:t>
                      </a:r>
                      <a:r>
                        <a:rPr lang="en-US" sz="2800" dirty="0"/>
                        <a:t>. About 0.35</a:t>
                      </a:r>
                      <a:endParaRPr lang="en-PH" sz="2800" dirty="0"/>
                    </a:p>
                  </a:txBody>
                  <a:tcPr>
                    <a:solidFill>
                      <a:srgbClr val="FFFF00"/>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About 0.01</a:t>
                      </a:r>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C6DD799-D5A2-206B-E85E-BB81059A54D0}"/>
                  </a:ext>
                </a:extLst>
              </p:cNvPr>
              <p:cNvSpPr txBox="1"/>
              <p:nvPr/>
            </p:nvSpPr>
            <p:spPr>
              <a:xfrm>
                <a:off x="932463" y="4584514"/>
                <a:ext cx="10209012" cy="1415772"/>
              </a:xfrm>
              <a:prstGeom prst="rect">
                <a:avLst/>
              </a:prstGeom>
              <a:noFill/>
            </p:spPr>
            <p:txBody>
              <a:bodyPr wrap="square" rtlCol="0">
                <a:spAutoFit/>
              </a:bodyPr>
              <a:lstStyle/>
              <a:p>
                <a:pPr/>
                <a14:m>
                  <m:oMath xmlns:m="http://schemas.openxmlformats.org/officeDocument/2006/math">
                    <m:sSup>
                      <m:sSupPr>
                        <m:ctrlPr>
                          <a:rPr lang="en-US" sz="2800" b="0" i="1" smtClean="0">
                            <a:latin typeface="Cambria Math" panose="02040503050406030204" pitchFamily="18" charset="0"/>
                          </a:rPr>
                        </m:ctrlPr>
                      </m:sSupPr>
                      <m:e>
                        <m:r>
                          <a:rPr lang="en-US" sz="2800" i="1">
                            <a:latin typeface="Cambria Math" panose="02040503050406030204" pitchFamily="18" charset="0"/>
                          </a:rPr>
                          <m:t>(1 −</m:t>
                        </m:r>
                        <m:r>
                          <a:rPr lang="en-US" sz="2800" i="1">
                            <a:latin typeface="Cambria Math" panose="02040503050406030204" pitchFamily="18" charset="0"/>
                            <a:ea typeface="Cambria Math" panose="02040503050406030204" pitchFamily="18" charset="0"/>
                          </a:rPr>
                          <m:t>𝜆</m:t>
                        </m:r>
                        <m:r>
                          <a:rPr lang="en-US" sz="2800" i="1">
                            <a:latin typeface="Cambria Math" panose="02040503050406030204" pitchFamily="18" charset="0"/>
                            <a:ea typeface="Cambria Math" panose="02040503050406030204" pitchFamily="18" charset="0"/>
                          </a:rPr>
                          <m:t>)</m:t>
                        </m:r>
                      </m:e>
                      <m:sup>
                        <m:r>
                          <a:rPr lang="en-US" sz="2800" b="0" i="1" smtClean="0">
                            <a:latin typeface="Cambria Math" panose="02040503050406030204" pitchFamily="18" charset="0"/>
                          </a:rPr>
                          <m:t>10</m:t>
                        </m:r>
                      </m:sup>
                    </m:sSup>
                  </m:oMath>
                </a14:m>
                <a:r>
                  <a:rPr lang="en-PH" sz="2800" dirty="0"/>
                  <a:t> = </a:t>
                </a:r>
                <a14:m>
                  <m:oMath xmlns:m="http://schemas.openxmlformats.org/officeDocument/2006/math">
                    <m:sSup>
                      <m:sSupPr>
                        <m:ctrlPr>
                          <a:rPr lang="en-PH" sz="2800" i="1" smtClean="0">
                            <a:latin typeface="Cambria Math" panose="02040503050406030204" pitchFamily="18" charset="0"/>
                          </a:rPr>
                        </m:ctrlPr>
                      </m:sSupPr>
                      <m:e>
                        <m:r>
                          <a:rPr lang="en-US" sz="2800" b="0" i="1" smtClean="0">
                            <a:latin typeface="Cambria Math" panose="02040503050406030204" pitchFamily="18" charset="0"/>
                          </a:rPr>
                          <m:t>0.9</m:t>
                        </m:r>
                      </m:e>
                      <m:sup>
                        <m:r>
                          <a:rPr lang="en-US" sz="2800" b="0" i="1" smtClean="0">
                            <a:latin typeface="Cambria Math" panose="02040503050406030204" pitchFamily="18" charset="0"/>
                          </a:rPr>
                          <m:t>10</m:t>
                        </m:r>
                      </m:sup>
                    </m:sSup>
                    <m:r>
                      <a:rPr lang="en-US" sz="2800" b="0" i="1" smtClean="0">
                        <a:latin typeface="Cambria Math" panose="02040503050406030204" pitchFamily="18" charset="0"/>
                      </a:rPr>
                      <m:t>=</m:t>
                    </m:r>
                    <m:r>
                      <a:rPr lang="en-US" sz="2800" b="0" i="1" smtClean="0">
                        <a:highlight>
                          <a:srgbClr val="FFFF00"/>
                        </a:highlight>
                        <a:latin typeface="Cambria Math" panose="02040503050406030204" pitchFamily="18" charset="0"/>
                      </a:rPr>
                      <m:t>0.35</m:t>
                    </m:r>
                  </m:oMath>
                </a14:m>
                <a:endParaRPr lang="en-US" sz="2800" b="0" dirty="0">
                  <a:highlight>
                    <a:srgbClr val="FFFF00"/>
                  </a:highlight>
                </a:endParaRPr>
              </a:p>
              <a:p>
                <a:pPr/>
                <a:endParaRPr lang="en-US" sz="1000" b="0" dirty="0"/>
              </a:p>
              <a:p>
                <a:pPr/>
                <a:r>
                  <a:rPr lang="en-PH" sz="2400" dirty="0"/>
                  <a:t>* </a:t>
                </a:r>
                <a:r>
                  <a:rPr lang="en-US" sz="2400" dirty="0"/>
                  <a:t>Roughly </a:t>
                </a:r>
                <a:r>
                  <a:rPr lang="en-US" sz="2400" b="1" dirty="0"/>
                  <a:t>35% </a:t>
                </a:r>
                <a:r>
                  <a:rPr lang="en-US" sz="2400" dirty="0"/>
                  <a:t>of the old state’s influence can remain after 10 updates, slow decay when</a:t>
                </a:r>
                <a14:m>
                  <m:oMath xmlns:m="http://schemas.openxmlformats.org/officeDocument/2006/math">
                    <m:r>
                      <a:rPr lang="en-US" sz="2400" b="0" i="0"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 </m:t>
                    </m:r>
                  </m:oMath>
                </a14:m>
                <a:r>
                  <a:rPr lang="en-US" sz="2400" dirty="0"/>
                  <a:t>is small. *</a:t>
                </a:r>
                <a:endParaRPr lang="en-PH" sz="2400" dirty="0"/>
              </a:p>
            </p:txBody>
          </p:sp>
        </mc:Choice>
        <mc:Fallback>
          <p:sp>
            <p:nvSpPr>
              <p:cNvPr id="3" name="TextBox 2">
                <a:extLst>
                  <a:ext uri="{FF2B5EF4-FFF2-40B4-BE49-F238E27FC236}">
                    <a16:creationId xmlns:a16="http://schemas.microsoft.com/office/drawing/2014/main" id="{6C6DD799-D5A2-206B-E85E-BB81059A54D0}"/>
                  </a:ext>
                </a:extLst>
              </p:cNvPr>
              <p:cNvSpPr txBox="1">
                <a:spLocks noRot="1" noChangeAspect="1" noMove="1" noResize="1" noEditPoints="1" noAdjustHandles="1" noChangeArrowheads="1" noChangeShapeType="1" noTextEdit="1"/>
              </p:cNvSpPr>
              <p:nvPr/>
            </p:nvSpPr>
            <p:spPr>
              <a:xfrm>
                <a:off x="932463" y="4584514"/>
                <a:ext cx="10209012" cy="1415772"/>
              </a:xfrm>
              <a:prstGeom prst="rect">
                <a:avLst/>
              </a:prstGeom>
              <a:blipFill>
                <a:blip r:embed="rId3"/>
                <a:stretch>
                  <a:fillRect l="-955" t="-3879" b="-9052"/>
                </a:stretch>
              </a:blipFill>
            </p:spPr>
            <p:txBody>
              <a:bodyPr/>
              <a:lstStyle/>
              <a:p>
                <a:r>
                  <a:rPr lang="en-PH">
                    <a:noFill/>
                  </a:rPr>
                  <a:t> </a:t>
                </a:r>
              </a:p>
            </p:txBody>
          </p:sp>
        </mc:Fallback>
      </mc:AlternateContent>
    </p:spTree>
    <p:extLst>
      <p:ext uri="{BB962C8B-B14F-4D97-AF65-F5344CB8AC3E}">
        <p14:creationId xmlns:p14="http://schemas.microsoft.com/office/powerpoint/2010/main" val="1557967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2A6DC-243C-EC4F-1B2B-21B58DAEA2A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A8CD80-836A-337D-BDAF-87FDA2324CAC}"/>
              </a:ext>
            </a:extLst>
          </p:cNvPr>
          <p:cNvSpPr txBox="1"/>
          <p:nvPr/>
        </p:nvSpPr>
        <p:spPr>
          <a:xfrm>
            <a:off x="932463" y="885546"/>
            <a:ext cx="10282560" cy="1077218"/>
          </a:xfrm>
          <a:prstGeom prst="rect">
            <a:avLst/>
          </a:prstGeom>
          <a:noFill/>
        </p:spPr>
        <p:txBody>
          <a:bodyPr wrap="square" rtlCol="0">
            <a:spAutoFit/>
          </a:bodyPr>
          <a:lstStyle/>
          <a:p>
            <a:r>
              <a:rPr lang="en-US" sz="3200" b="1" dirty="0"/>
              <a:t>04. </a:t>
            </a:r>
            <a:r>
              <a:rPr lang="en-US" sz="3200" dirty="0"/>
              <a:t>Which λ would you choose if you want the EWMA to be very smooth and not overreact to noise?</a:t>
            </a:r>
            <a:endParaRPr lang="en-PH" sz="3200" dirty="0"/>
          </a:p>
        </p:txBody>
      </p:sp>
      <p:graphicFrame>
        <p:nvGraphicFramePr>
          <p:cNvPr id="4" name="Table 3">
            <a:extLst>
              <a:ext uri="{FF2B5EF4-FFF2-40B4-BE49-F238E27FC236}">
                <a16:creationId xmlns:a16="http://schemas.microsoft.com/office/drawing/2014/main" id="{A66F5872-23E5-5BA8-C836-2E32D392235F}"/>
              </a:ext>
            </a:extLst>
          </p:cNvPr>
          <p:cNvGraphicFramePr>
            <a:graphicFrameLocks noGrp="1"/>
          </p:cNvGraphicFramePr>
          <p:nvPr>
            <p:extLst>
              <p:ext uri="{D42A27DB-BD31-4B8C-83A1-F6EECF244321}">
                <p14:modId xmlns:p14="http://schemas.microsoft.com/office/powerpoint/2010/main" val="1235892771"/>
              </p:ext>
            </p:extLst>
          </p:nvPr>
        </p:nvGraphicFramePr>
        <p:xfrm>
          <a:off x="932463" y="2539815"/>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417278">
                <a:tc>
                  <a:txBody>
                    <a:bodyPr/>
                    <a:lstStyle/>
                    <a:p>
                      <a:r>
                        <a:rPr lang="en-US" sz="2800" b="1" dirty="0"/>
                        <a:t>A</a:t>
                      </a:r>
                      <a:r>
                        <a:rPr lang="en-US" sz="2800" dirty="0"/>
                        <a:t>. 0.85</a:t>
                      </a:r>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0.60</a:t>
                      </a:r>
                    </a:p>
                  </a:txBody>
                  <a:tcPr/>
                </a:tc>
                <a:extLst>
                  <a:ext uri="{0D108BD9-81ED-4DB2-BD59-A6C34878D82A}">
                    <a16:rowId xmlns:a16="http://schemas.microsoft.com/office/drawing/2014/main" val="2340900590"/>
                  </a:ext>
                </a:extLst>
              </a:tr>
              <a:tr h="508725">
                <a:tc>
                  <a:txBody>
                    <a:bodyPr/>
                    <a:lstStyle/>
                    <a:p>
                      <a:r>
                        <a:rPr lang="en-US" sz="2800" b="1" dirty="0"/>
                        <a:t>C</a:t>
                      </a:r>
                      <a:r>
                        <a:rPr lang="en-US" sz="2800" dirty="0"/>
                        <a:t>. 0.30</a:t>
                      </a:r>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0.10</a:t>
                      </a:r>
                      <a:endParaRPr lang="en-PH" sz="2800" kern="1200" dirty="0">
                        <a:solidFill>
                          <a:schemeClr val="tx1"/>
                        </a:solidFill>
                        <a:latin typeface="+mn-lt"/>
                        <a:ea typeface="+mn-ea"/>
                        <a:cs typeface="+mn-cs"/>
                      </a:endParaRPr>
                    </a:p>
                  </a:txBody>
                  <a:tcPr/>
                </a:tc>
                <a:extLst>
                  <a:ext uri="{0D108BD9-81ED-4DB2-BD59-A6C34878D82A}">
                    <a16:rowId xmlns:a16="http://schemas.microsoft.com/office/drawing/2014/main" val="716630035"/>
                  </a:ext>
                </a:extLst>
              </a:tr>
            </a:tbl>
          </a:graphicData>
        </a:graphic>
      </p:graphicFrame>
    </p:spTree>
    <p:extLst>
      <p:ext uri="{BB962C8B-B14F-4D97-AF65-F5344CB8AC3E}">
        <p14:creationId xmlns:p14="http://schemas.microsoft.com/office/powerpoint/2010/main" val="3296735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CA51C-65B7-910E-BC11-B3443E052B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8D59B2-03E5-E0E8-BA4F-A3E2297CAEAC}"/>
              </a:ext>
            </a:extLst>
          </p:cNvPr>
          <p:cNvSpPr txBox="1"/>
          <p:nvPr/>
        </p:nvSpPr>
        <p:spPr>
          <a:xfrm>
            <a:off x="932463" y="885546"/>
            <a:ext cx="10282560" cy="1077218"/>
          </a:xfrm>
          <a:prstGeom prst="rect">
            <a:avLst/>
          </a:prstGeom>
          <a:noFill/>
        </p:spPr>
        <p:txBody>
          <a:bodyPr wrap="square" rtlCol="0">
            <a:spAutoFit/>
          </a:bodyPr>
          <a:lstStyle/>
          <a:p>
            <a:r>
              <a:rPr lang="en-US" sz="3200" b="1" dirty="0"/>
              <a:t>04. </a:t>
            </a:r>
            <a:r>
              <a:rPr lang="en-US" sz="3200" dirty="0"/>
              <a:t>Which λ would you choose if you want the EWMA to be very smooth and not overreact to noise?</a:t>
            </a:r>
            <a:endParaRPr lang="en-PH" sz="3200" dirty="0"/>
          </a:p>
        </p:txBody>
      </p:sp>
      <p:graphicFrame>
        <p:nvGraphicFramePr>
          <p:cNvPr id="4" name="Table 3">
            <a:extLst>
              <a:ext uri="{FF2B5EF4-FFF2-40B4-BE49-F238E27FC236}">
                <a16:creationId xmlns:a16="http://schemas.microsoft.com/office/drawing/2014/main" id="{E758D0EA-B340-CC26-B171-FFDDF3DAAB50}"/>
              </a:ext>
            </a:extLst>
          </p:cNvPr>
          <p:cNvGraphicFramePr>
            <a:graphicFrameLocks noGrp="1"/>
          </p:cNvGraphicFramePr>
          <p:nvPr>
            <p:extLst>
              <p:ext uri="{D42A27DB-BD31-4B8C-83A1-F6EECF244321}">
                <p14:modId xmlns:p14="http://schemas.microsoft.com/office/powerpoint/2010/main" val="3555848857"/>
              </p:ext>
            </p:extLst>
          </p:nvPr>
        </p:nvGraphicFramePr>
        <p:xfrm>
          <a:off x="932463" y="2273486"/>
          <a:ext cx="10135464" cy="2153513"/>
        </p:xfrm>
        <a:graphic>
          <a:graphicData uri="http://schemas.openxmlformats.org/drawingml/2006/table">
            <a:tbl>
              <a:tblPr firstRow="1" bandRow="1">
                <a:tableStyleId>{5940675A-B579-460E-94D1-54222C63F5DA}</a:tableStyleId>
              </a:tblPr>
              <a:tblGrid>
                <a:gridCol w="10135464">
                  <a:extLst>
                    <a:ext uri="{9D8B030D-6E8A-4147-A177-3AD203B41FA5}">
                      <a16:colId xmlns:a16="http://schemas.microsoft.com/office/drawing/2014/main" val="347220614"/>
                    </a:ext>
                  </a:extLst>
                </a:gridCol>
              </a:tblGrid>
              <a:tr h="364813">
                <a:tc>
                  <a:txBody>
                    <a:bodyPr/>
                    <a:lstStyle/>
                    <a:p>
                      <a:r>
                        <a:rPr lang="en-US" sz="2800" b="1" dirty="0"/>
                        <a:t>A</a:t>
                      </a:r>
                      <a:r>
                        <a:rPr lang="en-US" sz="2800" dirty="0"/>
                        <a:t>. 0.85</a:t>
                      </a:r>
                      <a:endParaRPr lang="en-PH" sz="2800" dirty="0"/>
                    </a:p>
                  </a:txBody>
                  <a:tcPr/>
                </a:tc>
                <a:extLst>
                  <a:ext uri="{0D108BD9-81ED-4DB2-BD59-A6C34878D82A}">
                    <a16:rowId xmlns:a16="http://schemas.microsoft.com/office/drawing/2014/main" val="3090890639"/>
                  </a:ext>
                </a:extLst>
              </a:tr>
              <a:tr h="599033">
                <a:tc>
                  <a:txBody>
                    <a:bodyPr/>
                    <a:lstStyle/>
                    <a:p>
                      <a:r>
                        <a:rPr lang="en-US" sz="2800" b="1" dirty="0"/>
                        <a:t>B</a:t>
                      </a:r>
                      <a:r>
                        <a:rPr lang="en-US" sz="2800" dirty="0"/>
                        <a:t>. 0.60</a:t>
                      </a:r>
                    </a:p>
                  </a:txBody>
                  <a:tcPr/>
                </a:tc>
                <a:extLst>
                  <a:ext uri="{0D108BD9-81ED-4DB2-BD59-A6C34878D82A}">
                    <a16:rowId xmlns:a16="http://schemas.microsoft.com/office/drawing/2014/main" val="2340900590"/>
                  </a:ext>
                </a:extLst>
              </a:tr>
              <a:tr h="508725">
                <a:tc>
                  <a:txBody>
                    <a:bodyPr/>
                    <a:lstStyle/>
                    <a:p>
                      <a:r>
                        <a:rPr lang="en-US" sz="2800" b="1" dirty="0"/>
                        <a:t>C</a:t>
                      </a:r>
                      <a:r>
                        <a:rPr lang="en-US" sz="2800" dirty="0"/>
                        <a:t>. 0.30</a:t>
                      </a:r>
                      <a:endParaRPr lang="en-PH" sz="2800" dirty="0"/>
                    </a:p>
                  </a:txBody>
                  <a:tcPr>
                    <a:solidFill>
                      <a:schemeClr val="bg1"/>
                    </a:solidFill>
                  </a:tcPr>
                </a:tc>
                <a:extLst>
                  <a:ext uri="{0D108BD9-81ED-4DB2-BD59-A6C34878D82A}">
                    <a16:rowId xmlns:a16="http://schemas.microsoft.com/office/drawing/2014/main" val="3017780003"/>
                  </a:ext>
                </a:extLst>
              </a:tr>
              <a:tr h="5087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kern="1200" dirty="0">
                          <a:solidFill>
                            <a:schemeClr val="tx1"/>
                          </a:solidFill>
                          <a:latin typeface="+mn-lt"/>
                          <a:ea typeface="+mn-ea"/>
                          <a:cs typeface="+mn-cs"/>
                        </a:rPr>
                        <a:t>D</a:t>
                      </a:r>
                      <a:r>
                        <a:rPr lang="en-US" sz="2800" kern="1200" dirty="0">
                          <a:solidFill>
                            <a:schemeClr val="tx1"/>
                          </a:solidFill>
                          <a:latin typeface="+mn-lt"/>
                          <a:ea typeface="+mn-ea"/>
                          <a:cs typeface="+mn-cs"/>
                        </a:rPr>
                        <a:t>. 0.10</a:t>
                      </a:r>
                      <a:endParaRPr lang="en-PH" sz="2800" kern="1200" dirty="0">
                        <a:solidFill>
                          <a:schemeClr val="tx1"/>
                        </a:solidFill>
                        <a:latin typeface="+mn-lt"/>
                        <a:ea typeface="+mn-ea"/>
                        <a:cs typeface="+mn-cs"/>
                      </a:endParaRPr>
                    </a:p>
                  </a:txBody>
                  <a:tcPr>
                    <a:solidFill>
                      <a:srgbClr val="FFFF00"/>
                    </a:solidFill>
                  </a:tcPr>
                </a:tc>
                <a:extLst>
                  <a:ext uri="{0D108BD9-81ED-4DB2-BD59-A6C34878D82A}">
                    <a16:rowId xmlns:a16="http://schemas.microsoft.com/office/drawing/2014/main" val="716630035"/>
                  </a:ext>
                </a:extLst>
              </a:tr>
            </a:tbl>
          </a:graphicData>
        </a:graphic>
      </p:graphicFrame>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FA597F9-1AA5-AA35-B3E6-8A2ED67DE7F7}"/>
                  </a:ext>
                </a:extLst>
              </p:cNvPr>
              <p:cNvSpPr txBox="1"/>
              <p:nvPr/>
            </p:nvSpPr>
            <p:spPr>
              <a:xfrm>
                <a:off x="932463" y="4584514"/>
                <a:ext cx="10209012" cy="1384995"/>
              </a:xfrm>
              <a:prstGeom prst="rect">
                <a:avLst/>
              </a:prstGeom>
              <a:noFill/>
            </p:spPr>
            <p:txBody>
              <a:bodyPr wrap="square" rtlCol="0">
                <a:spAutoFit/>
              </a:bodyPr>
              <a:lstStyle/>
              <a:p>
                <a:r>
                  <a:rPr lang="en-US" sz="2800" dirty="0"/>
                  <a:t>Smaller </a:t>
                </a:r>
                <a14:m>
                  <m:oMath xmlns:m="http://schemas.openxmlformats.org/officeDocument/2006/math">
                    <m:r>
                      <a:rPr lang="en-US" sz="2800" i="1"/>
                      <m:t>𝜆</m:t>
                    </m:r>
                  </m:oMath>
                </a14:m>
                <a:r>
                  <a:rPr lang="en-US" sz="2800" dirty="0"/>
                  <a:t> means the EWMA relies more on past values and changes slowly, producing a smoother curve. </a:t>
                </a:r>
                <a14:m>
                  <m:oMath xmlns:m="http://schemas.openxmlformats.org/officeDocument/2006/math">
                    <m:r>
                      <a:rPr lang="en-US" sz="2800" i="1"/>
                      <m:t>𝜆</m:t>
                    </m:r>
                    <m:r>
                      <a:rPr lang="en-US" sz="2800"/>
                      <m:t>=0.</m:t>
                    </m:r>
                    <m:r>
                      <a:rPr lang="en-US" sz="2800" b="0" i="0" smtClean="0">
                        <a:latin typeface="Cambria Math" panose="02040503050406030204" pitchFamily="18" charset="0"/>
                      </a:rPr>
                      <m:t>10 </m:t>
                    </m:r>
                  </m:oMath>
                </a14:m>
                <a:r>
                  <a:rPr lang="en-US" sz="2800" dirty="0"/>
                  <a:t>is the smoothest among the options.</a:t>
                </a:r>
              </a:p>
            </p:txBody>
          </p:sp>
        </mc:Choice>
        <mc:Fallback>
          <p:sp>
            <p:nvSpPr>
              <p:cNvPr id="3" name="TextBox 2">
                <a:extLst>
                  <a:ext uri="{FF2B5EF4-FFF2-40B4-BE49-F238E27FC236}">
                    <a16:creationId xmlns:a16="http://schemas.microsoft.com/office/drawing/2014/main" id="{2FA597F9-1AA5-AA35-B3E6-8A2ED67DE7F7}"/>
                  </a:ext>
                </a:extLst>
              </p:cNvPr>
              <p:cNvSpPr txBox="1">
                <a:spLocks noRot="1" noChangeAspect="1" noMove="1" noResize="1" noEditPoints="1" noAdjustHandles="1" noChangeArrowheads="1" noChangeShapeType="1" noTextEdit="1"/>
              </p:cNvSpPr>
              <p:nvPr/>
            </p:nvSpPr>
            <p:spPr>
              <a:xfrm>
                <a:off x="932463" y="4584514"/>
                <a:ext cx="10209012" cy="1384995"/>
              </a:xfrm>
              <a:prstGeom prst="rect">
                <a:avLst/>
              </a:prstGeom>
              <a:blipFill>
                <a:blip r:embed="rId3"/>
                <a:stretch>
                  <a:fillRect l="-1254" t="-3965" b="-11894"/>
                </a:stretch>
              </a:blipFill>
            </p:spPr>
            <p:txBody>
              <a:bodyPr/>
              <a:lstStyle/>
              <a:p>
                <a:r>
                  <a:rPr lang="en-PH">
                    <a:noFill/>
                  </a:rPr>
                  <a:t> </a:t>
                </a:r>
              </a:p>
            </p:txBody>
          </p:sp>
        </mc:Fallback>
      </mc:AlternateContent>
    </p:spTree>
    <p:extLst>
      <p:ext uri="{BB962C8B-B14F-4D97-AF65-F5344CB8AC3E}">
        <p14:creationId xmlns:p14="http://schemas.microsoft.com/office/powerpoint/2010/main" val="3173434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21364" y="2562078"/>
            <a:ext cx="10749281" cy="830997"/>
          </a:xfrm>
          <a:prstGeom prst="rect">
            <a:avLst/>
          </a:prstGeom>
          <a:noFill/>
        </p:spPr>
        <p:txBody>
          <a:bodyPr wrap="square" rtlCol="0">
            <a:spAutoFit/>
          </a:bodyPr>
          <a:lstStyle/>
          <a:p>
            <a:pPr algn="ctr"/>
            <a:r>
              <a:rPr lang="en-US" sz="4800" b="1" dirty="0">
                <a:latin typeface="Arial" pitchFamily="34" charset="0"/>
                <a:cs typeface="Arial" pitchFamily="34" charset="0"/>
              </a:rPr>
              <a:t>Thank you very much for listening</a:t>
            </a:r>
            <a:r>
              <a:rPr lang="en-US" sz="3200" b="1" dirty="0">
                <a:latin typeface="Arial" pitchFamily="34" charset="0"/>
                <a:cs typeface="Arial" pitchFamily="34" charset="0"/>
              </a:rPr>
              <a:t>.</a:t>
            </a:r>
            <a:endParaRPr lang="en-US" sz="3200" b="1" dirty="0">
              <a:solidFill>
                <a:schemeClr val="accent2"/>
              </a:solidFill>
              <a:latin typeface="Arial" pitchFamily="34" charset="0"/>
              <a:cs typeface="Arial" pitchFamily="34" charset="0"/>
            </a:endParaRPr>
          </a:p>
        </p:txBody>
      </p:sp>
    </p:spTree>
    <p:extLst>
      <p:ext uri="{BB962C8B-B14F-4D97-AF65-F5344CB8AC3E}">
        <p14:creationId xmlns:p14="http://schemas.microsoft.com/office/powerpoint/2010/main" val="1328378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1733</TotalTime>
  <Words>1036</Words>
  <Application>Microsoft Office PowerPoint</Application>
  <PresentationFormat>Widescreen</PresentationFormat>
  <Paragraphs>146</Paragraphs>
  <Slides>25</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Arial Black</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Elmedany</dc:creator>
  <cp:lastModifiedBy>Renato Maaliw III</cp:lastModifiedBy>
  <cp:revision>325</cp:revision>
  <dcterms:created xsi:type="dcterms:W3CDTF">2018-09-30T06:22:05Z</dcterms:created>
  <dcterms:modified xsi:type="dcterms:W3CDTF">2026-01-30T04:44:37Z</dcterms:modified>
</cp:coreProperties>
</file>