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5"/>
  </p:notesMasterIdLst>
  <p:handoutMasterIdLst>
    <p:handoutMasterId r:id="rId16"/>
  </p:handoutMasterIdLst>
  <p:sldIdLst>
    <p:sldId id="258" r:id="rId2"/>
    <p:sldId id="315" r:id="rId3"/>
    <p:sldId id="354" r:id="rId4"/>
    <p:sldId id="355" r:id="rId5"/>
    <p:sldId id="356" r:id="rId6"/>
    <p:sldId id="357" r:id="rId7"/>
    <p:sldId id="358" r:id="rId8"/>
    <p:sldId id="359" r:id="rId9"/>
    <p:sldId id="346" r:id="rId10"/>
    <p:sldId id="360" r:id="rId11"/>
    <p:sldId id="331" r:id="rId12"/>
    <p:sldId id="361" r:id="rId13"/>
    <p:sldId id="31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929" autoAdjust="0"/>
    <p:restoredTop sz="94660"/>
  </p:normalViewPr>
  <p:slideViewPr>
    <p:cSldViewPr snapToGrid="0">
      <p:cViewPr varScale="1">
        <p:scale>
          <a:sx n="86" d="100"/>
          <a:sy n="86" d="100"/>
        </p:scale>
        <p:origin x="149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B94FD-5702-4F25-9A4D-07294FF3292C}" type="datetimeFigureOut">
              <a:rPr lang="en-PH" smtClean="0"/>
              <a:t>16 Jan 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5033A-92B8-453C-88B4-A91D8703A9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42015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5AC51-C568-4371-A28D-D14CF2BCF8BA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38477-70AC-4892-810E-E936ABB30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79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E6AA5-EB8D-18C8-BCC9-A9D33C649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FB56FF-60D3-64CA-52EF-AAC9ED676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5B597B-1F87-99D7-3AC5-38D24A433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5A700-F664-0CE8-4F90-1BDB8B4A53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430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2B6DB-AF60-0F31-6908-4A8487DA7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8146FB-66AE-7D59-4085-0E5821A1D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03E076-63E5-70E9-7F58-03CD59CEF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1E2C1-6D01-D34B-79E3-4F07395505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59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A4B4C-8D21-A567-0CFA-ED2FB5ED0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D4B05F-B48E-DA7F-6B03-4A3F0CDAD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43E32-CF3C-29EB-4D5D-21E906475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01BB6-24B3-2875-6626-7938A114D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23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73514-88C8-B763-D998-363A23299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6DA78-B147-A605-22EE-DA7B86570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17AE05-2963-3052-229B-AEDE7AC3E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70F64-350C-105F-94E0-7E41324FE5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428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8DE1A-7632-B053-5FB0-68A454C25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15116-2B9E-783C-423C-E5DF1357D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863D0-D3CA-6243-B73B-B1D4BF43E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5B2EE-C416-3F64-2AB2-F6E5281C05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908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7819A-9D7E-3E32-3383-BF7516A98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5A960-8E4F-B434-40C2-D5CB482F4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2FB7D-9ACF-A90F-8577-212FA6257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6F5A3-741D-4950-8880-C63144BCCE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182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64AD2-A367-FCDC-253B-2A5C4C584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66C118-A7A8-C748-04AF-9D17480F1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637E5-0348-8378-BB07-225272B29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DADF7-0E3C-5488-CDFD-FEABA55BBE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55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09E07-A799-163A-631B-B9A0A4DA3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CE3F58-AADE-7AC0-A2FE-EBCB20C7A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C1A55-4169-E3D5-FF74-17940E0CE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9A43D-D378-A926-D0DD-C0FE32B2F8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107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8FC0F-A496-55B9-16D7-0216A1354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7A52DD-BF54-6F34-6BF7-2D8D662057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36D799-0037-FB76-FE01-08F8AE33C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4A409-9184-0D4E-37A6-1118E94985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95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F3754-AE1D-97CE-BD7A-0FD5B946F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8DC3C-8505-C679-8E56-3C740BC06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237CE2-A2CF-DF10-5DD2-91761179E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05952-BDE9-C62F-504D-E86E39C62B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345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482D1-5F05-FCE6-93A1-8704BB3A9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F8074-BC41-47BE-A208-90F24E528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F2FC87-95DC-2AE7-F605-38ECDCD87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651D7-0432-DF7E-2430-7FAAAE9A75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534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000066" y="6347892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5000" y="6347893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50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08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97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69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36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1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57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7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1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057E4A9-8BC1-4D03-B0CD-00353C3D487D}"/>
              </a:ext>
            </a:extLst>
          </p:cNvPr>
          <p:cNvSpPr>
            <a:spLocks noGrp="1"/>
          </p:cNvSpPr>
          <p:nvPr userDrawn="1"/>
        </p:nvSpPr>
        <p:spPr>
          <a:xfrm>
            <a:off x="4038600" y="635159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3ICT 2021 - 29-30 September 2021    University of Bahrain</a:t>
            </a:r>
          </a:p>
        </p:txBody>
      </p:sp>
    </p:spTree>
    <p:extLst>
      <p:ext uri="{BB962C8B-B14F-4D97-AF65-F5344CB8AC3E}">
        <p14:creationId xmlns:p14="http://schemas.microsoft.com/office/powerpoint/2010/main" val="2384099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7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7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51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46801"/>
            <a:ext cx="12192000" cy="7112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/>
          <p:cNvSpPr/>
          <p:nvPr userDrawn="1"/>
        </p:nvSpPr>
        <p:spPr>
          <a:xfrm>
            <a:off x="1" y="6354237"/>
            <a:ext cx="12192000" cy="368300"/>
          </a:xfrm>
          <a:prstGeom prst="rect">
            <a:avLst/>
          </a:prstGeom>
          <a:solidFill>
            <a:schemeClr val="tx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SEASONAL DECOMPOSITION</a:t>
            </a:r>
            <a:endParaRPr lang="en-PH" sz="1400" b="1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254977" y="385020"/>
            <a:ext cx="11720146" cy="313266"/>
          </a:xfrm>
          <a:prstGeom prst="rect">
            <a:avLst/>
          </a:prstGeom>
          <a:solidFill>
            <a:srgbClr val="C0000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Arial Black" pitchFamily="34" charset="0"/>
              </a:rPr>
              <a:t>Cognate/Professional Electives</a:t>
            </a:r>
            <a:endParaRPr lang="en-PH" sz="2000" b="1" dirty="0">
              <a:solidFill>
                <a:srgbClr val="0070C0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9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9902" y="1759366"/>
            <a:ext cx="11452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SEASONAL DECOMPOSITION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8029" y="4059278"/>
            <a:ext cx="55559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Renato R. </a:t>
            </a:r>
            <a:r>
              <a:rPr lang="en-US" sz="2000" b="1" dirty="0" err="1"/>
              <a:t>Maaliw</a:t>
            </a:r>
            <a:r>
              <a:rPr lang="en-US" sz="2000" b="1" dirty="0"/>
              <a:t> III, </a:t>
            </a:r>
            <a:r>
              <a:rPr lang="en-US" sz="2000" b="1" i="1" dirty="0"/>
              <a:t>DIT</a:t>
            </a:r>
          </a:p>
          <a:p>
            <a:pPr algn="ctr"/>
            <a:r>
              <a:rPr lang="en-US" sz="2000" i="1" dirty="0"/>
              <a:t>College of Engineering</a:t>
            </a:r>
          </a:p>
          <a:p>
            <a:pPr algn="ctr"/>
            <a:r>
              <a:rPr lang="en-US" sz="2000" i="1" dirty="0"/>
              <a:t>Southern Luzon State University</a:t>
            </a:r>
          </a:p>
          <a:p>
            <a:pPr algn="ctr"/>
            <a:r>
              <a:rPr lang="en-US" sz="2000" dirty="0" err="1"/>
              <a:t>Lucban</a:t>
            </a:r>
            <a:r>
              <a:rPr lang="en-US" sz="2000" dirty="0"/>
              <a:t>, Quezon, Philippines</a:t>
            </a:r>
            <a:endParaRPr lang="en-PH" sz="2000" dirty="0"/>
          </a:p>
        </p:txBody>
      </p:sp>
    </p:spTree>
    <p:extLst>
      <p:ext uri="{BB962C8B-B14F-4D97-AF65-F5344CB8AC3E}">
        <p14:creationId xmlns:p14="http://schemas.microsoft.com/office/powerpoint/2010/main" val="3906540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F58A8-FDC0-6E10-1798-294C939F8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A5270C2-AC7A-6083-D3C9-89E436937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275" y="904875"/>
            <a:ext cx="931545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136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2F149-1C57-0636-71E6-2DC058E8A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63629E-B49B-F150-4358-D3DA821F0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904875"/>
            <a:ext cx="933450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44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3391C-91E1-DA5E-325D-9FDD45B4B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E3C8EB-7EEC-C754-BA1E-B47028CAF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512" y="985837"/>
            <a:ext cx="9324975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117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6BF42-99FF-BF91-EA01-C545E95BA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AEBC20-9519-CFAE-F837-989777694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987" y="995362"/>
            <a:ext cx="9344025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670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FAE4E-67BA-5EE9-0EE3-5AF5A564E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C3DA58-CEF9-9CC0-95BB-B51AAF246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937" y="914400"/>
            <a:ext cx="938212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531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654CC-6B1D-9DCB-6BA4-5136F4C43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CD3819-94B6-7991-5415-A6A4EDFD0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462" y="820860"/>
            <a:ext cx="9363075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038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D09DC-29CA-A214-119C-217D6F834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76F31F-6E38-9838-2775-37C33E90EFB1}"/>
              </a:ext>
            </a:extLst>
          </p:cNvPr>
          <p:cNvSpPr txBox="1"/>
          <p:nvPr/>
        </p:nvSpPr>
        <p:spPr>
          <a:xfrm>
            <a:off x="467556" y="2598003"/>
            <a:ext cx="11452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[CODE DEMO]</a:t>
            </a:r>
          </a:p>
        </p:txBody>
      </p:sp>
    </p:spTree>
    <p:extLst>
      <p:ext uri="{BB962C8B-B14F-4D97-AF65-F5344CB8AC3E}">
        <p14:creationId xmlns:p14="http://schemas.microsoft.com/office/powerpoint/2010/main" val="1534602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FA58A-F216-D3EF-1E0C-3450732A4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849AEC-854C-BBBB-0C4B-5B53B216E0D0}"/>
              </a:ext>
            </a:extLst>
          </p:cNvPr>
          <p:cNvSpPr txBox="1"/>
          <p:nvPr/>
        </p:nvSpPr>
        <p:spPr>
          <a:xfrm>
            <a:off x="909655" y="885546"/>
            <a:ext cx="10282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01. What is the main purpose of applying a seasonal decomposition to a time series before modeling?</a:t>
            </a:r>
            <a:endParaRPr lang="en-PH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CC8540-1453-0C17-3D4F-3566E3483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356377"/>
              </p:ext>
            </p:extLst>
          </p:nvPr>
        </p:nvGraphicFramePr>
        <p:xfrm>
          <a:off x="932463" y="2042666"/>
          <a:ext cx="10135464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To reduce the dimensionality of the dataset for principal component analysis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To separate the series into trend, seasonal, and residual 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To remove autocorrelation completely</a:t>
                      </a:r>
                      <a:endParaRPr lang="en-PH" sz="2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To convert non-stationary data into strictly white noise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169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5214A-2630-C88A-FA5C-C4863D186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40A355-97C9-7327-9455-01B8D96BCEA9}"/>
              </a:ext>
            </a:extLst>
          </p:cNvPr>
          <p:cNvSpPr txBox="1"/>
          <p:nvPr/>
        </p:nvSpPr>
        <p:spPr>
          <a:xfrm>
            <a:off x="909655" y="885546"/>
            <a:ext cx="10282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01. What is the main purpose of applying a seasonal decomposition to a time series before modeling?</a:t>
            </a:r>
            <a:endParaRPr lang="en-PH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9A1A06-FC41-46D5-7EA2-EF89BFB89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664062"/>
              </p:ext>
            </p:extLst>
          </p:nvPr>
        </p:nvGraphicFramePr>
        <p:xfrm>
          <a:off x="932463" y="2042666"/>
          <a:ext cx="10135464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To reduce the dimensionality of the dataset for principal component analysis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To separate the series into trend, seasonal, and residual components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To remove autocorrelation completely</a:t>
                      </a:r>
                      <a:endParaRPr lang="en-PH" sz="2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To convert non-stationary data into strictly white noise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9116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3E7F9-D509-5FAF-774E-ED62BF194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740125-2AB0-B4F1-34CA-1760A27B8311}"/>
              </a:ext>
            </a:extLst>
          </p:cNvPr>
          <p:cNvSpPr txBox="1"/>
          <p:nvPr/>
        </p:nvSpPr>
        <p:spPr>
          <a:xfrm>
            <a:off x="858915" y="1031993"/>
            <a:ext cx="102825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02. When deciding between an additive versus a multiplicative seasonal model, which rule of thumb is most appropriate?</a:t>
            </a:r>
            <a:endParaRPr lang="en-PH" sz="3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510DAC-C0A8-83BC-AC2C-0D0B63FE1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890404"/>
              </p:ext>
            </p:extLst>
          </p:nvPr>
        </p:nvGraphicFramePr>
        <p:xfrm>
          <a:off x="970501" y="2823901"/>
          <a:ext cx="10135464" cy="2499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Always use multiplicative when data are in percentages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439826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Use additive if the seasonal pattern length is &lt;= 12 periods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Choose additive if the amplitude of seasonal swings stays roughly constant over time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Pick the form that gives a higher R-squared in a linear regressions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719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83451-559A-A951-1D7D-1009E8D36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5F5129-257A-F5BD-BBBA-A516ED784E3E}"/>
              </a:ext>
            </a:extLst>
          </p:cNvPr>
          <p:cNvSpPr txBox="1"/>
          <p:nvPr/>
        </p:nvSpPr>
        <p:spPr>
          <a:xfrm>
            <a:off x="858915" y="1031993"/>
            <a:ext cx="102825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02. When deciding between an additive versus a multiplicative seasonal model, which rule of thumb is most appropriate?</a:t>
            </a:r>
            <a:endParaRPr lang="en-PH" sz="3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3218EA-219A-4FEB-8464-C1B5221BF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346915"/>
              </p:ext>
            </p:extLst>
          </p:nvPr>
        </p:nvGraphicFramePr>
        <p:xfrm>
          <a:off x="970501" y="2823901"/>
          <a:ext cx="10135464" cy="2499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Always use multiplicative when data are in percentages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439826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Use additive if the seasonal pattern length is &lt;= 12 periods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Choose additive if the amplitude of seasonal swings stays roughly constant over time</a:t>
                      </a:r>
                      <a:endParaRPr lang="en-PH" sz="28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Pick the form that gives a higher R-squared in a linear regressions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6415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4" y="2562078"/>
            <a:ext cx="10749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Arial" pitchFamily="34" charset="0"/>
                <a:cs typeface="Arial" pitchFamily="34" charset="0"/>
              </a:rPr>
              <a:t>Thank you very much for listening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.</a:t>
            </a:r>
            <a:endParaRPr lang="en-US" sz="32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378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1378</TotalTime>
  <Words>314</Words>
  <Application>Microsoft Office PowerPoint</Application>
  <PresentationFormat>Widescreen</PresentationFormat>
  <Paragraphs>39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Wael Elmedany</dc:creator>
  <cp:lastModifiedBy>Renato Maaliw III</cp:lastModifiedBy>
  <cp:revision>285</cp:revision>
  <dcterms:created xsi:type="dcterms:W3CDTF">2018-09-30T06:22:05Z</dcterms:created>
  <dcterms:modified xsi:type="dcterms:W3CDTF">2026-01-16T05:10:26Z</dcterms:modified>
</cp:coreProperties>
</file>