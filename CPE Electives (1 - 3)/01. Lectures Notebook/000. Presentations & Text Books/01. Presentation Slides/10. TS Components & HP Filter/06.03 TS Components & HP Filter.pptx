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8"/>
  </p:notesMasterIdLst>
  <p:handoutMasterIdLst>
    <p:handoutMasterId r:id="rId19"/>
  </p:handoutMasterIdLst>
  <p:sldIdLst>
    <p:sldId id="258" r:id="rId2"/>
    <p:sldId id="370" r:id="rId3"/>
    <p:sldId id="371" r:id="rId4"/>
    <p:sldId id="372" r:id="rId5"/>
    <p:sldId id="373" r:id="rId6"/>
    <p:sldId id="374" r:id="rId7"/>
    <p:sldId id="375" r:id="rId8"/>
    <p:sldId id="377" r:id="rId9"/>
    <p:sldId id="378" r:id="rId10"/>
    <p:sldId id="379" r:id="rId11"/>
    <p:sldId id="380" r:id="rId12"/>
    <p:sldId id="381" r:id="rId13"/>
    <p:sldId id="369" r:id="rId14"/>
    <p:sldId id="346" r:id="rId15"/>
    <p:sldId id="382" r:id="rId16"/>
    <p:sldId id="31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30 Jan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9E07-A799-163A-631B-B9A0A4DA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E3F58-AADE-7AC0-A2FE-EBCB20C7A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C1A55-4169-E3D5-FF74-17940E0C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A43D-D378-A926-D0DD-C0FE32B2F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7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3062-373C-3190-45BC-71C5B4FB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CA3F3-4542-0B79-5EDC-A225FC942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E54C5-FA5B-09ED-9568-A6AB30189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ACE60-F8A9-D284-C0DB-F73DCFDE6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TIME SERIES COMPONENTS &amp; HP FILTER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759366"/>
            <a:ext cx="11452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Time Series Components &amp;</a:t>
            </a:r>
          </a:p>
          <a:p>
            <a:pPr algn="ctr"/>
            <a:r>
              <a:rPr lang="en-US" sz="4800" b="1" dirty="0" err="1"/>
              <a:t>Hodrick</a:t>
            </a:r>
            <a:r>
              <a:rPr lang="en-US" sz="4800" b="1" dirty="0"/>
              <a:t>-Prescott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Trends</a:t>
            </a:r>
          </a:p>
          <a:p>
            <a:endParaRPr lang="en-US" sz="2400" b="1" dirty="0"/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represents long-term, gradual movement of time series (TS)</a:t>
            </a:r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indicates whether the data is increasing, decreasing, or stable over time</a:t>
            </a:r>
            <a:endParaRPr lang="en-PH" sz="44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911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Trends (Examples)</a:t>
            </a:r>
          </a:p>
          <a:p>
            <a:endParaRPr lang="en-US" sz="2400" b="1" dirty="0"/>
          </a:p>
          <a:p>
            <a:r>
              <a:rPr lang="en-US" sz="3200" dirty="0">
                <a:latin typeface="+mj-lt"/>
                <a:cs typeface="Arial" pitchFamily="34" charset="0"/>
              </a:rPr>
              <a:t>1. Stock market index: Long-term upward trend due to economic growth</a:t>
            </a:r>
          </a:p>
          <a:p>
            <a:endParaRPr lang="en-US" sz="3200" dirty="0">
              <a:latin typeface="+mj-lt"/>
              <a:cs typeface="Arial" pitchFamily="34" charset="0"/>
            </a:endParaRPr>
          </a:p>
          <a:p>
            <a:r>
              <a:rPr lang="en-US" sz="3200" dirty="0">
                <a:latin typeface="+mj-lt"/>
                <a:cs typeface="Arial" pitchFamily="34" charset="0"/>
              </a:rPr>
              <a:t>2. Global temperature: Upward trend due to climate change</a:t>
            </a:r>
          </a:p>
          <a:p>
            <a:endParaRPr lang="en-US" sz="3200" dirty="0">
              <a:latin typeface="+mj-lt"/>
              <a:cs typeface="Arial" pitchFamily="34" charset="0"/>
            </a:endParaRPr>
          </a:p>
          <a:p>
            <a:r>
              <a:rPr lang="en-US" sz="3200" dirty="0">
                <a:latin typeface="+mj-lt"/>
                <a:cs typeface="Arial" pitchFamily="34" charset="0"/>
              </a:rPr>
              <a:t>3. E-Commerce sales: Increasing trend due to digital adoption</a:t>
            </a:r>
          </a:p>
        </p:txBody>
      </p:sp>
    </p:spTree>
    <p:extLst>
      <p:ext uri="{BB962C8B-B14F-4D97-AF65-F5344CB8AC3E}">
        <p14:creationId xmlns:p14="http://schemas.microsoft.com/office/powerpoint/2010/main" val="184712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Seasonality</a:t>
            </a:r>
          </a:p>
          <a:p>
            <a:endParaRPr lang="en-US" sz="2400" b="1" dirty="0"/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refers to regular, predictable patterns in a TS that occur at fixed intervals (daily, weekly, monthly, yearly)</a:t>
            </a:r>
          </a:p>
        </p:txBody>
      </p:sp>
    </p:spTree>
    <p:extLst>
      <p:ext uri="{BB962C8B-B14F-4D97-AF65-F5344CB8AC3E}">
        <p14:creationId xmlns:p14="http://schemas.microsoft.com/office/powerpoint/2010/main" val="108203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Seasonality (Key Characteristics)</a:t>
            </a:r>
          </a:p>
          <a:p>
            <a:endParaRPr lang="en-US" sz="2400" b="1" dirty="0"/>
          </a:p>
          <a:p>
            <a:r>
              <a:rPr lang="en-US" sz="3200" dirty="0">
                <a:latin typeface="+mj-lt"/>
                <a:cs typeface="Arial" pitchFamily="34" charset="0"/>
              </a:rPr>
              <a:t>1. Fixed, known intervals (e.g. every 12 months)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2. Short-term fluctuations that repeat periodically</a:t>
            </a:r>
          </a:p>
        </p:txBody>
      </p:sp>
    </p:spTree>
    <p:extLst>
      <p:ext uri="{BB962C8B-B14F-4D97-AF65-F5344CB8AC3E}">
        <p14:creationId xmlns:p14="http://schemas.microsoft.com/office/powerpoint/2010/main" val="53315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Seasonality (Examples)</a:t>
            </a:r>
          </a:p>
          <a:p>
            <a:endParaRPr lang="en-US" sz="2400" b="1" dirty="0"/>
          </a:p>
          <a:p>
            <a:r>
              <a:rPr lang="en-US" sz="3200" dirty="0">
                <a:latin typeface="+mj-lt"/>
                <a:cs typeface="Arial" pitchFamily="34" charset="0"/>
              </a:rPr>
              <a:t>1. Retail sales: Higher in December due to Christmas season 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2. Electricity demand: Peaks in summer and winter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3. Tourism industry: More visitors in summer, fewer in winter</a:t>
            </a:r>
          </a:p>
        </p:txBody>
      </p:sp>
    </p:spTree>
    <p:extLst>
      <p:ext uri="{BB962C8B-B14F-4D97-AF65-F5344CB8AC3E}">
        <p14:creationId xmlns:p14="http://schemas.microsoft.com/office/powerpoint/2010/main" val="273967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Cyclical Patterns</a:t>
            </a:r>
          </a:p>
          <a:p>
            <a:endParaRPr lang="en-US" sz="2400" b="1" dirty="0"/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refers to long-term, irregular fluctuations that do not follow a fixed schedule</a:t>
            </a:r>
          </a:p>
          <a:p>
            <a:pPr marL="571500" indent="-571500">
              <a:buFontTx/>
              <a:buChar char="-"/>
            </a:pPr>
            <a:r>
              <a:rPr lang="en-US" sz="4400" dirty="0">
                <a:latin typeface="+mj-lt"/>
                <a:cs typeface="Arial" pitchFamily="34" charset="0"/>
              </a:rPr>
              <a:t>larger time scale (years to decades)</a:t>
            </a:r>
            <a:endParaRPr lang="en-PH" sz="44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35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Cyclical Patterns (Key Characteristics)</a:t>
            </a:r>
          </a:p>
          <a:p>
            <a:endParaRPr lang="en-US" sz="2400" b="1" dirty="0"/>
          </a:p>
          <a:p>
            <a:r>
              <a:rPr lang="en-US" sz="3200" dirty="0">
                <a:latin typeface="+mj-lt"/>
                <a:cs typeface="Arial" pitchFamily="34" charset="0"/>
              </a:rPr>
              <a:t>1. No fixed period, it varies in length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2. Influenced by external factors (economy, crises, policies)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3. Can be seen often in business cycle analysis or decomposition methods</a:t>
            </a:r>
          </a:p>
        </p:txBody>
      </p:sp>
    </p:spTree>
    <p:extLst>
      <p:ext uri="{BB962C8B-B14F-4D97-AF65-F5344CB8AC3E}">
        <p14:creationId xmlns:p14="http://schemas.microsoft.com/office/powerpoint/2010/main" val="157315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Cyclical Pattern (Examples)</a:t>
            </a:r>
          </a:p>
          <a:p>
            <a:endParaRPr lang="en-US" sz="2400" b="1" dirty="0"/>
          </a:p>
          <a:p>
            <a:r>
              <a:rPr lang="en-US" sz="3200" dirty="0">
                <a:latin typeface="+mj-lt"/>
                <a:cs typeface="Arial" pitchFamily="34" charset="0"/>
              </a:rPr>
              <a:t>1. Stock market cycles: Bull and bear markets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2. Economic recession: Boom and bust cycles</a:t>
            </a:r>
          </a:p>
          <a:p>
            <a:r>
              <a:rPr lang="en-US" sz="3200" dirty="0">
                <a:latin typeface="+mj-lt"/>
                <a:cs typeface="Arial" pitchFamily="34" charset="0"/>
              </a:rPr>
              <a:t>3. Real estate market: Housing price cycles</a:t>
            </a:r>
          </a:p>
        </p:txBody>
      </p:sp>
    </p:spTree>
    <p:extLst>
      <p:ext uri="{BB962C8B-B14F-4D97-AF65-F5344CB8AC3E}">
        <p14:creationId xmlns:p14="http://schemas.microsoft.com/office/powerpoint/2010/main" val="181741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F8BE9-F831-4ED4-977F-DC1AD5AAD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1058984"/>
            <a:ext cx="92392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2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/>
              <a:t>Hodrick-Presscot</a:t>
            </a:r>
            <a:r>
              <a:rPr lang="en-US" sz="4400" b="1" dirty="0"/>
              <a:t> Filter (HP Filter)</a:t>
            </a:r>
          </a:p>
          <a:p>
            <a:endParaRPr lang="en-US" sz="4400" b="1" dirty="0"/>
          </a:p>
          <a:p>
            <a:r>
              <a:rPr lang="en-US" sz="4400" dirty="0"/>
              <a:t>The HP filter is a mathematical tool used in time series analysis to separate a time series into its trend and cyclical components.</a:t>
            </a:r>
          </a:p>
        </p:txBody>
      </p:sp>
    </p:spTree>
    <p:extLst>
      <p:ext uri="{BB962C8B-B14F-4D97-AF65-F5344CB8AC3E}">
        <p14:creationId xmlns:p14="http://schemas.microsoft.com/office/powerpoint/2010/main" val="3016009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/>
              <a:t>Hodrick-Presscot</a:t>
            </a:r>
            <a:r>
              <a:rPr lang="en-US" sz="4400" b="1" dirty="0"/>
              <a:t> Filter (HP Filter) Usage:</a:t>
            </a:r>
          </a:p>
          <a:p>
            <a:endParaRPr lang="en-US" sz="4400" b="1" dirty="0"/>
          </a:p>
          <a:p>
            <a:pPr marL="514350" indent="-514350">
              <a:buAutoNum type="arabicPeriod"/>
            </a:pPr>
            <a:r>
              <a:rPr lang="en-US" sz="2800" dirty="0"/>
              <a:t>Extract the long-term trend from a TS by smoothing out short-term fluctuations</a:t>
            </a:r>
          </a:p>
          <a:p>
            <a:pPr marL="514350" indent="-514350">
              <a:buAutoNum type="arabicPeriod"/>
            </a:pPr>
            <a:r>
              <a:rPr lang="en-US" sz="2800" dirty="0"/>
              <a:t>Isolate the cyclical component to analyze deviations from the trend</a:t>
            </a:r>
          </a:p>
          <a:p>
            <a:pPr marL="514350" indent="-514350">
              <a:buAutoNum type="arabicPeriod"/>
            </a:pPr>
            <a:r>
              <a:rPr lang="en-US" sz="2800" dirty="0"/>
              <a:t>Provide a flexible method for decomposing time series without requiring predefined models</a:t>
            </a:r>
          </a:p>
        </p:txBody>
      </p:sp>
    </p:spTree>
    <p:extLst>
      <p:ext uri="{BB962C8B-B14F-4D97-AF65-F5344CB8AC3E}">
        <p14:creationId xmlns:p14="http://schemas.microsoft.com/office/powerpoint/2010/main" val="2266386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2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A58A-F216-D3EF-1E0C-3450732A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49AEC-854C-BBBB-0C4B-5B53B216E0D0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Base on standard practice, the lambda value for monthly, quarterly, and annual for an HP-Filter are?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C8540-1453-0C17-3D4F-3566E3483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224768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129600, 1600, 6.25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6.25, 1600, 129600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129600, 6.25, 1600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1600, 129600, 6.25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16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9187-0094-2764-776C-A89574F8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9CD373-14F2-33BA-FAF9-5A7BFEB7C411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Base on standard practice, the lambda value for monthly, quarterly, and annual for an HP-Filter are?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1DDA5-5F66-F5CB-D180-A7A405C5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91560"/>
              </p:ext>
            </p:extLst>
          </p:nvPr>
        </p:nvGraphicFramePr>
        <p:xfrm>
          <a:off x="983203" y="2468794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129600, 1600, 6.25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6.25, 1600, 129600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129600, 6.25, 1600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1600, 129600, 6.25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817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1215</TotalTime>
  <Words>463</Words>
  <Application>Microsoft Office PowerPoint</Application>
  <PresentationFormat>Widescreen</PresentationFormat>
  <Paragraphs>66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261</cp:revision>
  <dcterms:created xsi:type="dcterms:W3CDTF">2018-09-30T06:22:05Z</dcterms:created>
  <dcterms:modified xsi:type="dcterms:W3CDTF">2026-01-30T02:29:36Z</dcterms:modified>
</cp:coreProperties>
</file>