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4"/>
  </p:notesMasterIdLst>
  <p:handoutMasterIdLst>
    <p:handoutMasterId r:id="rId15"/>
  </p:handoutMasterIdLst>
  <p:sldIdLst>
    <p:sldId id="258" r:id="rId2"/>
    <p:sldId id="370" r:id="rId3"/>
    <p:sldId id="395" r:id="rId4"/>
    <p:sldId id="396" r:id="rId5"/>
    <p:sldId id="397" r:id="rId6"/>
    <p:sldId id="398" r:id="rId7"/>
    <p:sldId id="399" r:id="rId8"/>
    <p:sldId id="400" r:id="rId9"/>
    <p:sldId id="392" r:id="rId10"/>
    <p:sldId id="346" r:id="rId11"/>
    <p:sldId id="401" r:id="rId12"/>
    <p:sldId id="31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742" autoAdjust="0"/>
    <p:restoredTop sz="94660"/>
  </p:normalViewPr>
  <p:slideViewPr>
    <p:cSldViewPr snapToGrid="0">
      <p:cViewPr varScale="1">
        <p:scale>
          <a:sx n="86" d="100"/>
          <a:sy n="86" d="100"/>
        </p:scale>
        <p:origin x="298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67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B94FD-5702-4F25-9A4D-07294FF3292C}" type="datetimeFigureOut">
              <a:rPr lang="en-PH" smtClean="0"/>
              <a:t>30 Jan 2026</a:t>
            </a:fld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B5033A-92B8-453C-88B4-A91D8703A97C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4201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5AC51-C568-4371-A28D-D14CF2BCF8BA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838477-70AC-4892-810E-E936ABB30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525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79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9E07-A799-163A-631B-B9A0A4DA3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CE3F58-AADE-7AC0-A2FE-EBCB20C7A6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C1A55-4169-E3D5-FF74-17940E0CE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A43D-D378-A926-D0DD-C0FE32B2F8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1077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2802B-2355-A133-6801-131BB31C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AC7F1A-F71D-1512-C6CD-71C1BE318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E0925-DDD6-E0D5-651E-0D8A5521D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05FB5-2525-2B09-0A9F-F85AFC43B1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0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34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000066" y="6347892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5000" y="6347893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50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08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97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69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3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336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513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57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9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177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1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057E4A9-8BC1-4D03-B0CD-00353C3D487D}"/>
              </a:ext>
            </a:extLst>
          </p:cNvPr>
          <p:cNvSpPr>
            <a:spLocks noGrp="1"/>
          </p:cNvSpPr>
          <p:nvPr userDrawn="1"/>
        </p:nvSpPr>
        <p:spPr>
          <a:xfrm>
            <a:off x="4038600" y="635159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rgbClr val="FFC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3ICT 2021 - 29-30 September 2021    University of Bahrain</a:t>
            </a:r>
          </a:p>
        </p:txBody>
      </p:sp>
    </p:spTree>
    <p:extLst>
      <p:ext uri="{BB962C8B-B14F-4D97-AF65-F5344CB8AC3E}">
        <p14:creationId xmlns:p14="http://schemas.microsoft.com/office/powerpoint/2010/main" val="2384099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7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7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751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146801"/>
            <a:ext cx="12192000" cy="711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/>
          <p:cNvSpPr/>
          <p:nvPr userDrawn="1"/>
        </p:nvSpPr>
        <p:spPr>
          <a:xfrm>
            <a:off x="1" y="6354237"/>
            <a:ext cx="12192000" cy="368300"/>
          </a:xfrm>
          <a:prstGeom prst="rect">
            <a:avLst/>
          </a:prstGeom>
          <a:solidFill>
            <a:schemeClr val="tx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STL DECOMPOSITION</a:t>
            </a:r>
            <a:endParaRPr lang="en-PH" sz="1400" b="1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254977" y="385020"/>
            <a:ext cx="11720146" cy="313266"/>
          </a:xfrm>
          <a:prstGeom prst="rect">
            <a:avLst/>
          </a:prstGeom>
          <a:solidFill>
            <a:srgbClr val="C0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rial Black" pitchFamily="34" charset="0"/>
              </a:rPr>
              <a:t>Cognate/Professional Electives</a:t>
            </a:r>
            <a:endParaRPr lang="en-PH" sz="2000" b="1" dirty="0">
              <a:solidFill>
                <a:srgbClr val="0070C0"/>
              </a:solidFill>
              <a:latin typeface="Arial Black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79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9902" y="1759366"/>
            <a:ext cx="11452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STL Decomposition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8029" y="4059278"/>
            <a:ext cx="55559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Renato R. </a:t>
            </a:r>
            <a:r>
              <a:rPr lang="en-US" sz="2000" b="1" dirty="0" err="1"/>
              <a:t>Maaliw</a:t>
            </a:r>
            <a:r>
              <a:rPr lang="en-US" sz="2000" b="1" dirty="0"/>
              <a:t> III, </a:t>
            </a:r>
            <a:r>
              <a:rPr lang="en-US" sz="2000" b="1" i="1" dirty="0"/>
              <a:t>DIT</a:t>
            </a:r>
          </a:p>
          <a:p>
            <a:pPr algn="ctr"/>
            <a:r>
              <a:rPr lang="en-US" sz="2000" i="1" dirty="0"/>
              <a:t>College of Engineering</a:t>
            </a:r>
          </a:p>
          <a:p>
            <a:pPr algn="ctr"/>
            <a:r>
              <a:rPr lang="en-US" sz="2000" i="1" dirty="0"/>
              <a:t>Southern Luzon State University</a:t>
            </a:r>
          </a:p>
          <a:p>
            <a:pPr algn="ctr"/>
            <a:r>
              <a:rPr lang="en-US" sz="2000" dirty="0" err="1"/>
              <a:t>Lucban</a:t>
            </a:r>
            <a:r>
              <a:rPr lang="en-US" sz="2000" dirty="0"/>
              <a:t>, Quezon, Philippines</a:t>
            </a:r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3906540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43093" y="1185878"/>
            <a:ext cx="10558668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STL</a:t>
            </a:r>
          </a:p>
          <a:p>
            <a:endParaRPr lang="en-US" sz="2400" b="1" dirty="0"/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Seasonal-Trend Decomposition using LOESS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Uses locally weighted regression for smoothing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Allows flexible seasonality adjustments</a:t>
            </a:r>
            <a:endParaRPr lang="en-PH" sz="4000" dirty="0">
              <a:latin typeface="+mj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0911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43093" y="1185878"/>
            <a:ext cx="10558668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STL</a:t>
            </a:r>
          </a:p>
          <a:p>
            <a:endParaRPr lang="en-US" sz="2400" b="1" dirty="0"/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Better than traditional methods (like ETS)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It can handle changing seasonality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Robust to outliers</a:t>
            </a:r>
            <a:endParaRPr lang="en-PH" sz="4000" dirty="0">
              <a:latin typeface="+mj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425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DE8C818-D8F1-465A-8BDF-48DA6F9E2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020" y="1306911"/>
            <a:ext cx="9584047" cy="367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876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43093" y="1185878"/>
            <a:ext cx="10558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Key Benefits of STL</a:t>
            </a:r>
          </a:p>
          <a:p>
            <a:endParaRPr lang="en-US" sz="2400" b="1" dirty="0"/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Handles complex seasonality (climate, traffic)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Works with irregular time series (non-uniform observations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More accurate that traditional methods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+mj-lt"/>
                <a:cs typeface="Arial" pitchFamily="34" charset="0"/>
              </a:rPr>
              <a:t>Robust to outliers</a:t>
            </a:r>
            <a:endParaRPr lang="en-PH" sz="4000" dirty="0">
              <a:latin typeface="+mj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145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824C18-1416-4AF4-9A2E-66CED4BFB4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4" y="873684"/>
            <a:ext cx="6336124" cy="5433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7E1C40-2263-4297-8E5F-27CEE27F3B81}"/>
              </a:ext>
            </a:extLst>
          </p:cNvPr>
          <p:cNvSpPr txBox="1"/>
          <p:nvPr/>
        </p:nvSpPr>
        <p:spPr>
          <a:xfrm>
            <a:off x="6957462" y="776026"/>
            <a:ext cx="4894654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Trend</a:t>
            </a:r>
          </a:p>
          <a:p>
            <a:endParaRPr lang="en-US" sz="1600" b="1" dirty="0"/>
          </a:p>
          <a:p>
            <a:r>
              <a:rPr lang="en-US" sz="2400" b="1" dirty="0"/>
              <a:t>ETS:</a:t>
            </a:r>
          </a:p>
          <a:p>
            <a:r>
              <a:rPr lang="en-US" sz="2400" dirty="0"/>
              <a:t>Rigid and smooth</a:t>
            </a:r>
          </a:p>
          <a:p>
            <a:r>
              <a:rPr lang="en-US" sz="2400" dirty="0"/>
              <a:t>Works well when trend is steady</a:t>
            </a:r>
          </a:p>
          <a:p>
            <a:endParaRPr lang="en-US" sz="2400" dirty="0"/>
          </a:p>
          <a:p>
            <a:r>
              <a:rPr lang="en-US" sz="2400" b="1" dirty="0"/>
              <a:t>STL</a:t>
            </a:r>
          </a:p>
          <a:p>
            <a:r>
              <a:rPr lang="en-US" sz="2400" dirty="0"/>
              <a:t>Flexible, captures variations better</a:t>
            </a:r>
          </a:p>
          <a:p>
            <a:r>
              <a:rPr lang="en-US" sz="2400" dirty="0"/>
              <a:t>Can detect local trend shifts that ETS might smooth out too aggressively</a:t>
            </a:r>
          </a:p>
          <a:p>
            <a:endParaRPr lang="en-US" sz="2400" dirty="0"/>
          </a:p>
          <a:p>
            <a:r>
              <a:rPr lang="en-US" sz="2400" dirty="0"/>
              <a:t>* If you need smooth forecast, ETS is better. If your trend changes over time, STL is better *</a:t>
            </a:r>
          </a:p>
          <a:p>
            <a:endParaRPr lang="en-US" sz="2400" dirty="0"/>
          </a:p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02519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824C18-1416-4AF4-9A2E-66CED4BFB4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4" y="873684"/>
            <a:ext cx="6336124" cy="5433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7E1C40-2263-4297-8E5F-27CEE27F3B81}"/>
              </a:ext>
            </a:extLst>
          </p:cNvPr>
          <p:cNvSpPr txBox="1"/>
          <p:nvPr/>
        </p:nvSpPr>
        <p:spPr>
          <a:xfrm>
            <a:off x="6957462" y="811538"/>
            <a:ext cx="4894654" cy="5740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Seasonality</a:t>
            </a:r>
          </a:p>
          <a:p>
            <a:endParaRPr lang="en-US" sz="1600" b="1" dirty="0"/>
          </a:p>
          <a:p>
            <a:r>
              <a:rPr lang="en-US" sz="2400" b="1" dirty="0"/>
              <a:t>ETS:</a:t>
            </a:r>
          </a:p>
          <a:p>
            <a:r>
              <a:rPr lang="en-US" sz="2000" dirty="0"/>
              <a:t>Seasonality is fixed, it assumes same seasonal pattern throughout.</a:t>
            </a:r>
          </a:p>
          <a:p>
            <a:r>
              <a:rPr lang="en-US" sz="2000" dirty="0"/>
              <a:t>If seasonality changes over time, ETS might not capture it well.</a:t>
            </a:r>
          </a:p>
          <a:p>
            <a:endParaRPr lang="en-US" sz="1100" dirty="0"/>
          </a:p>
          <a:p>
            <a:r>
              <a:rPr lang="en-US" sz="2400" b="1" dirty="0"/>
              <a:t>STL</a:t>
            </a:r>
          </a:p>
          <a:p>
            <a:r>
              <a:rPr lang="en-US" sz="2000" dirty="0"/>
              <a:t>Seasonality is more flexible &amp; adjusts slightly over time.</a:t>
            </a:r>
          </a:p>
          <a:p>
            <a:r>
              <a:rPr lang="en-US" sz="2000" dirty="0"/>
              <a:t>Allows for shifting seasonal effects, making it better for handling seasonality changes</a:t>
            </a:r>
          </a:p>
          <a:p>
            <a:endParaRPr lang="en-US" sz="2000" dirty="0"/>
          </a:p>
          <a:p>
            <a:r>
              <a:rPr lang="en-US" sz="2000" dirty="0"/>
              <a:t>* If seasonality remains constant, ETS is good. If seasonality shifts over time, STL is better *</a:t>
            </a:r>
            <a:endParaRPr lang="en-US" sz="2400" dirty="0"/>
          </a:p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316109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824C18-1416-4AF4-9A2E-66CED4BFB4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4" y="873684"/>
            <a:ext cx="6336124" cy="5433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7E1C40-2263-4297-8E5F-27CEE27F3B81}"/>
              </a:ext>
            </a:extLst>
          </p:cNvPr>
          <p:cNvSpPr txBox="1"/>
          <p:nvPr/>
        </p:nvSpPr>
        <p:spPr>
          <a:xfrm>
            <a:off x="6957462" y="811538"/>
            <a:ext cx="4894654" cy="475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Residual</a:t>
            </a:r>
          </a:p>
          <a:p>
            <a:endParaRPr lang="en-US" sz="1600" b="1" dirty="0"/>
          </a:p>
          <a:p>
            <a:r>
              <a:rPr lang="en-US" sz="2400" b="1" dirty="0"/>
              <a:t>ETS:</a:t>
            </a:r>
          </a:p>
          <a:p>
            <a:r>
              <a:rPr lang="en-US" sz="2000" dirty="0"/>
              <a:t>More structured, it might not fully capture some variations.</a:t>
            </a:r>
          </a:p>
          <a:p>
            <a:r>
              <a:rPr lang="en-US" sz="2000" dirty="0"/>
              <a:t>This could lead to autocorrelated residuals, which is not ideal.</a:t>
            </a:r>
          </a:p>
          <a:p>
            <a:endParaRPr lang="en-US" sz="1100" dirty="0"/>
          </a:p>
          <a:p>
            <a:r>
              <a:rPr lang="en-US" sz="2400" b="1" dirty="0"/>
              <a:t>STL</a:t>
            </a:r>
          </a:p>
          <a:p>
            <a:r>
              <a:rPr lang="en-US" sz="2000" dirty="0"/>
              <a:t>The residuals look more random, meaning it has done a better job of extracting trend and seasonality, making it robust to outliers.</a:t>
            </a:r>
          </a:p>
          <a:p>
            <a:endParaRPr lang="en-US" sz="2000" dirty="0"/>
          </a:p>
          <a:p>
            <a:r>
              <a:rPr lang="en-US" sz="2000" dirty="0"/>
              <a:t>* If your data has sudden changes or outliers, STL is better. If your data is stable, ETS is fine.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74877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21364" y="2562078"/>
            <a:ext cx="107492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rial" pitchFamily="34" charset="0"/>
                <a:cs typeface="Arial" pitchFamily="34" charset="0"/>
              </a:rPr>
              <a:t>[Code Demo]</a:t>
            </a:r>
            <a:endParaRPr lang="en-US" sz="32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7728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FA58A-F216-D3EF-1E0C-3450732A4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849AEC-854C-BBBB-0C4B-5B53B216E0D0}"/>
              </a:ext>
            </a:extLst>
          </p:cNvPr>
          <p:cNvSpPr txBox="1"/>
          <p:nvPr/>
        </p:nvSpPr>
        <p:spPr>
          <a:xfrm>
            <a:off x="909655" y="885546"/>
            <a:ext cx="102825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01. One of the key advantage of STL decomposition is its flexibility. Which feature illustrates this?</a:t>
            </a:r>
            <a:endParaRPr lang="en-PH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CC8540-1453-0C17-3D4F-3566E34837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936017"/>
              </p:ext>
            </p:extLst>
          </p:nvPr>
        </p:nvGraphicFramePr>
        <p:xfrm>
          <a:off x="909655" y="1953893"/>
          <a:ext cx="10135464" cy="3779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It requires specifying only one smoothing parameter for the entire series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It produces forecasts that are more accurate than ETS models 100% of the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It allows seasonal component to change by using locally weighted smoothing</a:t>
                      </a:r>
                      <a:endParaRPr lang="en-PH" sz="2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It can handle any type of seasonality automatically without user </a:t>
                      </a:r>
                      <a:r>
                        <a:rPr lang="en-US" sz="2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inpute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169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0D59E-7C4A-EAB9-3ECA-84E9911C3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8EC54E-114D-B218-B474-F811402A7DDA}"/>
              </a:ext>
            </a:extLst>
          </p:cNvPr>
          <p:cNvSpPr txBox="1"/>
          <p:nvPr/>
        </p:nvSpPr>
        <p:spPr>
          <a:xfrm>
            <a:off x="909655" y="885546"/>
            <a:ext cx="102825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01. One of the key advantage of STL decomposition is its flexibility. Which feature illustrates this?</a:t>
            </a:r>
            <a:endParaRPr lang="en-PH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A75FC4-56D2-C8AE-1BFB-FAE8440A0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141066"/>
              </p:ext>
            </p:extLst>
          </p:nvPr>
        </p:nvGraphicFramePr>
        <p:xfrm>
          <a:off x="909655" y="1953893"/>
          <a:ext cx="10135464" cy="3779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It requires specifying only one smoothing parameter for the entire series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It produces forecasts that are more accurate than ETS models 100% of the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It allows seasonal component to change by using locally weighted smoothing</a:t>
                      </a:r>
                      <a:endParaRPr lang="en-PH" sz="28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It can handle any type of seasonality automatically without user </a:t>
                      </a:r>
                      <a:r>
                        <a:rPr lang="en-US" sz="2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inpute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9112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21364" y="2562078"/>
            <a:ext cx="107492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rial" pitchFamily="34" charset="0"/>
                <a:cs typeface="Arial" pitchFamily="34" charset="0"/>
              </a:rPr>
              <a:t>Thank you very much for listening</a:t>
            </a:r>
            <a:r>
              <a:rPr lang="en-US" sz="3200" b="1" dirty="0">
                <a:latin typeface="Arial" pitchFamily="34" charset="0"/>
                <a:cs typeface="Arial" pitchFamily="34" charset="0"/>
              </a:rPr>
              <a:t>.</a:t>
            </a:r>
            <a:endParaRPr lang="en-US" sz="32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378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1312</TotalTime>
  <Words>444</Words>
  <Application>Microsoft Office PowerPoint</Application>
  <PresentationFormat>Widescreen</PresentationFormat>
  <Paragraphs>68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Wael Elmedany</dc:creator>
  <cp:lastModifiedBy>Renato Maaliw III</cp:lastModifiedBy>
  <cp:revision>274</cp:revision>
  <dcterms:created xsi:type="dcterms:W3CDTF">2018-09-30T06:22:05Z</dcterms:created>
  <dcterms:modified xsi:type="dcterms:W3CDTF">2026-01-30T02:52:15Z</dcterms:modified>
</cp:coreProperties>
</file>