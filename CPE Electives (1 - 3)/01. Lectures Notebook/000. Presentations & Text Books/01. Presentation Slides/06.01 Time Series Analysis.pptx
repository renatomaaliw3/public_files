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33"/>
  </p:notesMasterIdLst>
  <p:handoutMasterIdLst>
    <p:handoutMasterId r:id="rId34"/>
  </p:handoutMasterIdLst>
  <p:sldIdLst>
    <p:sldId id="258" r:id="rId2"/>
    <p:sldId id="315" r:id="rId3"/>
    <p:sldId id="316" r:id="rId4"/>
    <p:sldId id="318" r:id="rId5"/>
    <p:sldId id="330" r:id="rId6"/>
    <p:sldId id="317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45" r:id="rId19"/>
    <p:sldId id="346" r:id="rId20"/>
    <p:sldId id="331" r:id="rId21"/>
    <p:sldId id="342" r:id="rId22"/>
    <p:sldId id="343" r:id="rId23"/>
    <p:sldId id="344" r:id="rId24"/>
    <p:sldId id="347" r:id="rId25"/>
    <p:sldId id="349" r:id="rId26"/>
    <p:sldId id="348" r:id="rId27"/>
    <p:sldId id="350" r:id="rId28"/>
    <p:sldId id="351" r:id="rId29"/>
    <p:sldId id="352" r:id="rId30"/>
    <p:sldId id="353" r:id="rId31"/>
    <p:sldId id="314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42" autoAdjust="0"/>
    <p:restoredTop sz="94660"/>
  </p:normalViewPr>
  <p:slideViewPr>
    <p:cSldViewPr snapToGrid="0">
      <p:cViewPr varScale="1">
        <p:scale>
          <a:sx n="86" d="100"/>
          <a:sy n="86" d="100"/>
        </p:scale>
        <p:origin x="298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B94FD-5702-4F25-9A4D-07294FF3292C}" type="datetimeFigureOut">
              <a:rPr lang="en-PH" smtClean="0"/>
              <a:t>16 Jan 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5033A-92B8-453C-88B4-A91D8703A97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42015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5AC51-C568-4371-A28D-D14CF2BCF8BA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38477-70AC-4892-810E-E936ABB30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79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6AA5-EB8D-18C8-BCC9-A9D33C649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B56FF-60D3-64CA-52EF-AAC9ED676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B597B-1F87-99D7-3AC5-38D24A433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75A700-F664-0CE8-4F90-1BDB8B4A5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30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4DFB5-AE26-2709-F677-989CE7183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9BD9F5-2C49-5256-401C-ACF5C1E8A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1EC6D-81C4-18B9-3C54-02776F49A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A9FAD-AA2A-8B09-DF25-7EDBC9E8D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0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2EBB0-DD2D-6BDA-9E6B-D093B08A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E9953-1EA0-30B1-74C8-4C6CE5A66B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C730B-E5A0-93C8-7D2A-F055BCCC7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A0D27-66C4-BFE4-F9E7-6B6B7F8BB6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87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B6EE6-5B29-ACFE-4DED-AB8999225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69A75-9A5D-FEDF-997F-02BA5D143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8FF76-04B3-8201-2911-E975702EA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98B08-F964-1A22-4FD4-B27C78E2A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95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723A-42FD-10EA-CFCE-05EE09581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FAF919-69B0-B5C8-7D9F-382F6B3DB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D5DF1-0742-894D-D753-80258E446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AF0D4-8743-C519-72CB-D7C3D0B89B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004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9C97-9C9B-4A5D-4436-E56E351A6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7D484-F5A9-0D5E-7A7D-3CE6E8A80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6651B-D86E-114D-98BE-2C7A7BC5D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63751-C951-1A5B-DB64-730CC0A8C7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442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41174-8855-552B-AE4B-D69BF144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98D30-4CC8-CC79-02FE-69BC84025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BB2DED-19CF-DAA1-5E35-59C8C81AA4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AFF13-4099-E2CE-42F4-93CA0AB0BE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90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3772-8202-144B-846F-7C1FA2B0A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EDCB4-57FC-4B44-3DAB-2C7C05E7A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D2FFB-13D4-4BE9-19D4-A52346751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A635F-3874-9EE4-3C99-247A719AA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2819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F09FB-4E87-547E-603C-80F65FBC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AC664-514E-8278-87CB-B8C03CED6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43570-FA95-D7E0-09AF-CCA9529AF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066BB-4BD5-5BCF-38AD-FFFE4F0DBE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68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6BFA4-E7B8-4FD8-BFF8-D404AA3E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94627B-F5DA-EF3E-4648-EF5AAABD6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23442-A32C-1FA2-7A20-EA2B8DBFD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6BAEA-4FB0-4344-4595-0E2F093984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20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3A03-B9C7-A695-4624-0753D505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F8BBB-0A89-31FE-02E8-9806A70C8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E705A-B50B-8034-D427-CC07B2866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90F41-18CE-0599-0AFC-C23F18C74C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838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43C8A-A097-47DA-8468-945D31752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561A5-C7CC-A26D-2011-19DCA1874D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502ED-2E5A-71D8-ED08-A00E8F3A0F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A6A8-7384-5C6D-C1B5-819ABB74ED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796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B820C-D9F9-A7C1-19DF-3E579F96D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7B143-853F-A5BA-008A-BC78FDB03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C5E955-B14B-79BD-9C87-6EB6CB626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54E08-F587-69AB-CE26-80D4A31598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05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6457B-15E6-E970-C747-33B862A0D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28DF1A-2BE5-5929-B5EC-33690B8ED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5FBF9-D7D2-7265-333A-B620CA040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991D6-DB49-295B-5A0D-5B4F4BA119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213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F7C84-C1C7-9AA7-5768-AC4F9D93D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FC50A-981D-E18E-98D1-471B1DEFA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FC51A-2235-30A4-8E91-066CF6FCE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51746-9FE5-E0D2-240E-636CF13EC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043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65840-8D40-5211-906D-99003851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FED4B-1D0A-BAE6-44FB-E33F12C6C9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E45BF-2357-4E5C-F78A-532BECB2D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F236E-E3F8-D084-1F59-F84BC30E9E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664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64F51-6E6E-02C7-C6C4-10F57FAE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22D4A-BABA-817D-C5FB-A31E45BC0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7A009-08E5-D1B5-3F7E-FC3E8727D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3E4F5-70C6-DF0B-6E79-1A520BAB96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52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9E07-A799-163A-631B-B9A0A4DA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E3F58-AADE-7AC0-A2FE-EBCB20C7A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C1A55-4169-E3D5-FF74-17940E0CE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9A43D-D378-A926-D0DD-C0FE32B2F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077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3754-AE1D-97CE-BD7A-0FD5B946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68DC3C-8505-C679-8E56-3C740BC06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237CE2-A2CF-DF10-5DD2-91761179E1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05952-BDE9-C62F-504D-E86E39C62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345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14FF-954E-00EF-5863-28D0E11DC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C3B1E-2E87-C195-8843-A4F4DD5AB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26432-9C38-5549-800F-31BE06070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A162E-151D-574E-B395-BCE507B1C2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34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16A4-C830-5F14-B466-CFB455DA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FB696-DBE8-EDE9-8873-9AB719867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7AECC-B6A9-D4B6-8562-D5C41478C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B7607-BB12-A0BB-1BBB-C7E53DD34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788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0D86-0EF4-90DD-F382-CE295D8F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A187C6-F604-ACA4-332C-1FEABB1CE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16D3F-19BA-A241-BA9B-571551632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B8D5C-FDAF-A2E3-9A08-1E048D8ED2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63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CE86D-0F4C-A87A-2D92-6C33DFF00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E9E43-6409-8D8E-4086-F064B26EC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AB264-CA59-4593-21E1-B1FD2F967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D711A-2E19-2090-4E64-780912E05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560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0739-49A3-33BD-E4AC-EAC929911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42652-38B0-F66E-44F3-15F8C35FB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C42E7-E780-5320-CB58-42DCF034E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88DB4-AE3A-9E26-A140-270DEC46AD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68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038C-D2C0-652A-35B7-9070EE6F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598C6-AD85-2AB7-EDA3-CB0BF1065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32E80-C1DD-D595-E906-B314B444B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9017B-E257-9691-A37C-43A0EA50F5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435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C3BCF-3083-7789-5394-B5E171F2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DCB19-91A1-89F8-52B6-5BE9EF3AE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F5B6F-FBDD-FAAC-6D7C-04378B40DB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AD1593-A700-E32D-B307-810A0B2BB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54494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60153-96EB-5E68-0EEB-3FE689F27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B886C-F56C-0C36-6B87-F57DD7A7B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735B6-13F5-A238-20CC-74B97CCA2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2C234-D877-4828-83B4-0F160AB018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333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658C5-987F-A09A-39E7-43B50FBC2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8329A-363E-8418-5F55-7A8085FE6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AFF05-4C84-066B-8EF3-D6047B45E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FB855-8A75-BCA6-1CF0-46EC386518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88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2491-549D-F854-A482-6D4A1F07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FBBCD-3CAD-5501-E0DB-BE907F1B5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06F36-D246-0E44-291C-FCB998C14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080D7-7D5B-FD29-69C3-A1359D5F3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38477-70AC-4892-810E-E936ABB30F2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531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000066" y="6347892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5000" y="6347893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50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0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297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69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3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57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18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057E4A9-8BC1-4D03-B0CD-00353C3D487D}"/>
              </a:ext>
            </a:extLst>
          </p:cNvPr>
          <p:cNvSpPr>
            <a:spLocks noGrp="1"/>
          </p:cNvSpPr>
          <p:nvPr userDrawn="1"/>
        </p:nvSpPr>
        <p:spPr>
          <a:xfrm>
            <a:off x="4038600" y="635159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3ICT 2021 - 29-30 September 2021    University of Bahrain</a:t>
            </a:r>
          </a:p>
        </p:txBody>
      </p:sp>
    </p:spTree>
    <p:extLst>
      <p:ext uri="{BB962C8B-B14F-4D97-AF65-F5344CB8AC3E}">
        <p14:creationId xmlns:p14="http://schemas.microsoft.com/office/powerpoint/2010/main" val="238409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32200" y="6356359"/>
            <a:ext cx="50292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/>
          <a:lstStyle/>
          <a:p>
            <a:fld id="{52DC67D9-7476-42EA-B107-119E1B18B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1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6146801"/>
            <a:ext cx="12192000" cy="7112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/>
          <p:cNvSpPr/>
          <p:nvPr userDrawn="1"/>
        </p:nvSpPr>
        <p:spPr>
          <a:xfrm>
            <a:off x="1" y="6354237"/>
            <a:ext cx="12192000" cy="368300"/>
          </a:xfrm>
          <a:prstGeom prst="rect">
            <a:avLst/>
          </a:prstGeom>
          <a:solidFill>
            <a:schemeClr val="tx2">
              <a:lumMod val="75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TIME SERIES ANALYSIS</a:t>
            </a:r>
            <a:endParaRPr lang="en-PH" sz="1400" b="1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254977" y="385020"/>
            <a:ext cx="11720146" cy="313266"/>
          </a:xfrm>
          <a:prstGeom prst="rect">
            <a:avLst/>
          </a:prstGeom>
          <a:solidFill>
            <a:srgbClr val="C00000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00B050"/>
                </a:solidFill>
                <a:latin typeface="Arial Black" pitchFamily="34" charset="0"/>
              </a:rPr>
              <a:t>Cognate/Professional Electives</a:t>
            </a:r>
            <a:endParaRPr lang="en-PH" sz="2000" b="1" dirty="0">
              <a:solidFill>
                <a:srgbClr val="0070C0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9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902" y="1759366"/>
            <a:ext cx="1145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Time Series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8029" y="4059278"/>
            <a:ext cx="55559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Renato R. </a:t>
            </a:r>
            <a:r>
              <a:rPr lang="en-US" sz="2000" b="1" dirty="0" err="1"/>
              <a:t>Maaliw</a:t>
            </a:r>
            <a:r>
              <a:rPr lang="en-US" sz="2000" b="1" dirty="0"/>
              <a:t> III, </a:t>
            </a:r>
            <a:r>
              <a:rPr lang="en-US" sz="2000" b="1" i="1" dirty="0"/>
              <a:t>DIT</a:t>
            </a:r>
          </a:p>
          <a:p>
            <a:pPr algn="ctr"/>
            <a:r>
              <a:rPr lang="en-US" sz="2000" i="1" dirty="0"/>
              <a:t>College of Engineering</a:t>
            </a:r>
          </a:p>
          <a:p>
            <a:pPr algn="ctr"/>
            <a:r>
              <a:rPr lang="en-US" sz="2000" i="1" dirty="0"/>
              <a:t>Southern Luzon State University</a:t>
            </a:r>
          </a:p>
          <a:p>
            <a:pPr algn="ctr"/>
            <a:r>
              <a:rPr lang="en-US" sz="2000" dirty="0" err="1"/>
              <a:t>Lucban</a:t>
            </a:r>
            <a:r>
              <a:rPr lang="en-US" sz="2000" dirty="0"/>
              <a:t>, Quezon, Philippines</a:t>
            </a:r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3906540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F58A8-FDC0-6E10-1798-294C939F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20E91-3313-155D-5334-D0DBD3693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466" y="947290"/>
            <a:ext cx="9207068" cy="496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36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8D1AD-6867-A02F-001E-191FFC604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976FE1-0300-7975-C135-1E0BE49A1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853551"/>
            <a:ext cx="93916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61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FC7C0-8D46-B703-7C95-86C982F9E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65D64E-A6F8-FF4E-9FE4-2B4C5C6D1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14400"/>
            <a:ext cx="9372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9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2B3B-0D3E-EC63-4741-B5A47EB86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04A49F-5528-E160-659D-2BC259AE7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7" y="909637"/>
            <a:ext cx="930592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8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EE71-DF25-F020-F973-C4F007824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1B2B0C-F645-C476-75D9-93A741A72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909637"/>
            <a:ext cx="933450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461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99AC-B9E2-68DF-A42C-BE2F6C812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186357-029E-16D7-BD04-FB625DB4B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928687"/>
            <a:ext cx="935355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66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3B155-1C5C-C730-94C8-8F3F959E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224C1-5668-993D-40B0-B2B20C001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00112"/>
            <a:ext cx="9372600" cy="505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D4796-12E8-6E54-58C0-3F290344E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452FB4-CDDD-4BAC-AC46-8CE237275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904875"/>
            <a:ext cx="935355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39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2732D-06F2-5D1B-AC70-ACA8F5DD2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B06F5A-432B-F649-6063-4986E61CD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890587"/>
            <a:ext cx="934402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87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59113-98FF-98F0-C028-BE3830B2F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483CB4-455B-07E8-9F3C-DE069D966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890587"/>
            <a:ext cx="9344025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53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60E7B-F957-D7BC-9B74-089B777E8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22068-6562-B948-35D1-BC1C77249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37" y="923925"/>
            <a:ext cx="930592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7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41ED-8AAC-E95A-CA7E-75FC93676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245A16-C459-4DDD-195B-0FBC62E3E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19162"/>
            <a:ext cx="93726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81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DEC8C-52A8-DC5C-2C12-5C188FB4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1EE6B7-2BE0-3CFC-EF09-AE9C3D89B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904875"/>
            <a:ext cx="93440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76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0ADC0-630A-6B9B-D651-846DA54F0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6608FA-1DE7-D684-A8F9-8D45718D2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909637"/>
            <a:ext cx="9353550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D899-0419-ECC0-C5B8-774C2746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35CF62-BAC1-E40B-9386-9E582776F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919162"/>
            <a:ext cx="935355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55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3176E-A150-7F05-FAB4-9EC0F8AE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939751-6C64-CC4A-1934-74494A96C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225" y="876300"/>
            <a:ext cx="935355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439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5DDE8-E7C3-5D17-EC4B-6EA38794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8DEF64-6AED-5563-BB13-9AAEA11BA014}"/>
              </a:ext>
            </a:extLst>
          </p:cNvPr>
          <p:cNvSpPr txBox="1"/>
          <p:nvPr/>
        </p:nvSpPr>
        <p:spPr>
          <a:xfrm>
            <a:off x="858915" y="1031993"/>
            <a:ext cx="10282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01. What best defines “time series data”</a:t>
            </a:r>
            <a:endParaRPr lang="en-PH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DA6A6C4-B892-25F1-10CF-BBF7B80B5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377383"/>
              </p:ext>
            </p:extLst>
          </p:nvPr>
        </p:nvGraphicFramePr>
        <p:xfrm>
          <a:off x="932463" y="2042666"/>
          <a:ext cx="10135464" cy="30069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Observations collected across different entities at a single point in time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Observations collected without any inherent ordering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Observations recorded sequentially at fixed or irregular time intervals, where order and spacing carry information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Data that has been sorted alphabetically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362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A58A-F216-D3EF-1E0C-3450732A4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849AEC-854C-BBBB-0C4B-5B53B216E0D0}"/>
              </a:ext>
            </a:extLst>
          </p:cNvPr>
          <p:cNvSpPr txBox="1"/>
          <p:nvPr/>
        </p:nvSpPr>
        <p:spPr>
          <a:xfrm>
            <a:off x="858915" y="1031993"/>
            <a:ext cx="10282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01. What best defines “time series data”</a:t>
            </a:r>
            <a:endParaRPr lang="en-PH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CC8540-1453-0C17-3D4F-3566E3483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332231"/>
              </p:ext>
            </p:extLst>
          </p:nvPr>
        </p:nvGraphicFramePr>
        <p:xfrm>
          <a:off x="932463" y="2042666"/>
          <a:ext cx="10135464" cy="30069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Observations collected across different entities at a single point in time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Observations collected without any inherent ordering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Observations recorded sequentially at fixed or irregular time intervals, where order and spacing carry information</a:t>
                      </a:r>
                      <a:endParaRPr lang="en-PH" sz="2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Data that has been sorted alphabetically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169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3E7F9-D509-5FAF-774E-ED62BF19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40125-2AB0-B4F1-34CA-1760A27B8311}"/>
              </a:ext>
            </a:extLst>
          </p:cNvPr>
          <p:cNvSpPr txBox="1"/>
          <p:nvPr/>
        </p:nvSpPr>
        <p:spPr>
          <a:xfrm>
            <a:off x="858915" y="1031993"/>
            <a:ext cx="10282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02. Which statement correctly captures the idea of seasonality in a time series</a:t>
            </a:r>
            <a:endParaRPr lang="en-PH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510DAC-C0A8-83BC-AC2C-0D0B63FE1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744800"/>
              </p:ext>
            </p:extLst>
          </p:nvPr>
        </p:nvGraphicFramePr>
        <p:xfrm>
          <a:off x="970501" y="2823901"/>
          <a:ext cx="10135464" cy="25958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A one-time jump caused by an exogenous shock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104134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A pattern that repeats at a regular, known frequency (e.g. hourly, weekly, yearly)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Noise that has zero mean and no autocorrelation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A permanent upward or downward drift in the mean level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19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B4425-FE6B-DBCC-66C4-7FB7D7E58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B7714D-A20F-38A4-BC0C-F778227E232D}"/>
              </a:ext>
            </a:extLst>
          </p:cNvPr>
          <p:cNvSpPr txBox="1"/>
          <p:nvPr/>
        </p:nvSpPr>
        <p:spPr>
          <a:xfrm>
            <a:off x="858915" y="1031993"/>
            <a:ext cx="10282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02. Which statement correctly captures the idea of seasonality in a time series</a:t>
            </a:r>
            <a:endParaRPr lang="en-PH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A651FE-C2DF-03F1-8F38-DA40928F3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363493"/>
              </p:ext>
            </p:extLst>
          </p:nvPr>
        </p:nvGraphicFramePr>
        <p:xfrm>
          <a:off x="970501" y="2823901"/>
          <a:ext cx="10135464" cy="25958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A one-time jump caused by an exogenous shock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104134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A pattern that repeats at a regular, known frequency (e.g. hourly, weekly, yearly)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Noise that has zero mean and no autocorrelation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A permanent upward or downward drift in the mean level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530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A5CC0-020F-0433-7638-CF8A874C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1AFDF8-13F4-C224-28C5-7D3B91400676}"/>
              </a:ext>
            </a:extLst>
          </p:cNvPr>
          <p:cNvSpPr txBox="1"/>
          <p:nvPr/>
        </p:nvSpPr>
        <p:spPr>
          <a:xfrm>
            <a:off x="858915" y="1031993"/>
            <a:ext cx="10282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03. Which of the following is not a common application o time series analysis</a:t>
            </a:r>
            <a:endParaRPr lang="en-PH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067323-206C-AC53-F936-01B9BB5B5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403488"/>
              </p:ext>
            </p:extLst>
          </p:nvPr>
        </p:nvGraphicFramePr>
        <p:xfrm>
          <a:off x="970501" y="2823901"/>
          <a:ext cx="10135464" cy="20919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Forecasting electricity demand for grid management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37481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Detecting credit-card fraud by examining transaction sequences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Monitoring a patient’s heart-rate signal in real-time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Ranking search-engine results based purely on keyword relevance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419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7383-4402-7051-3B46-E578D5EB6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60B610-FE9F-22AE-EA68-8D6C0D826166}"/>
              </a:ext>
            </a:extLst>
          </p:cNvPr>
          <p:cNvSpPr txBox="1"/>
          <p:nvPr/>
        </p:nvSpPr>
        <p:spPr>
          <a:xfrm>
            <a:off x="858915" y="1031993"/>
            <a:ext cx="10282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03. Which of the following is </a:t>
            </a:r>
            <a:r>
              <a:rPr lang="en-US" sz="4000" b="1" i="1" u="sng" dirty="0"/>
              <a:t>not</a:t>
            </a:r>
            <a:r>
              <a:rPr lang="en-US" sz="4000" b="1" dirty="0"/>
              <a:t> a common application o time series analysis</a:t>
            </a:r>
            <a:endParaRPr lang="en-PH" sz="4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D4ED83-4223-0A59-6602-0CE85F0CF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059839"/>
              </p:ext>
            </p:extLst>
          </p:nvPr>
        </p:nvGraphicFramePr>
        <p:xfrm>
          <a:off x="970501" y="2823901"/>
          <a:ext cx="10135464" cy="20919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Forecasting electricity demand for grid management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37481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Detecting credit-card fraud by examining transaction sequences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Monitoring a patient’s heart-rate signal in real-time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Ranking search-engine results based purely on keyword relevance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364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C77D6-7EB5-79D0-0F99-9A3076E2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1B3B1F-69B3-C0F9-D8AD-C627789B1B06}"/>
              </a:ext>
            </a:extLst>
          </p:cNvPr>
          <p:cNvSpPr txBox="1"/>
          <p:nvPr/>
        </p:nvSpPr>
        <p:spPr>
          <a:xfrm>
            <a:off x="165715" y="2487335"/>
            <a:ext cx="114521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[Code Demo]</a:t>
            </a:r>
          </a:p>
        </p:txBody>
      </p:sp>
    </p:spTree>
    <p:extLst>
      <p:ext uri="{BB962C8B-B14F-4D97-AF65-F5344CB8AC3E}">
        <p14:creationId xmlns:p14="http://schemas.microsoft.com/office/powerpoint/2010/main" val="8713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F348-6C25-1A73-434B-96C18438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DD43E6-488E-4D5E-0D38-2E10E0B7A79B}"/>
              </a:ext>
            </a:extLst>
          </p:cNvPr>
          <p:cNvSpPr txBox="1"/>
          <p:nvPr/>
        </p:nvSpPr>
        <p:spPr>
          <a:xfrm>
            <a:off x="858915" y="1031993"/>
            <a:ext cx="1028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04. Which string representation is the most widely adopted international standard for machine-readable dates in time series files?</a:t>
            </a:r>
            <a:endParaRPr lang="en-PH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C66D8A-352A-54C6-0140-971D28FCB4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37598"/>
              </p:ext>
            </p:extLst>
          </p:nvPr>
        </p:nvGraphicFramePr>
        <p:xfrm>
          <a:off x="932463" y="2042666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MM/DD/YYYY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DD-MM-YYYY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YYY-MM-DD</a:t>
                      </a:r>
                      <a:endParaRPr lang="en-PH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YY/MM/DD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318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3FC19-2AC8-5416-50B3-C7D994A45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406DF-FBD1-B9DB-5ACE-DB0235E39074}"/>
              </a:ext>
            </a:extLst>
          </p:cNvPr>
          <p:cNvSpPr txBox="1"/>
          <p:nvPr/>
        </p:nvSpPr>
        <p:spPr>
          <a:xfrm>
            <a:off x="858915" y="1031993"/>
            <a:ext cx="10282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03. Which string representation is the most widely adopted international standard for machine-readable dates in time series files?</a:t>
            </a:r>
            <a:endParaRPr lang="en-PH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1D31D1-DD9A-1A70-30D9-E99DB643F5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916589"/>
              </p:ext>
            </p:extLst>
          </p:nvPr>
        </p:nvGraphicFramePr>
        <p:xfrm>
          <a:off x="932463" y="2042666"/>
          <a:ext cx="10135464" cy="21535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MM/DD/YYYY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DD-MM-YYYY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YYY-MM-DD</a:t>
                      </a:r>
                      <a:endParaRPr lang="en-PH" sz="2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YY/MM/DD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8463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17CD-8481-F673-A12C-7BE08E23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5FAC87-CC53-E76F-5FF0-5FB8C4A5FDED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05. What is the main purpose of applying a rolling (moving) average to a time series?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2FAB28-3B13-1723-DC2B-61A7EE202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558863"/>
              </p:ext>
            </p:extLst>
          </p:nvPr>
        </p:nvGraphicFramePr>
        <p:xfrm>
          <a:off x="932463" y="2832779"/>
          <a:ext cx="10135464" cy="25802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To increase the sampling frequency of the data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To eliminate all seasonal effects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To smooth short-term fluctuations</a:t>
                      </a:r>
                      <a:endParaRPr lang="en-PH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To convert a non-stationary series into a stationary one via differencing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296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5B38B-500B-F4C8-D02B-A32D487A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809B26-FD57-3BBF-36D8-44D041F3AE38}"/>
              </a:ext>
            </a:extLst>
          </p:cNvPr>
          <p:cNvSpPr txBox="1"/>
          <p:nvPr/>
        </p:nvSpPr>
        <p:spPr>
          <a:xfrm>
            <a:off x="858915" y="1031993"/>
            <a:ext cx="10282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05. What is the main purpose of applying a rolling (moving) average to a time series?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990B16-F2E6-DFB1-766B-74D1D9F51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239315"/>
              </p:ext>
            </p:extLst>
          </p:nvPr>
        </p:nvGraphicFramePr>
        <p:xfrm>
          <a:off x="932463" y="2832779"/>
          <a:ext cx="10135464" cy="25802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To increase the sampling frequency of the data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To eliminate all seasonal effects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To smooth short-term fluctuations</a:t>
                      </a:r>
                      <a:endParaRPr lang="en-PH" sz="28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To convert a non-stationary series into a stationary one via differencing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097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5CBF8-777F-EC75-1901-C34878DB1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C19DC3-8DEF-A4D4-8F36-A5590C32F83A}"/>
              </a:ext>
            </a:extLst>
          </p:cNvPr>
          <p:cNvSpPr txBox="1"/>
          <p:nvPr/>
        </p:nvSpPr>
        <p:spPr>
          <a:xfrm>
            <a:off x="858915" y="1031993"/>
            <a:ext cx="10282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06. When you create a feature like </a:t>
            </a:r>
            <a:r>
              <a:rPr lang="en-US" sz="3200" b="1" dirty="0" err="1">
                <a:solidFill>
                  <a:srgbClr val="FF0000"/>
                </a:solidFill>
              </a:rPr>
              <a:t>df</a:t>
            </a:r>
            <a:r>
              <a:rPr lang="en-US" sz="3200" b="1" dirty="0">
                <a:solidFill>
                  <a:srgbClr val="FF0000"/>
                </a:solidFill>
              </a:rPr>
              <a:t>[‘lag_1’] = </a:t>
            </a:r>
            <a:r>
              <a:rPr lang="en-US" sz="3200" b="1" dirty="0" err="1">
                <a:solidFill>
                  <a:srgbClr val="FF0000"/>
                </a:solidFill>
              </a:rPr>
              <a:t>df</a:t>
            </a:r>
            <a:r>
              <a:rPr lang="en-US" sz="3200" b="1" dirty="0">
                <a:solidFill>
                  <a:srgbClr val="FF0000"/>
                </a:solidFill>
              </a:rPr>
              <a:t>[‘Close’].shift(1), </a:t>
            </a:r>
            <a:r>
              <a:rPr lang="en-US" sz="3200" b="1" dirty="0"/>
              <a:t>what does that variable represent, and how can it be interpreted in a business-forecasting context?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2A4308-7B42-C657-AC1B-39CECC87FA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50912"/>
              </p:ext>
            </p:extLst>
          </p:nvPr>
        </p:nvGraphicFramePr>
        <p:xfrm>
          <a:off x="932463" y="2832779"/>
          <a:ext cx="10135464" cy="25802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The day-to-day percentage change in price, useful only for volatility charts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The value of the series exactly one period earlier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A seasonal dummy that identifies weekends</a:t>
                      </a:r>
                      <a:endParaRPr lang="en-PH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A rolling average that smooths noise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46787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F0AB6-C127-422C-396C-5EFB6C05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03960-0994-39B2-8B5E-E9182E2CF4D6}"/>
              </a:ext>
            </a:extLst>
          </p:cNvPr>
          <p:cNvSpPr txBox="1"/>
          <p:nvPr/>
        </p:nvSpPr>
        <p:spPr>
          <a:xfrm>
            <a:off x="858915" y="1031993"/>
            <a:ext cx="10282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06. When you create a feature like </a:t>
            </a:r>
            <a:r>
              <a:rPr lang="en-US" sz="3200" b="1" dirty="0" err="1">
                <a:solidFill>
                  <a:srgbClr val="FF0000"/>
                </a:solidFill>
              </a:rPr>
              <a:t>df</a:t>
            </a:r>
            <a:r>
              <a:rPr lang="en-US" sz="3200" b="1" dirty="0">
                <a:solidFill>
                  <a:srgbClr val="FF0000"/>
                </a:solidFill>
              </a:rPr>
              <a:t>[‘lag_1’] = </a:t>
            </a:r>
            <a:r>
              <a:rPr lang="en-US" sz="3200" b="1" dirty="0" err="1">
                <a:solidFill>
                  <a:srgbClr val="FF0000"/>
                </a:solidFill>
              </a:rPr>
              <a:t>df</a:t>
            </a:r>
            <a:r>
              <a:rPr lang="en-US" sz="3200" b="1" dirty="0">
                <a:solidFill>
                  <a:srgbClr val="FF0000"/>
                </a:solidFill>
              </a:rPr>
              <a:t>[‘Close’].shift(1), </a:t>
            </a:r>
            <a:r>
              <a:rPr lang="en-US" sz="3200" b="1" dirty="0"/>
              <a:t>what does that variable represent, and how can it be interpreted in a business-forecasting context?</a:t>
            </a:r>
            <a:endParaRPr lang="en-PH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413AFC-F0D3-A6E5-B8B8-5441B461F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527493"/>
              </p:ext>
            </p:extLst>
          </p:nvPr>
        </p:nvGraphicFramePr>
        <p:xfrm>
          <a:off x="932463" y="2832779"/>
          <a:ext cx="10135464" cy="25802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35464">
                  <a:extLst>
                    <a:ext uri="{9D8B030D-6E8A-4147-A177-3AD203B41FA5}">
                      <a16:colId xmlns:a16="http://schemas.microsoft.com/office/drawing/2014/main" val="347220614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r>
                        <a:rPr lang="en-US" sz="2800" b="1" dirty="0"/>
                        <a:t>A</a:t>
                      </a:r>
                      <a:r>
                        <a:rPr lang="en-US" sz="2800" dirty="0"/>
                        <a:t>. The day-to-day percentage change in price, useful only for volatility charts</a:t>
                      </a:r>
                      <a:endParaRPr lang="en-PH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890639"/>
                  </a:ext>
                </a:extLst>
              </a:tr>
              <a:tr h="599033">
                <a:tc>
                  <a:txBody>
                    <a:bodyPr/>
                    <a:lstStyle/>
                    <a:p>
                      <a:r>
                        <a:rPr lang="en-US" sz="2800" b="1" dirty="0"/>
                        <a:t>B</a:t>
                      </a:r>
                      <a:r>
                        <a:rPr lang="en-US" sz="2800" dirty="0"/>
                        <a:t>. The value of the series exactly one period earlier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900590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r>
                        <a:rPr lang="en-US" sz="2800" b="1" dirty="0"/>
                        <a:t>C</a:t>
                      </a:r>
                      <a:r>
                        <a:rPr lang="en-US" sz="2800" dirty="0"/>
                        <a:t>. A seasonal dummy that identifies weekends</a:t>
                      </a:r>
                      <a:endParaRPr lang="en-PH" sz="2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780003"/>
                  </a:ext>
                </a:extLst>
              </a:tr>
              <a:tr h="508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A rolling average that smooths noise</a:t>
                      </a:r>
                      <a:endParaRPr lang="en-PH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630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7868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21364" y="2562078"/>
            <a:ext cx="107492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Arial" pitchFamily="34" charset="0"/>
                <a:cs typeface="Arial" pitchFamily="34" charset="0"/>
              </a:rPr>
              <a:t>Thank you very much for listening</a:t>
            </a:r>
            <a:r>
              <a:rPr lang="en-US" sz="3200" b="1" dirty="0">
                <a:latin typeface="Arial" pitchFamily="34" charset="0"/>
                <a:cs typeface="Arial" pitchFamily="34" charset="0"/>
              </a:rPr>
              <a:t>.</a:t>
            </a:r>
            <a:endParaRPr lang="en-US" sz="3200" b="1" dirty="0">
              <a:solidFill>
                <a:schemeClr val="accent2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37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1330</TotalTime>
  <Words>771</Words>
  <Application>Microsoft Office PowerPoint</Application>
  <PresentationFormat>Widescreen</PresentationFormat>
  <Paragraphs>97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Wael Elmedany</dc:creator>
  <cp:lastModifiedBy>Renato Maaliw III</cp:lastModifiedBy>
  <cp:revision>274</cp:revision>
  <dcterms:created xsi:type="dcterms:W3CDTF">2018-09-30T06:22:05Z</dcterms:created>
  <dcterms:modified xsi:type="dcterms:W3CDTF">2026-01-16T04:22:10Z</dcterms:modified>
</cp:coreProperties>
</file>