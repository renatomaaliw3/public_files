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0"/>
  </p:notesMasterIdLst>
  <p:handoutMasterIdLst>
    <p:handoutMasterId r:id="rId31"/>
  </p:handoutMasterIdLst>
  <p:sldIdLst>
    <p:sldId id="258" r:id="rId2"/>
    <p:sldId id="370" r:id="rId3"/>
    <p:sldId id="371" r:id="rId4"/>
    <p:sldId id="372" r:id="rId5"/>
    <p:sldId id="382" r:id="rId6"/>
    <p:sldId id="383" r:id="rId7"/>
    <p:sldId id="384" r:id="rId8"/>
    <p:sldId id="386" r:id="rId9"/>
    <p:sldId id="388" r:id="rId10"/>
    <p:sldId id="390" r:id="rId11"/>
    <p:sldId id="393" r:id="rId12"/>
    <p:sldId id="385" r:id="rId13"/>
    <p:sldId id="387" r:id="rId14"/>
    <p:sldId id="389" r:id="rId15"/>
    <p:sldId id="391" r:id="rId16"/>
    <p:sldId id="394" r:id="rId17"/>
    <p:sldId id="392" r:id="rId18"/>
    <p:sldId id="395" r:id="rId19"/>
    <p:sldId id="346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31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30 Jan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C2F43-88BA-7638-F532-2018E9842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9C3DA-CFED-C6AA-5582-20BFFDD69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7AFC5-8CCF-E4FC-8A4F-C1FA51400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FDB92-32C7-EB57-B0F9-4A893D877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57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9E07-A799-163A-631B-B9A0A4DA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E3F58-AADE-7AC0-A2FE-EBCB20C7A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C1A55-4169-E3D5-FF74-17940E0C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A43D-D378-A926-D0DD-C0FE32B2F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7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5D65-86BF-7F02-E19F-2E413BCC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DCD5F-4044-3A90-D81B-069C3205F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16195-4AFD-DED4-722F-B1513B350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D56EA-C075-9655-F972-B54C0CF47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66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F441-3856-C563-42AD-A2B29FA7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1B0AF-3FA4-C9DB-CFDF-DF1ED5236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A451E-8BEC-5EE8-A99B-9A9B6743C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1D7A-8CCF-63C0-231D-4CC4EC421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05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CB65-21BB-F2E3-B554-DDC37A5B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865F4-D5DC-553A-89AC-65CDB6655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485EB-C054-EFEA-322B-90E7630F7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49ECA-F11D-3067-FE3C-DCCFBD225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59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3952C-08C3-315B-3415-C20219E1B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B6014-26DD-2113-0670-069141D62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DC470-1BC9-64D7-9D40-CE741EFB9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18622-8588-04C8-98A9-E8F9F2D6A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5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E184A-D142-D2B9-2653-1F7F5B18C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30E8D-2975-2B2F-24CE-25ACADDC7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EC2FC-F917-93C9-E6C9-558394C72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1CAC8-465C-31C0-9520-D75B11C90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89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A9B5-B93D-37D4-8DC5-C6EB2764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36A63-37BC-5229-502B-EB1E2DD79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C602D-07C7-2CCD-1799-518EB781E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F8636-9D6E-1420-6FFD-2447D4594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0EA4-FB2D-DCB2-33BE-FC5C8E6E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EA4D4-5BC8-E45E-FBD1-73319E0D5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65049-5020-6C5F-7525-20BC60BFC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A8DE6-00D0-7AB4-BF0B-049AFC910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94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A3E8-B4AE-44F8-1881-2B8571B6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E88C5-57EB-EB48-200E-4BBD26BB1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27522-BDC4-49F2-9FFB-1AB738C71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BC8CD-D950-0603-E308-C96F05247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6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ETS DECOMPOSITION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759366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ETS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ETS</a:t>
            </a:r>
          </a:p>
          <a:p>
            <a:endParaRPr lang="en-US" sz="2400" b="1" dirty="0"/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stands for Error, Trend, and Seasonality</a:t>
            </a:r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a method used to break down a time series into three components</a:t>
            </a:r>
            <a:endParaRPr lang="en-PH" sz="44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911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Trend (T)</a:t>
            </a:r>
          </a:p>
          <a:p>
            <a:endParaRPr lang="en-US" sz="2400" b="1" dirty="0"/>
          </a:p>
          <a:p>
            <a:pPr marL="457200" indent="-4572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Overall direction in which the time series is moving (upward, downward, stable/flat)</a:t>
            </a:r>
          </a:p>
        </p:txBody>
      </p:sp>
    </p:spTree>
    <p:extLst>
      <p:ext uri="{BB962C8B-B14F-4D97-AF65-F5344CB8AC3E}">
        <p14:creationId xmlns:p14="http://schemas.microsoft.com/office/powerpoint/2010/main" val="184712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Seasonality (S)</a:t>
            </a:r>
          </a:p>
          <a:p>
            <a:endParaRPr lang="en-US" sz="2400" b="1" dirty="0"/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Repeating patterns in the series (e.g. daily, monthly, yearly)</a:t>
            </a:r>
          </a:p>
        </p:txBody>
      </p:sp>
    </p:spTree>
    <p:extLst>
      <p:ext uri="{BB962C8B-B14F-4D97-AF65-F5344CB8AC3E}">
        <p14:creationId xmlns:p14="http://schemas.microsoft.com/office/powerpoint/2010/main" val="108203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Residual/Error (E)</a:t>
            </a:r>
          </a:p>
          <a:p>
            <a:endParaRPr lang="en-US" sz="2400" b="1" dirty="0"/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The noise or irregular fluctuations that cannot be explained by trend or seasonality</a:t>
            </a:r>
          </a:p>
        </p:txBody>
      </p:sp>
    </p:spTree>
    <p:extLst>
      <p:ext uri="{BB962C8B-B14F-4D97-AF65-F5344CB8AC3E}">
        <p14:creationId xmlns:p14="http://schemas.microsoft.com/office/powerpoint/2010/main" val="185356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666" y="2073645"/>
            <a:ext cx="10558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  <a:cs typeface="Arial" pitchFamily="34" charset="0"/>
              </a:rPr>
              <a:t>ETS decomposition allows us to understand the underlying patterns in a time series and helps in forecasting</a:t>
            </a:r>
            <a:endParaRPr lang="en-PH" sz="4400" b="1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18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6460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Types of ETS Models</a:t>
            </a:r>
          </a:p>
          <a:p>
            <a:endParaRPr lang="en-US" sz="2400" b="1" dirty="0"/>
          </a:p>
          <a:p>
            <a:pPr marL="742950" indent="-742950">
              <a:buAutoNum type="arabicPeriod"/>
            </a:pPr>
            <a:r>
              <a:rPr lang="en-US" sz="4400" dirty="0">
                <a:latin typeface="+mj-lt"/>
                <a:cs typeface="Arial" pitchFamily="34" charset="0"/>
              </a:rPr>
              <a:t>Additive Model</a:t>
            </a:r>
          </a:p>
          <a:p>
            <a:r>
              <a:rPr lang="en-US" sz="4400" dirty="0">
                <a:latin typeface="+mj-lt"/>
                <a:cs typeface="Arial" pitchFamily="34" charset="0"/>
              </a:rPr>
              <a:t>      </a:t>
            </a:r>
            <a:r>
              <a:rPr lang="en-US" sz="4000" dirty="0">
                <a:latin typeface="+mj-lt"/>
                <a:cs typeface="Arial" pitchFamily="34" charset="0"/>
              </a:rPr>
              <a:t>- when seasonal variations remain   	constant   </a:t>
            </a:r>
          </a:p>
          <a:p>
            <a:r>
              <a:rPr lang="en-US" sz="4000" dirty="0">
                <a:latin typeface="+mj-lt"/>
                <a:cs typeface="Arial" pitchFamily="34" charset="0"/>
              </a:rPr>
              <a:t>      over time</a:t>
            </a:r>
            <a:endParaRPr lang="en-US" sz="44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80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7C1A19-06A2-4BC3-83D8-8FC09B86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43613"/>
            <a:ext cx="8991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2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EFA6E-F2A2-45DC-9E0E-816C9BEA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D04BC-DBA8-4FB6-BCC3-6C4215FB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21" y="1085843"/>
            <a:ext cx="8569758" cy="3730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7CB0A5-9E09-42C1-BB71-834C8023EB2D}"/>
              </a:ext>
            </a:extLst>
          </p:cNvPr>
          <p:cNvSpPr txBox="1"/>
          <p:nvPr/>
        </p:nvSpPr>
        <p:spPr>
          <a:xfrm>
            <a:off x="816666" y="4993839"/>
            <a:ext cx="10558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Arial" pitchFamily="34" charset="0"/>
              </a:rPr>
              <a:t>Additive Model’s trend increase linearly over time</a:t>
            </a:r>
          </a:p>
        </p:txBody>
      </p:sp>
    </p:spTree>
    <p:extLst>
      <p:ext uri="{BB962C8B-B14F-4D97-AF65-F5344CB8AC3E}">
        <p14:creationId xmlns:p14="http://schemas.microsoft.com/office/powerpoint/2010/main" val="2259405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7CB0A5-9E09-42C1-BB71-834C8023EB2D}"/>
              </a:ext>
            </a:extLst>
          </p:cNvPr>
          <p:cNvSpPr txBox="1"/>
          <p:nvPr/>
        </p:nvSpPr>
        <p:spPr>
          <a:xfrm>
            <a:off x="816665" y="4967206"/>
            <a:ext cx="10558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Arial" pitchFamily="34" charset="0"/>
              </a:rPr>
              <a:t>Additive Model’s seasonal pattern remains constant in magnitude</a:t>
            </a:r>
          </a:p>
          <a:p>
            <a:pPr algn="ctr"/>
            <a:r>
              <a:rPr lang="en-US" sz="2800" dirty="0">
                <a:latin typeface="+mj-lt"/>
                <a:cs typeface="Arial" pitchFamily="34" charset="0"/>
              </a:rPr>
              <a:t>(fixed oscillations)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E60E03-7492-489F-8995-EE05F6D02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1126411"/>
            <a:ext cx="827722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6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7CB0A5-9E09-42C1-BB71-834C8023EB2D}"/>
              </a:ext>
            </a:extLst>
          </p:cNvPr>
          <p:cNvSpPr txBox="1"/>
          <p:nvPr/>
        </p:nvSpPr>
        <p:spPr>
          <a:xfrm>
            <a:off x="816665" y="5038230"/>
            <a:ext cx="10558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Arial" pitchFamily="34" charset="0"/>
              </a:rPr>
              <a:t>Additive Model’s residuals have constant noise over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4199F-6E3A-4198-9417-3E2CDBE8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49" y="1023856"/>
            <a:ext cx="92583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75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Types of ETS Models</a:t>
            </a:r>
          </a:p>
          <a:p>
            <a:endParaRPr lang="en-US" sz="2400" b="1" dirty="0"/>
          </a:p>
          <a:p>
            <a:r>
              <a:rPr lang="en-US" sz="4400" dirty="0">
                <a:latin typeface="+mj-lt"/>
                <a:cs typeface="Arial" pitchFamily="34" charset="0"/>
              </a:rPr>
              <a:t>2.   Multiplicative Model</a:t>
            </a:r>
          </a:p>
          <a:p>
            <a:r>
              <a:rPr lang="en-US" sz="4400" dirty="0">
                <a:latin typeface="+mj-lt"/>
                <a:cs typeface="Arial" pitchFamily="34" charset="0"/>
              </a:rPr>
              <a:t>      </a:t>
            </a:r>
            <a:r>
              <a:rPr lang="en-US" sz="4000" dirty="0">
                <a:latin typeface="+mj-lt"/>
                <a:cs typeface="Arial" pitchFamily="34" charset="0"/>
              </a:rPr>
              <a:t>- when seasonal variations increase or    </a:t>
            </a:r>
          </a:p>
          <a:p>
            <a:r>
              <a:rPr lang="en-US" sz="4000" dirty="0">
                <a:latin typeface="+mj-lt"/>
                <a:cs typeface="Arial" pitchFamily="34" charset="0"/>
              </a:rPr>
              <a:t>      decrease in size over time</a:t>
            </a:r>
          </a:p>
        </p:txBody>
      </p:sp>
    </p:spTree>
    <p:extLst>
      <p:ext uri="{BB962C8B-B14F-4D97-AF65-F5344CB8AC3E}">
        <p14:creationId xmlns:p14="http://schemas.microsoft.com/office/powerpoint/2010/main" val="290853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9F5D02-368B-40CD-9C60-AA9E1B336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495425"/>
            <a:ext cx="89439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89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3DDD6-C4D8-47A1-B3C0-64D3721A1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047" y="1133382"/>
            <a:ext cx="8645906" cy="3792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F8A806-0719-4C5D-B10E-9B5BA05C0074}"/>
              </a:ext>
            </a:extLst>
          </p:cNvPr>
          <p:cNvSpPr txBox="1"/>
          <p:nvPr/>
        </p:nvSpPr>
        <p:spPr>
          <a:xfrm>
            <a:off x="816666" y="5055985"/>
            <a:ext cx="10558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Arial" pitchFamily="34" charset="0"/>
              </a:rPr>
              <a:t>Multiplicative Model’s trend grows exponentially</a:t>
            </a:r>
          </a:p>
        </p:txBody>
      </p:sp>
    </p:spTree>
    <p:extLst>
      <p:ext uri="{BB962C8B-B14F-4D97-AF65-F5344CB8AC3E}">
        <p14:creationId xmlns:p14="http://schemas.microsoft.com/office/powerpoint/2010/main" val="2671129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7CB0A5-9E09-42C1-BB71-834C8023EB2D}"/>
              </a:ext>
            </a:extLst>
          </p:cNvPr>
          <p:cNvSpPr txBox="1"/>
          <p:nvPr/>
        </p:nvSpPr>
        <p:spPr>
          <a:xfrm>
            <a:off x="816665" y="4967206"/>
            <a:ext cx="10558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  <a:cs typeface="Arial" pitchFamily="34" charset="0"/>
              </a:rPr>
              <a:t>Multiplicative Model’s seasonal pattern increases in magnitude over time</a:t>
            </a:r>
          </a:p>
          <a:p>
            <a:pPr algn="ctr"/>
            <a:r>
              <a:rPr lang="en-US" sz="2400" dirty="0">
                <a:latin typeface="+mj-lt"/>
                <a:cs typeface="Arial" pitchFamily="34" charset="0"/>
              </a:rPr>
              <a:t>(amplitude grows larger)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CB76F-4888-419A-B9D1-A9DDDB043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4" y="1187712"/>
            <a:ext cx="83629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75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7CB0A5-9E09-42C1-BB71-834C8023EB2D}"/>
              </a:ext>
            </a:extLst>
          </p:cNvPr>
          <p:cNvSpPr txBox="1"/>
          <p:nvPr/>
        </p:nvSpPr>
        <p:spPr>
          <a:xfrm>
            <a:off x="816665" y="5064864"/>
            <a:ext cx="10768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Arial" pitchFamily="34" charset="0"/>
              </a:rPr>
              <a:t>Multiplicative Model’s residuals noise grows larger as the series increases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02CC40-42C3-4231-A5FC-73579D93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1" y="1277782"/>
            <a:ext cx="83343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3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728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B5B1-BBCD-AC5D-F981-E18D0FB6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7F3D2-7944-62E3-A1AA-A93A4D3E861C}"/>
              </a:ext>
            </a:extLst>
          </p:cNvPr>
          <p:cNvSpPr txBox="1"/>
          <p:nvPr/>
        </p:nvSpPr>
        <p:spPr>
          <a:xfrm>
            <a:off x="909655" y="885546"/>
            <a:ext cx="1028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What does ETS stand for in time series decomposition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EFAB57-4FE0-22BB-E41B-767ABA47A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124502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Exponential Time Series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Error Trend Seasonality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Expert Time Series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Error Trial Seasonality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430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A58A-F216-D3EF-1E0C-3450732A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49AEC-854C-BBBB-0C4B-5B53B216E0D0}"/>
              </a:ext>
            </a:extLst>
          </p:cNvPr>
          <p:cNvSpPr txBox="1"/>
          <p:nvPr/>
        </p:nvSpPr>
        <p:spPr>
          <a:xfrm>
            <a:off x="909655" y="885546"/>
            <a:ext cx="1028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What does ETS stand for in time series decomposition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C8540-1453-0C17-3D4F-3566E3483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053814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Exponential Time Series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Error Trend Seasonality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Expert Time Series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Error Trial Seasonality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169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D48F-AB01-D5FD-D011-61A98A68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BCA91F-C3B0-8556-397E-B51A4003D365}"/>
              </a:ext>
            </a:extLst>
          </p:cNvPr>
          <p:cNvSpPr txBox="1"/>
          <p:nvPr/>
        </p:nvSpPr>
        <p:spPr>
          <a:xfrm>
            <a:off x="909655" y="885546"/>
            <a:ext cx="1028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02. A time series has the following except?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E0698F-06B9-61BD-B46D-F0CB18851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85793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Trend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Inflation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Seasonality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Cycles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938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8C57-5CCA-566D-E22B-CF2C2FCC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26B3A-AD8F-C9AB-7E77-1C3041239204}"/>
              </a:ext>
            </a:extLst>
          </p:cNvPr>
          <p:cNvSpPr txBox="1"/>
          <p:nvPr/>
        </p:nvSpPr>
        <p:spPr>
          <a:xfrm>
            <a:off x="909655" y="885546"/>
            <a:ext cx="1028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02. A time series has the following except?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AD26AB-565B-AE47-EC9B-3FBD8B449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260139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Trend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Inflation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Seasonality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Cycles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647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1431-2621-69C0-7237-543ED06D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C82616-2623-63BC-8642-E843C1306053}"/>
              </a:ext>
            </a:extLst>
          </p:cNvPr>
          <p:cNvSpPr txBox="1"/>
          <p:nvPr/>
        </p:nvSpPr>
        <p:spPr>
          <a:xfrm>
            <a:off x="909655" y="885546"/>
            <a:ext cx="1028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03. How does seasonality differ from cyclical patterns?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D4AFF2-4D3E-E54E-5709-1AD0549E1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12875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Seasonality is irregular, cyclic behavior is periodic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Seasonality involves consistent period, cyclic behavior does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Seasonality is driven by static factors, cycles are driven by changes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Both are identical; they can be used interchangeably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732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74075-498A-2859-1410-FFC53395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67D2-9A3B-40B8-49B6-2DB36AC6803C}"/>
              </a:ext>
            </a:extLst>
          </p:cNvPr>
          <p:cNvSpPr txBox="1"/>
          <p:nvPr/>
        </p:nvSpPr>
        <p:spPr>
          <a:xfrm>
            <a:off x="909655" y="885546"/>
            <a:ext cx="1028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03. How does seasonality differ from cyclical patterns?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D94EF3-F943-E937-6414-46129AAEA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249838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Seasonality is irregular, cyclic behavior is periodic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Seasonality involves consistent periods, cyclic behavior does not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Seasonality is driven by static factors, cycles are driven by changes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Both are identical; they can be used interchangeably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208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9869-FCEC-E24C-8DA3-29C292C8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44B058-4EB1-5002-A4B7-8CBF9BC7C2DB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04. In an additive model, what happens to seasonal amplitude when underlying level increases?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D4737D-D780-FDE7-B8A0-4BC79665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467157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It increase proportionally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It remains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It decreases proportionally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It become unpredictable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505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B565-E244-42FD-2849-72A0E859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3CE93-4B54-EAC9-6FE8-7942837B0252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04. In an additive model, what happens to seasonal amplitude when underlying level increases?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3B8CB8-2A44-0109-FA82-0D5E5191C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142517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It increase proportionally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It remains constant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It decreases proportionally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It become unpredictable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043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E353-FA83-EBE2-B57C-11064AE5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712E4-32CC-0565-7E6F-508587DDDB77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05. When would you choose a multiplicative model over an additive one?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B44F0E-D994-7BF0-E025-67592D875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6912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Seasonal fluctuations remain constant regardless of trend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Seasonal fluctuations grow proportionally as trend increases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The series contains cyclical patterns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 trend is perfectly linear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049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98CD-D17A-D78B-8D90-3E1889A3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BFEBCC-56BC-BCBC-B095-1CBB3A6D517A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05. When would you choose a multiplicative model over an additive one?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1D955-B1AE-F579-B756-65E2A3A9E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117325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Seasonal fluctuations remain constant regardless of trend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Seasonal fluctuations grow proportionally as trend increases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The series contains cyclical patterns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 trend is perfectly linear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080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1269</TotalTime>
  <Words>621</Words>
  <Application>Microsoft Office PowerPoint</Application>
  <PresentationFormat>Widescreen</PresentationFormat>
  <Paragraphs>101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272</cp:revision>
  <dcterms:created xsi:type="dcterms:W3CDTF">2018-09-30T06:22:05Z</dcterms:created>
  <dcterms:modified xsi:type="dcterms:W3CDTF">2026-01-30T02:43:17Z</dcterms:modified>
</cp:coreProperties>
</file>