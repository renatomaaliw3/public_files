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84" r:id="rId1"/>
  </p:sldMasterIdLst>
  <p:notesMasterIdLst>
    <p:notesMasterId r:id="rId61"/>
  </p:notesMasterIdLst>
  <p:handoutMasterIdLst>
    <p:handoutMasterId r:id="rId62"/>
  </p:handoutMasterIdLst>
  <p:sldIdLst>
    <p:sldId id="258" r:id="rId2"/>
    <p:sldId id="334" r:id="rId3"/>
    <p:sldId id="335" r:id="rId4"/>
    <p:sldId id="336" r:id="rId5"/>
    <p:sldId id="337" r:id="rId6"/>
    <p:sldId id="338" r:id="rId7"/>
    <p:sldId id="339" r:id="rId8"/>
    <p:sldId id="340" r:id="rId9"/>
    <p:sldId id="341" r:id="rId10"/>
    <p:sldId id="342" r:id="rId11"/>
    <p:sldId id="343" r:id="rId12"/>
    <p:sldId id="384" r:id="rId13"/>
    <p:sldId id="344" r:id="rId14"/>
    <p:sldId id="345" r:id="rId15"/>
    <p:sldId id="346" r:id="rId16"/>
    <p:sldId id="347" r:id="rId17"/>
    <p:sldId id="348" r:id="rId18"/>
    <p:sldId id="385" r:id="rId19"/>
    <p:sldId id="349" r:id="rId20"/>
    <p:sldId id="350" r:id="rId21"/>
    <p:sldId id="386" r:id="rId22"/>
    <p:sldId id="351" r:id="rId23"/>
    <p:sldId id="352" r:id="rId24"/>
    <p:sldId id="353" r:id="rId25"/>
    <p:sldId id="354" r:id="rId26"/>
    <p:sldId id="355" r:id="rId27"/>
    <p:sldId id="356" r:id="rId28"/>
    <p:sldId id="357" r:id="rId29"/>
    <p:sldId id="358" r:id="rId30"/>
    <p:sldId id="359" r:id="rId31"/>
    <p:sldId id="361" r:id="rId32"/>
    <p:sldId id="360" r:id="rId33"/>
    <p:sldId id="362" r:id="rId34"/>
    <p:sldId id="363" r:id="rId35"/>
    <p:sldId id="364" r:id="rId36"/>
    <p:sldId id="365" r:id="rId37"/>
    <p:sldId id="366" r:id="rId38"/>
    <p:sldId id="367" r:id="rId39"/>
    <p:sldId id="368" r:id="rId40"/>
    <p:sldId id="388" r:id="rId41"/>
    <p:sldId id="369" r:id="rId42"/>
    <p:sldId id="370" r:id="rId43"/>
    <p:sldId id="371" r:id="rId44"/>
    <p:sldId id="372" r:id="rId45"/>
    <p:sldId id="373" r:id="rId46"/>
    <p:sldId id="374" r:id="rId47"/>
    <p:sldId id="375" r:id="rId48"/>
    <p:sldId id="376" r:id="rId49"/>
    <p:sldId id="377" r:id="rId50"/>
    <p:sldId id="389" r:id="rId51"/>
    <p:sldId id="378" r:id="rId52"/>
    <p:sldId id="379" r:id="rId53"/>
    <p:sldId id="380" r:id="rId54"/>
    <p:sldId id="381" r:id="rId55"/>
    <p:sldId id="390" r:id="rId56"/>
    <p:sldId id="382" r:id="rId57"/>
    <p:sldId id="383" r:id="rId58"/>
    <p:sldId id="391" r:id="rId59"/>
    <p:sldId id="314" r:id="rId6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3C2FFA5D-87B4-456A-9821-1D502468CF0F}" styleName="Themed Style 1 - Accent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  <a:tblStyle styleId="{284E427A-3D55-4303-BF80-6455036E1DE7}" styleName="Themed Style 1 - Accent 2">
    <a:tblBg>
      <a:fillRef idx="2">
        <a:schemeClr val="accent2"/>
      </a:fillRef>
      <a:effectRef idx="1">
        <a:schemeClr val="accent2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Ref idx="1">
              <a:schemeClr val="accent2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  <a:fill>
          <a:solidFill>
            <a:schemeClr val="accent2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2"/>
            </a:lnRef>
          </a:left>
          <a:right>
            <a:lnRef idx="2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2">
              <a:schemeClr val="accent2"/>
            </a:lnRef>
          </a:top>
          <a:bottom>
            <a:lnRef idx="2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2"/>
          </a:solidFill>
        </a:fill>
      </a:tcStyle>
    </a:firstRow>
  </a:tblStyle>
  <a:tblStyle styleId="{69C7853C-536D-4A76-A0AE-DD22124D55A5}" styleName="Themed Style 1 - Accent 3">
    <a:tblBg>
      <a:fillRef idx="2">
        <a:schemeClr val="accent3"/>
      </a:fillRef>
      <a:effectRef idx="1">
        <a:schemeClr val="accent3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Ref idx="1">
              <a:schemeClr val="accent3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  <a:fill>
          <a:solidFill>
            <a:schemeClr val="accent3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3"/>
            </a:lnRef>
          </a:left>
          <a:right>
            <a:lnRef idx="2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2">
              <a:schemeClr val="accent3"/>
            </a:lnRef>
          </a:top>
          <a:bottom>
            <a:lnRef idx="2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3"/>
          </a:solidFill>
        </a:fill>
      </a:tcStyle>
    </a:firstRow>
  </a:tblStyle>
  <a:tblStyle styleId="{775DCB02-9BB8-47FD-8907-85C794F793BA}" styleName="Themed Style 1 - Accent 4">
    <a:tblBg>
      <a:fillRef idx="2">
        <a:schemeClr val="accent4"/>
      </a:fillRef>
      <a:effectRef idx="1">
        <a:schemeClr val="accent4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Ref idx="1">
              <a:schemeClr val="accent4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</a:tcBdr>
        <a:fill>
          <a:solidFill>
            <a:schemeClr val="accent4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4"/>
            </a:lnRef>
          </a:left>
          <a:right>
            <a:lnRef idx="2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2">
              <a:schemeClr val="accent4"/>
            </a:lnRef>
          </a:top>
          <a:bottom>
            <a:lnRef idx="2">
              <a:schemeClr val="accent4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4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BC89EF96-8CEA-46FF-86C4-4CE0E7609802}" styleName="Light Style 3 - Accent 1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616DA210-FB5B-4158-B5E0-FEB733F419BA}" styleName="Light Style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08FB837D-C827-4EFA-A057-4D05807E0F7C}" styleName="Themed Style 1 - Accent 6">
    <a:tblBg>
      <a:fillRef idx="2">
        <a:schemeClr val="accent6"/>
      </a:fillRef>
      <a:effectRef idx="1">
        <a:schemeClr val="accent6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Ref idx="1">
              <a:schemeClr val="accent6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</a:tcBdr>
        <a:fill>
          <a:solidFill>
            <a:schemeClr val="accent6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6"/>
            </a:lnRef>
          </a:left>
          <a:right>
            <a:lnRef idx="2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2">
              <a:schemeClr val="accent6"/>
            </a:lnRef>
          </a:top>
          <a:bottom>
            <a:lnRef idx="2">
              <a:schemeClr val="accent6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6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2580" autoAdjust="0"/>
    <p:restoredTop sz="94660"/>
  </p:normalViewPr>
  <p:slideViewPr>
    <p:cSldViewPr snapToGrid="0">
      <p:cViewPr varScale="1">
        <p:scale>
          <a:sx n="114" d="100"/>
          <a:sy n="114" d="100"/>
        </p:scale>
        <p:origin x="612" y="114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69" d="100"/>
          <a:sy n="69" d="100"/>
        </p:scale>
        <p:origin x="-3318" y="-96"/>
      </p:cViewPr>
      <p:guideLst>
        <p:guide orient="horz" pos="2880"/>
        <p:guide pos="2160"/>
      </p:guideLst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63" Type="http://schemas.openxmlformats.org/officeDocument/2006/relationships/presProps" Target="presProp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66" Type="http://schemas.openxmlformats.org/officeDocument/2006/relationships/tableStyles" Target="tableStyles.xml"/><Relationship Id="rId5" Type="http://schemas.openxmlformats.org/officeDocument/2006/relationships/slide" Target="slides/slide4.xml"/><Relationship Id="rId61" Type="http://schemas.openxmlformats.org/officeDocument/2006/relationships/notesMaster" Target="notesMasters/notesMaster1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viewProps" Target="viewProps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handoutMaster" Target="handoutMasters/handout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PH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B6B94FD-5702-4F25-9A4D-07294FF3292C}" type="datetimeFigureOut">
              <a:rPr lang="en-PH" smtClean="0"/>
              <a:t>11 Dec 2025</a:t>
            </a:fld>
            <a:endParaRPr lang="en-PH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PH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8B5033A-92B8-453C-88B4-A91D8703A97C}" type="slidenum">
              <a:rPr lang="en-PH" smtClean="0"/>
              <a:t>‹#›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954201558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365AC51-C568-4371-A28D-D14CF2BCF8BA}" type="datetimeFigureOut">
              <a:rPr lang="en-US" smtClean="0"/>
              <a:t>12/11/2025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A838477-70AC-4892-810E-E936ABB30F2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4052519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PH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A838477-70AC-4892-810E-E936ABB30F23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6827981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2130434"/>
            <a:ext cx="10363200" cy="1470025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  <a:endParaRPr lang="en-PH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PH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9000066" y="6347892"/>
            <a:ext cx="2844800" cy="365125"/>
          </a:xfrm>
          <a:prstGeom prst="rect">
            <a:avLst/>
          </a:prstGeom>
        </p:spPr>
        <p:txBody>
          <a:bodyPr/>
          <a:lstStyle/>
          <a:p>
            <a:endParaRPr lang="en-PH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632200" y="6356359"/>
            <a:ext cx="5029200" cy="365125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35000" y="6347893"/>
            <a:ext cx="2844800" cy="365125"/>
          </a:xfrm>
          <a:prstGeom prst="rect">
            <a:avLst/>
          </a:prstGeom>
        </p:spPr>
        <p:txBody>
          <a:bodyPr/>
          <a:lstStyle/>
          <a:p>
            <a:fld id="{52DC67D9-7476-42EA-B107-119E1B18B658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9550133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  <a:endParaRPr lang="en-PH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09600" y="1600206"/>
            <a:ext cx="10972800" cy="4525963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PH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09600" y="6356359"/>
            <a:ext cx="2844800" cy="365125"/>
          </a:xfrm>
          <a:prstGeom prst="rect">
            <a:avLst/>
          </a:prstGeom>
        </p:spPr>
        <p:txBody>
          <a:bodyPr/>
          <a:lstStyle/>
          <a:p>
            <a:endParaRPr lang="en-PH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632200" y="6356359"/>
            <a:ext cx="5029200" cy="365125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737600" y="6356359"/>
            <a:ext cx="2844800" cy="365125"/>
          </a:xfrm>
          <a:prstGeom prst="rect">
            <a:avLst/>
          </a:prstGeom>
        </p:spPr>
        <p:txBody>
          <a:bodyPr/>
          <a:lstStyle/>
          <a:p>
            <a:fld id="{52DC67D9-7476-42EA-B107-119E1B18B658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370834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84" y="4406909"/>
            <a:ext cx="10363200" cy="1362075"/>
          </a:xfrm>
          <a:prstGeom prst="rect">
            <a:avLst/>
          </a:prstGeo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  <a:endParaRPr lang="en-PH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09600" y="6356359"/>
            <a:ext cx="2844800" cy="365125"/>
          </a:xfrm>
          <a:prstGeom prst="rect">
            <a:avLst/>
          </a:prstGeom>
        </p:spPr>
        <p:txBody>
          <a:bodyPr/>
          <a:lstStyle/>
          <a:p>
            <a:endParaRPr lang="en-PH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632200" y="6356359"/>
            <a:ext cx="5029200" cy="365125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737600" y="6356359"/>
            <a:ext cx="2844800" cy="365125"/>
          </a:xfrm>
          <a:prstGeom prst="rect">
            <a:avLst/>
          </a:prstGeom>
        </p:spPr>
        <p:txBody>
          <a:bodyPr/>
          <a:lstStyle/>
          <a:p>
            <a:fld id="{52DC67D9-7476-42EA-B107-119E1B18B65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5429710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  <a:endParaRPr lang="en-PH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600206"/>
            <a:ext cx="5384800" cy="4525963"/>
          </a:xfrm>
          <a:prstGeom prst="rect">
            <a:avLst/>
          </a:prstGeo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PH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600206"/>
            <a:ext cx="5384800" cy="4525963"/>
          </a:xfrm>
          <a:prstGeom prst="rect">
            <a:avLst/>
          </a:prstGeo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PH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609600" y="6356359"/>
            <a:ext cx="2844800" cy="365125"/>
          </a:xfrm>
          <a:prstGeom prst="rect">
            <a:avLst/>
          </a:prstGeom>
        </p:spPr>
        <p:txBody>
          <a:bodyPr/>
          <a:lstStyle/>
          <a:p>
            <a:endParaRPr lang="en-PH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3632200" y="6356359"/>
            <a:ext cx="5029200" cy="365125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8737600" y="6356359"/>
            <a:ext cx="2844800" cy="365125"/>
          </a:xfrm>
          <a:prstGeom prst="rect">
            <a:avLst/>
          </a:prstGeom>
        </p:spPr>
        <p:txBody>
          <a:bodyPr/>
          <a:lstStyle/>
          <a:p>
            <a:fld id="{52DC67D9-7476-42EA-B107-119E1B18B65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6266925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PH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  <a:prstGeom prst="rect">
            <a:avLst/>
          </a:prstGeo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PH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373" y="1535113"/>
            <a:ext cx="5389033" cy="63976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73" y="2174875"/>
            <a:ext cx="5389033" cy="3951288"/>
          </a:xfrm>
          <a:prstGeom prst="rect">
            <a:avLst/>
          </a:prstGeo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PH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>
          <a:xfrm>
            <a:off x="609600" y="6356359"/>
            <a:ext cx="2844800" cy="365125"/>
          </a:xfrm>
          <a:prstGeom prst="rect">
            <a:avLst/>
          </a:prstGeom>
        </p:spPr>
        <p:txBody>
          <a:bodyPr/>
          <a:lstStyle/>
          <a:p>
            <a:endParaRPr lang="en-PH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>
          <a:xfrm>
            <a:off x="3632200" y="6356359"/>
            <a:ext cx="5029200" cy="365125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>
          <a:xfrm>
            <a:off x="8737600" y="6356359"/>
            <a:ext cx="2844800" cy="365125"/>
          </a:xfrm>
          <a:prstGeom prst="rect">
            <a:avLst/>
          </a:prstGeom>
        </p:spPr>
        <p:txBody>
          <a:bodyPr/>
          <a:lstStyle/>
          <a:p>
            <a:fld id="{52DC67D9-7476-42EA-B107-119E1B18B65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5633681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  <a:endParaRPr lang="en-PH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>
          <a:xfrm>
            <a:off x="609600" y="6356359"/>
            <a:ext cx="2844800" cy="365125"/>
          </a:xfrm>
          <a:prstGeom prst="rect">
            <a:avLst/>
          </a:prstGeom>
        </p:spPr>
        <p:txBody>
          <a:bodyPr/>
          <a:lstStyle/>
          <a:p>
            <a:endParaRPr lang="en-PH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3632200" y="6356359"/>
            <a:ext cx="5029200" cy="365125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8737600" y="6356359"/>
            <a:ext cx="2844800" cy="365125"/>
          </a:xfrm>
          <a:prstGeom prst="rect">
            <a:avLst/>
          </a:prstGeom>
        </p:spPr>
        <p:txBody>
          <a:bodyPr/>
          <a:lstStyle/>
          <a:p>
            <a:fld id="{52DC67D9-7476-42EA-B107-119E1B18B65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6251354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>
          <a:xfrm>
            <a:off x="609600" y="6356359"/>
            <a:ext cx="2844800" cy="365125"/>
          </a:xfrm>
          <a:prstGeom prst="rect">
            <a:avLst/>
          </a:prstGeom>
        </p:spPr>
        <p:txBody>
          <a:bodyPr/>
          <a:lstStyle/>
          <a:p>
            <a:endParaRPr lang="en-PH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>
          <a:xfrm>
            <a:off x="3632200" y="6356359"/>
            <a:ext cx="5029200" cy="365125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8737600" y="6356359"/>
            <a:ext cx="2844800" cy="365125"/>
          </a:xfrm>
          <a:prstGeom prst="rect">
            <a:avLst/>
          </a:prstGeom>
        </p:spPr>
        <p:txBody>
          <a:bodyPr/>
          <a:lstStyle/>
          <a:p>
            <a:fld id="{52DC67D9-7476-42EA-B107-119E1B18B65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9775745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3" y="273050"/>
            <a:ext cx="4011084" cy="1162050"/>
          </a:xfrm>
          <a:prstGeom prst="rect">
            <a:avLst/>
          </a:prstGeo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en-PH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733" y="273059"/>
            <a:ext cx="6815667" cy="5853113"/>
          </a:xfrm>
          <a:prstGeom prst="rect">
            <a:avLst/>
          </a:prstGeo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PH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3" y="1435103"/>
            <a:ext cx="4011084" cy="469106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609600" y="6356359"/>
            <a:ext cx="2844800" cy="365125"/>
          </a:xfrm>
          <a:prstGeom prst="rect">
            <a:avLst/>
          </a:prstGeom>
        </p:spPr>
        <p:txBody>
          <a:bodyPr/>
          <a:lstStyle/>
          <a:p>
            <a:endParaRPr lang="en-PH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3632200" y="6356359"/>
            <a:ext cx="5029200" cy="365125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8737600" y="6356359"/>
            <a:ext cx="2844800" cy="365125"/>
          </a:xfrm>
          <a:prstGeom prst="rect">
            <a:avLst/>
          </a:prstGeom>
        </p:spPr>
        <p:txBody>
          <a:bodyPr/>
          <a:lstStyle/>
          <a:p>
            <a:fld id="{52DC67D9-7476-42EA-B107-119E1B18B65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8517750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  <a:prstGeom prst="rect">
            <a:avLst/>
          </a:prstGeo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en-PH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PH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609600" y="6356359"/>
            <a:ext cx="284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3632200" y="6356359"/>
            <a:ext cx="5029200" cy="365125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8737600" y="6356359"/>
            <a:ext cx="2844800" cy="365125"/>
          </a:xfrm>
          <a:prstGeom prst="rect">
            <a:avLst/>
          </a:prstGeom>
        </p:spPr>
        <p:txBody>
          <a:bodyPr/>
          <a:lstStyle/>
          <a:p>
            <a:fld id="{52DC67D9-7476-42EA-B107-119E1B18B65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1771847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  <a:endParaRPr lang="en-PH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1600206"/>
            <a:ext cx="10972800" cy="4525963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PH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09600" y="6356359"/>
            <a:ext cx="2844800" cy="365125"/>
          </a:xfrm>
          <a:prstGeom prst="rect">
            <a:avLst/>
          </a:prstGeom>
        </p:spPr>
        <p:txBody>
          <a:bodyPr/>
          <a:lstStyle/>
          <a:p>
            <a:endParaRPr lang="en-PH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632200" y="6356359"/>
            <a:ext cx="5029200" cy="365125"/>
          </a:xfrm>
          <a:prstGeom prst="rect">
            <a:avLst/>
          </a:prstGeom>
        </p:spPr>
        <p:txBody>
          <a:bodyPr/>
          <a:lstStyle/>
          <a:p>
            <a:endParaRPr lang="en-PH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737600" y="6356359"/>
            <a:ext cx="2844800" cy="365125"/>
          </a:xfrm>
          <a:prstGeom prst="rect">
            <a:avLst/>
          </a:prstGeom>
        </p:spPr>
        <p:txBody>
          <a:bodyPr/>
          <a:lstStyle/>
          <a:p>
            <a:fld id="{52DC67D9-7476-42EA-B107-119E1B18B658}" type="slidenum">
              <a:rPr lang="en-US" smtClean="0"/>
              <a:t>‹#›</a:t>
            </a:fld>
            <a:endParaRPr lang="en-US"/>
          </a:p>
        </p:txBody>
      </p:sp>
      <p:sp>
        <p:nvSpPr>
          <p:cNvPr id="7" name="Footer Placeholder 4">
            <a:extLst>
              <a:ext uri="{FF2B5EF4-FFF2-40B4-BE49-F238E27FC236}">
                <a16:creationId xmlns:a16="http://schemas.microsoft.com/office/drawing/2014/main" id="{D057E4A9-8BC1-4D03-B0CD-00353C3D487D}"/>
              </a:ext>
            </a:extLst>
          </p:cNvPr>
          <p:cNvSpPr>
            <a:spLocks noGrp="1"/>
          </p:cNvSpPr>
          <p:nvPr userDrawn="1"/>
        </p:nvSpPr>
        <p:spPr>
          <a:xfrm>
            <a:off x="4038600" y="6351598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1200" kern="1200">
                <a:solidFill>
                  <a:srgbClr val="FFC000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3ICT 2021 - 29-30 September 2021    University of Bahrain</a:t>
            </a:r>
          </a:p>
        </p:txBody>
      </p:sp>
    </p:spTree>
    <p:extLst>
      <p:ext uri="{BB962C8B-B14F-4D97-AF65-F5344CB8AC3E}">
        <p14:creationId xmlns:p14="http://schemas.microsoft.com/office/powerpoint/2010/main" val="238409959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0" y="274647"/>
            <a:ext cx="2743200" cy="5851525"/>
          </a:xfrm>
          <a:prstGeom prst="rect">
            <a:avLst/>
          </a:prstGeo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PH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274647"/>
            <a:ext cx="8026400" cy="5851525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PH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09600" y="6356359"/>
            <a:ext cx="2844800" cy="365125"/>
          </a:xfrm>
          <a:prstGeom prst="rect">
            <a:avLst/>
          </a:prstGeom>
        </p:spPr>
        <p:txBody>
          <a:bodyPr/>
          <a:lstStyle/>
          <a:p>
            <a:endParaRPr lang="en-PH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632200" y="6356359"/>
            <a:ext cx="5029200" cy="365125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737600" y="6356359"/>
            <a:ext cx="2844800" cy="365125"/>
          </a:xfrm>
          <a:prstGeom prst="rect">
            <a:avLst/>
          </a:prstGeom>
        </p:spPr>
        <p:txBody>
          <a:bodyPr/>
          <a:lstStyle/>
          <a:p>
            <a:fld id="{52DC67D9-7476-42EA-B107-119E1B18B65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9075124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/>
          <p:nvPr userDrawn="1"/>
        </p:nvSpPr>
        <p:spPr>
          <a:xfrm>
            <a:off x="0" y="6146801"/>
            <a:ext cx="12192000" cy="711200"/>
          </a:xfrm>
          <a:prstGeom prst="rect">
            <a:avLst/>
          </a:prstGeom>
          <a:solidFill>
            <a:srgbClr val="00B05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/>
          </a:p>
        </p:txBody>
      </p:sp>
      <p:sp>
        <p:nvSpPr>
          <p:cNvPr id="10" name="Rectangle 9"/>
          <p:cNvSpPr/>
          <p:nvPr userDrawn="1"/>
        </p:nvSpPr>
        <p:spPr>
          <a:xfrm>
            <a:off x="1" y="6354237"/>
            <a:ext cx="12192000" cy="368300"/>
          </a:xfrm>
          <a:prstGeom prst="rect">
            <a:avLst/>
          </a:prstGeom>
          <a:solidFill>
            <a:schemeClr val="tx2">
              <a:lumMod val="75000"/>
              <a:alpha val="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b="1" dirty="0"/>
              <a:t>NATURAL LANGUAGE</a:t>
            </a:r>
            <a:r>
              <a:rPr lang="en-US" sz="1400" b="1" baseline="0" dirty="0"/>
              <a:t> PROCESSING (NLP)</a:t>
            </a:r>
            <a:endParaRPr lang="en-PH" sz="1400" b="1" dirty="0"/>
          </a:p>
        </p:txBody>
      </p:sp>
      <p:sp>
        <p:nvSpPr>
          <p:cNvPr id="17" name="Rectangle 16"/>
          <p:cNvSpPr/>
          <p:nvPr userDrawn="1"/>
        </p:nvSpPr>
        <p:spPr>
          <a:xfrm>
            <a:off x="254977" y="385020"/>
            <a:ext cx="11720146" cy="313266"/>
          </a:xfrm>
          <a:prstGeom prst="rect">
            <a:avLst/>
          </a:prstGeom>
          <a:solidFill>
            <a:srgbClr val="C00000">
              <a:alpha val="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b="1" dirty="0">
                <a:solidFill>
                  <a:srgbClr val="00B050"/>
                </a:solidFill>
                <a:latin typeface="Arial Black" pitchFamily="34" charset="0"/>
              </a:rPr>
              <a:t>Cognate/Professional Electives</a:t>
            </a:r>
            <a:endParaRPr lang="en-PH" sz="2000" b="1" dirty="0">
              <a:solidFill>
                <a:srgbClr val="0070C0"/>
              </a:solidFill>
              <a:latin typeface="Arial Black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13579438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5" r:id="rId1"/>
    <p:sldLayoutId id="2147483686" r:id="rId2"/>
    <p:sldLayoutId id="2147483687" r:id="rId3"/>
    <p:sldLayoutId id="2147483688" r:id="rId4"/>
    <p:sldLayoutId id="2147483689" r:id="rId5"/>
    <p:sldLayoutId id="2147483690" r:id="rId6"/>
    <p:sldLayoutId id="2147483691" r:id="rId7"/>
    <p:sldLayoutId id="2147483692" r:id="rId8"/>
    <p:sldLayoutId id="2147483693" r:id="rId9"/>
    <p:sldLayoutId id="2147483694" r:id="rId10"/>
    <p:sldLayoutId id="2147483695" r:id="rId11"/>
  </p:sldLayoutIdLst>
  <p:hf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369902" y="1875392"/>
            <a:ext cx="11452196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5400" b="1" dirty="0"/>
              <a:t>Natural Language Processing (NLP)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318029" y="4059278"/>
            <a:ext cx="5555942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b="1" dirty="0"/>
              <a:t>Renato R. </a:t>
            </a:r>
            <a:r>
              <a:rPr lang="en-US" sz="2000" b="1" dirty="0" err="1"/>
              <a:t>Maaliw</a:t>
            </a:r>
            <a:r>
              <a:rPr lang="en-US" sz="2000" b="1" dirty="0"/>
              <a:t> III, </a:t>
            </a:r>
            <a:r>
              <a:rPr lang="en-US" sz="2000" b="1" i="1" dirty="0"/>
              <a:t>DIT</a:t>
            </a:r>
          </a:p>
          <a:p>
            <a:pPr algn="ctr"/>
            <a:r>
              <a:rPr lang="en-US" sz="2000" i="1" dirty="0"/>
              <a:t>College of Engineering</a:t>
            </a:r>
          </a:p>
          <a:p>
            <a:pPr algn="ctr"/>
            <a:r>
              <a:rPr lang="en-US" sz="2000" i="1" dirty="0"/>
              <a:t>Southern Luzon State University</a:t>
            </a:r>
          </a:p>
          <a:p>
            <a:pPr algn="ctr"/>
            <a:r>
              <a:rPr lang="en-US" sz="2000" dirty="0" err="1"/>
              <a:t>Lucban</a:t>
            </a:r>
            <a:r>
              <a:rPr lang="en-US" sz="2000" dirty="0"/>
              <a:t>, Quezon, Philippines</a:t>
            </a:r>
            <a:endParaRPr lang="en-PH" sz="2000" dirty="0"/>
          </a:p>
        </p:txBody>
      </p:sp>
    </p:spTree>
    <p:extLst>
      <p:ext uri="{BB962C8B-B14F-4D97-AF65-F5344CB8AC3E}">
        <p14:creationId xmlns:p14="http://schemas.microsoft.com/office/powerpoint/2010/main" val="390654001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669520" y="1007202"/>
            <a:ext cx="10558668" cy="378565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400" b="1" dirty="0"/>
              <a:t>NLP</a:t>
            </a:r>
          </a:p>
          <a:p>
            <a:endParaRPr lang="en-US" sz="1400" b="1" dirty="0"/>
          </a:p>
          <a:p>
            <a:pPr marL="457200" indent="-457200">
              <a:buFontTx/>
              <a:buChar char="-"/>
            </a:pPr>
            <a:r>
              <a:rPr lang="en-US" sz="2800" dirty="0"/>
              <a:t>An area of computer science &amp; artificial intelligence concerned with the interactions between computers and </a:t>
            </a:r>
            <a:r>
              <a:rPr lang="en-US" sz="2800" b="1" dirty="0">
                <a:solidFill>
                  <a:srgbClr val="C00000"/>
                </a:solidFill>
              </a:rPr>
              <a:t>human (natural) languages</a:t>
            </a:r>
            <a:r>
              <a:rPr lang="en-US" sz="2800" dirty="0"/>
              <a:t>.</a:t>
            </a:r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r>
              <a:rPr lang="en-US" sz="2800" dirty="0"/>
              <a:t>Particular on how to program computers to process and analyze large amounts of </a:t>
            </a:r>
            <a:r>
              <a:rPr lang="en-US" sz="2800" b="1" dirty="0">
                <a:solidFill>
                  <a:srgbClr val="C00000"/>
                </a:solidFill>
              </a:rPr>
              <a:t>natural language data</a:t>
            </a:r>
            <a:r>
              <a:rPr lang="en-US" sz="2800" dirty="0"/>
              <a:t>.</a:t>
            </a:r>
          </a:p>
          <a:p>
            <a:endParaRPr lang="en-US" sz="1400" b="1" dirty="0"/>
          </a:p>
        </p:txBody>
      </p:sp>
    </p:spTree>
    <p:extLst>
      <p:ext uri="{BB962C8B-B14F-4D97-AF65-F5344CB8AC3E}">
        <p14:creationId xmlns:p14="http://schemas.microsoft.com/office/powerpoint/2010/main" val="19606584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669520" y="1007202"/>
            <a:ext cx="10558668" cy="473975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Tx/>
              <a:buChar char="-"/>
            </a:pPr>
            <a:r>
              <a:rPr lang="en-US" sz="3600" dirty="0"/>
              <a:t>When performing analysis, lots of data is numerical (sales numbers, physical measurements, quantifiable categories)</a:t>
            </a:r>
          </a:p>
          <a:p>
            <a:pPr marL="457200" indent="-457200">
              <a:buFontTx/>
              <a:buChar char="-"/>
            </a:pPr>
            <a:endParaRPr lang="en-US" sz="3600" dirty="0"/>
          </a:p>
          <a:p>
            <a:pPr marL="457200" indent="-457200">
              <a:buFontTx/>
              <a:buChar char="-"/>
            </a:pPr>
            <a:r>
              <a:rPr lang="en-US" sz="3600" dirty="0"/>
              <a:t>Computers are </a:t>
            </a:r>
            <a:r>
              <a:rPr lang="en-US" sz="3600" b="1" dirty="0">
                <a:solidFill>
                  <a:srgbClr val="C00000"/>
                </a:solidFill>
              </a:rPr>
              <a:t>very good </a:t>
            </a:r>
            <a:r>
              <a:rPr lang="en-US" sz="3600" dirty="0"/>
              <a:t>at handling direct </a:t>
            </a:r>
            <a:r>
              <a:rPr lang="en-US" sz="3600" b="1" dirty="0">
                <a:solidFill>
                  <a:srgbClr val="C00000"/>
                </a:solidFill>
              </a:rPr>
              <a:t>numerical</a:t>
            </a:r>
            <a:r>
              <a:rPr lang="en-US" sz="3600" dirty="0"/>
              <a:t> information</a:t>
            </a:r>
          </a:p>
          <a:p>
            <a:pPr marL="457200" indent="-457200">
              <a:buFontTx/>
              <a:buChar char="-"/>
            </a:pPr>
            <a:endParaRPr lang="en-US" sz="3600" dirty="0"/>
          </a:p>
          <a:p>
            <a:pPr marL="457200" indent="-457200">
              <a:buFontTx/>
              <a:buChar char="-"/>
            </a:pPr>
            <a:r>
              <a:rPr lang="en-US" sz="3600" dirty="0"/>
              <a:t>But what do we do about </a:t>
            </a:r>
            <a:r>
              <a:rPr lang="en-US" sz="3600" b="1" dirty="0">
                <a:solidFill>
                  <a:srgbClr val="C00000"/>
                </a:solidFill>
              </a:rPr>
              <a:t>text data</a:t>
            </a:r>
            <a:r>
              <a:rPr lang="en-US" sz="3600" dirty="0"/>
              <a:t>?</a:t>
            </a:r>
          </a:p>
          <a:p>
            <a:endParaRPr lang="en-US" sz="1400" b="1" dirty="0"/>
          </a:p>
        </p:txBody>
      </p:sp>
    </p:spTree>
    <p:extLst>
      <p:ext uri="{BB962C8B-B14F-4D97-AF65-F5344CB8AC3E}">
        <p14:creationId xmlns:p14="http://schemas.microsoft.com/office/powerpoint/2010/main" val="280724833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669520" y="1007202"/>
            <a:ext cx="10558668" cy="473975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Tx/>
              <a:buChar char="-"/>
            </a:pPr>
            <a:r>
              <a:rPr lang="en-US" sz="3600" dirty="0"/>
              <a:t>As humans we can tell there is a lot of information inside of text documents</a:t>
            </a:r>
          </a:p>
          <a:p>
            <a:pPr marL="457200" indent="-457200">
              <a:buFontTx/>
              <a:buChar char="-"/>
            </a:pPr>
            <a:endParaRPr lang="en-US" sz="3600" dirty="0"/>
          </a:p>
          <a:p>
            <a:pPr marL="457200" indent="-457200">
              <a:buFontTx/>
              <a:buChar char="-"/>
            </a:pPr>
            <a:r>
              <a:rPr lang="en-US" sz="3600" dirty="0"/>
              <a:t>However, a computer </a:t>
            </a:r>
            <a:r>
              <a:rPr lang="en-US" sz="3600" b="1" dirty="0">
                <a:solidFill>
                  <a:srgbClr val="C00000"/>
                </a:solidFill>
              </a:rPr>
              <a:t>needs</a:t>
            </a:r>
            <a:r>
              <a:rPr lang="en-US" sz="3600" dirty="0"/>
              <a:t> specialized processing techniques in order to “understand” raw text data.</a:t>
            </a:r>
          </a:p>
          <a:p>
            <a:pPr marL="457200" indent="-457200">
              <a:buFontTx/>
              <a:buChar char="-"/>
            </a:pPr>
            <a:endParaRPr lang="en-US" sz="3600" dirty="0"/>
          </a:p>
          <a:p>
            <a:pPr marL="457200" indent="-457200">
              <a:buFontTx/>
              <a:buChar char="-"/>
            </a:pPr>
            <a:r>
              <a:rPr lang="en-US" sz="3600" dirty="0"/>
              <a:t>Text data is </a:t>
            </a:r>
            <a:r>
              <a:rPr lang="en-US" sz="3600" b="1" dirty="0">
                <a:solidFill>
                  <a:srgbClr val="C00000"/>
                </a:solidFill>
              </a:rPr>
              <a:t>highly unstructured </a:t>
            </a:r>
            <a:r>
              <a:rPr lang="en-US" sz="3600" dirty="0"/>
              <a:t>and can be in multiple languages.</a:t>
            </a:r>
          </a:p>
          <a:p>
            <a:endParaRPr lang="en-US" sz="1400" b="1" dirty="0"/>
          </a:p>
        </p:txBody>
      </p:sp>
    </p:spTree>
    <p:extLst>
      <p:ext uri="{BB962C8B-B14F-4D97-AF65-F5344CB8AC3E}">
        <p14:creationId xmlns:p14="http://schemas.microsoft.com/office/powerpoint/2010/main" val="405861115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669520" y="1007202"/>
            <a:ext cx="10558668" cy="28623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Tx/>
              <a:buChar char="-"/>
            </a:pPr>
            <a:r>
              <a:rPr lang="en-US" sz="3600" dirty="0"/>
              <a:t>NLP attempts to use a </a:t>
            </a:r>
            <a:r>
              <a:rPr lang="en-US" sz="3600" b="1" dirty="0">
                <a:solidFill>
                  <a:srgbClr val="C00000"/>
                </a:solidFill>
              </a:rPr>
              <a:t>variety of techniques </a:t>
            </a:r>
            <a:r>
              <a:rPr lang="en-US" sz="3600" dirty="0"/>
              <a:t>in order to create a structure out of text data</a:t>
            </a:r>
          </a:p>
          <a:p>
            <a:pPr marL="457200" indent="-457200">
              <a:buFontTx/>
              <a:buChar char="-"/>
            </a:pPr>
            <a:endParaRPr lang="en-US" sz="3600" dirty="0"/>
          </a:p>
          <a:p>
            <a:pPr marL="457200" indent="-457200">
              <a:buFontTx/>
              <a:buChar char="-"/>
            </a:pPr>
            <a:r>
              <a:rPr lang="en-US" sz="3600" dirty="0"/>
              <a:t>We will discuss (first) some of the techniques using libraries such as </a:t>
            </a:r>
            <a:r>
              <a:rPr lang="en-US" sz="3600" b="1" dirty="0">
                <a:solidFill>
                  <a:srgbClr val="C00000"/>
                </a:solidFill>
              </a:rPr>
              <a:t>Spacy</a:t>
            </a:r>
            <a:r>
              <a:rPr lang="en-US" sz="3600" dirty="0"/>
              <a:t> and </a:t>
            </a:r>
            <a:r>
              <a:rPr lang="en-US" sz="3600" b="1" dirty="0">
                <a:solidFill>
                  <a:srgbClr val="C00000"/>
                </a:solidFill>
              </a:rPr>
              <a:t>NLTK</a:t>
            </a:r>
          </a:p>
        </p:txBody>
      </p:sp>
    </p:spTree>
    <p:extLst>
      <p:ext uri="{BB962C8B-B14F-4D97-AF65-F5344CB8AC3E}">
        <p14:creationId xmlns:p14="http://schemas.microsoft.com/office/powerpoint/2010/main" val="60480709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669520" y="1007202"/>
            <a:ext cx="10558668" cy="43396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b="1" dirty="0"/>
              <a:t>Use Cases of NLP:</a:t>
            </a:r>
          </a:p>
          <a:p>
            <a:pPr marL="457200" indent="-457200">
              <a:buFontTx/>
              <a:buChar char="-"/>
            </a:pPr>
            <a:endParaRPr lang="en-US" sz="2400" dirty="0"/>
          </a:p>
          <a:p>
            <a:pPr marL="457200" indent="-457200">
              <a:buFontTx/>
              <a:buChar char="-"/>
            </a:pPr>
            <a:r>
              <a:rPr lang="en-US" sz="3600" dirty="0"/>
              <a:t>Classifying emails as spam vs. legitimate</a:t>
            </a:r>
          </a:p>
          <a:p>
            <a:pPr marL="457200" indent="-457200">
              <a:buFontTx/>
              <a:buChar char="-"/>
            </a:pPr>
            <a:r>
              <a:rPr lang="en-US" sz="3600" dirty="0"/>
              <a:t>Sentiment analysis of text movie reviews</a:t>
            </a:r>
          </a:p>
          <a:p>
            <a:pPr marL="457200" indent="-457200">
              <a:buFontTx/>
              <a:buChar char="-"/>
            </a:pPr>
            <a:r>
              <a:rPr lang="en-US" sz="3600" dirty="0"/>
              <a:t>Analyzing trends from written customer feedback forms</a:t>
            </a:r>
          </a:p>
          <a:p>
            <a:pPr marL="457200" indent="-457200">
              <a:buFontTx/>
              <a:buChar char="-"/>
            </a:pPr>
            <a:r>
              <a:rPr lang="en-US" sz="3600" dirty="0"/>
              <a:t>Understanding text commands, “Hey Google, play this song”</a:t>
            </a:r>
          </a:p>
        </p:txBody>
      </p:sp>
    </p:spTree>
    <p:extLst>
      <p:ext uri="{BB962C8B-B14F-4D97-AF65-F5344CB8AC3E}">
        <p14:creationId xmlns:p14="http://schemas.microsoft.com/office/powerpoint/2010/main" val="126827629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669520" y="1007202"/>
            <a:ext cx="10558668" cy="507831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Tx/>
              <a:buChar char="-"/>
            </a:pPr>
            <a:r>
              <a:rPr lang="en-US" sz="3600" dirty="0"/>
              <a:t>NLP is constantly evolving and great strides are made every month.</a:t>
            </a:r>
          </a:p>
          <a:p>
            <a:pPr marL="457200" indent="-457200">
              <a:buFontTx/>
              <a:buChar char="-"/>
            </a:pPr>
            <a:endParaRPr lang="en-US" sz="3600" dirty="0"/>
          </a:p>
          <a:p>
            <a:pPr marL="457200" indent="-457200">
              <a:buFontTx/>
              <a:buChar char="-"/>
            </a:pPr>
            <a:r>
              <a:rPr lang="en-US" sz="3600" dirty="0"/>
              <a:t>In this lessons, we will focus on the fundamental ideas that all state-of-the-art techniques are based off</a:t>
            </a:r>
          </a:p>
          <a:p>
            <a:pPr marL="457200" indent="-457200">
              <a:buFontTx/>
              <a:buChar char="-"/>
            </a:pPr>
            <a:endParaRPr lang="en-US" sz="3600" dirty="0"/>
          </a:p>
          <a:p>
            <a:pPr marL="457200" indent="-457200">
              <a:buFontTx/>
              <a:buChar char="-"/>
            </a:pPr>
            <a:r>
              <a:rPr lang="en-US" sz="3600" dirty="0"/>
              <a:t>We will learn about the basics of using the Spacy library.</a:t>
            </a:r>
          </a:p>
        </p:txBody>
      </p:sp>
    </p:spTree>
    <p:extLst>
      <p:ext uri="{BB962C8B-B14F-4D97-AF65-F5344CB8AC3E}">
        <p14:creationId xmlns:p14="http://schemas.microsoft.com/office/powerpoint/2010/main" val="285423440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/>
          <p:cNvSpPr txBox="1"/>
          <p:nvPr/>
        </p:nvSpPr>
        <p:spPr>
          <a:xfrm>
            <a:off x="721363" y="2343003"/>
            <a:ext cx="10749281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6000" b="1" dirty="0">
                <a:latin typeface="Arial" pitchFamily="34" charset="0"/>
                <a:cs typeface="Arial" pitchFamily="34" charset="0"/>
              </a:rPr>
              <a:t>Spacy Basics</a:t>
            </a:r>
            <a:endParaRPr lang="en-US" sz="6000" b="1" dirty="0">
              <a:solidFill>
                <a:schemeClr val="accent2"/>
              </a:solidFill>
              <a:latin typeface="Arial" pitchFamily="34" charset="0"/>
              <a:cs typeface="Arial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9151160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669520" y="1007202"/>
            <a:ext cx="10558668" cy="31700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Tx/>
              <a:buChar char="-"/>
            </a:pPr>
            <a:r>
              <a:rPr lang="en-US" sz="4000" dirty="0"/>
              <a:t>Loading the language library</a:t>
            </a:r>
          </a:p>
          <a:p>
            <a:pPr marL="457200" indent="-457200">
              <a:buFontTx/>
              <a:buChar char="-"/>
            </a:pPr>
            <a:r>
              <a:rPr lang="en-US" sz="4000" dirty="0"/>
              <a:t>Building a pipeline object</a:t>
            </a:r>
          </a:p>
          <a:p>
            <a:pPr marL="457200" indent="-457200">
              <a:buFontTx/>
              <a:buChar char="-"/>
            </a:pPr>
            <a:r>
              <a:rPr lang="en-US" sz="4000" dirty="0"/>
              <a:t>Using tokens</a:t>
            </a:r>
          </a:p>
          <a:p>
            <a:pPr marL="457200" indent="-457200">
              <a:buFontTx/>
              <a:buChar char="-"/>
            </a:pPr>
            <a:r>
              <a:rPr lang="en-US" sz="4000" dirty="0"/>
              <a:t>Parts-of-Speech tagging</a:t>
            </a:r>
          </a:p>
          <a:p>
            <a:pPr marL="457200" indent="-457200">
              <a:buFontTx/>
              <a:buChar char="-"/>
            </a:pPr>
            <a:r>
              <a:rPr lang="en-US" sz="4000" dirty="0"/>
              <a:t>Understanding token attributes</a:t>
            </a:r>
          </a:p>
        </p:txBody>
      </p:sp>
    </p:spTree>
    <p:extLst>
      <p:ext uri="{BB962C8B-B14F-4D97-AF65-F5344CB8AC3E}">
        <p14:creationId xmlns:p14="http://schemas.microsoft.com/office/powerpoint/2010/main" val="416865761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669520" y="1007202"/>
            <a:ext cx="10558668" cy="25545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Tx/>
              <a:buChar char="-"/>
            </a:pPr>
            <a:r>
              <a:rPr lang="en-US" sz="4000" dirty="0"/>
              <a:t>The </a:t>
            </a:r>
            <a:r>
              <a:rPr lang="en-US" sz="4000" b="1" dirty="0" err="1"/>
              <a:t>nlp</a:t>
            </a:r>
            <a:r>
              <a:rPr lang="en-US" sz="4000" b="1" dirty="0"/>
              <a:t>() </a:t>
            </a:r>
            <a:r>
              <a:rPr lang="en-US" sz="4000" dirty="0"/>
              <a:t>function from Spacy automatically takes raw text and performs a series of operations to tag, parse, and describe the text data.</a:t>
            </a:r>
            <a:endParaRPr lang="en-US" sz="4000" b="1" dirty="0"/>
          </a:p>
        </p:txBody>
      </p:sp>
    </p:spTree>
    <p:extLst>
      <p:ext uri="{BB962C8B-B14F-4D97-AF65-F5344CB8AC3E}">
        <p14:creationId xmlns:p14="http://schemas.microsoft.com/office/powerpoint/2010/main" val="127567370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669520" y="1007202"/>
            <a:ext cx="10558668" cy="31700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Tx/>
              <a:buChar char="-"/>
            </a:pPr>
            <a:r>
              <a:rPr lang="en-US" sz="4000" dirty="0"/>
              <a:t>We will create a pipeline objects and its series of operations</a:t>
            </a:r>
          </a:p>
          <a:p>
            <a:endParaRPr lang="en-US" sz="4000" dirty="0"/>
          </a:p>
          <a:p>
            <a:pPr marL="457200" indent="-457200">
              <a:buFontTx/>
              <a:buChar char="-"/>
            </a:pPr>
            <a:r>
              <a:rPr lang="en-US" sz="4000" dirty="0"/>
              <a:t>Examples: Tokenization, POS, Stemming, Lemmatization, etc.</a:t>
            </a:r>
          </a:p>
        </p:txBody>
      </p:sp>
    </p:spTree>
    <p:extLst>
      <p:ext uri="{BB962C8B-B14F-4D97-AF65-F5344CB8AC3E}">
        <p14:creationId xmlns:p14="http://schemas.microsoft.com/office/powerpoint/2010/main" val="74786989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/>
          <p:cNvSpPr txBox="1"/>
          <p:nvPr/>
        </p:nvSpPr>
        <p:spPr>
          <a:xfrm>
            <a:off x="721363" y="2390628"/>
            <a:ext cx="10749281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6000" b="1" dirty="0">
                <a:latin typeface="Arial" pitchFamily="34" charset="0"/>
                <a:cs typeface="Arial" pitchFamily="34" charset="0"/>
              </a:rPr>
              <a:t>[Code Demo]</a:t>
            </a:r>
            <a:endParaRPr lang="en-US" sz="6000" b="1" dirty="0">
              <a:solidFill>
                <a:schemeClr val="accent2"/>
              </a:solidFill>
              <a:latin typeface="Arial" pitchFamily="34" charset="0"/>
              <a:cs typeface="Arial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6162840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/>
          <p:cNvSpPr txBox="1"/>
          <p:nvPr/>
        </p:nvSpPr>
        <p:spPr>
          <a:xfrm>
            <a:off x="721363" y="2390628"/>
            <a:ext cx="10749281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6000" b="1" dirty="0">
                <a:latin typeface="Arial" pitchFamily="34" charset="0"/>
                <a:cs typeface="Arial" pitchFamily="34" charset="0"/>
              </a:rPr>
              <a:t>Tokenization</a:t>
            </a:r>
            <a:endParaRPr lang="en-US" sz="6000" b="1" dirty="0">
              <a:solidFill>
                <a:schemeClr val="accent2"/>
              </a:solidFill>
              <a:latin typeface="Arial" pitchFamily="34" charset="0"/>
              <a:cs typeface="Arial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6892115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669520" y="857787"/>
            <a:ext cx="10558668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Tx/>
              <a:buChar char="-"/>
            </a:pPr>
            <a:r>
              <a:rPr lang="en-US" sz="3600" dirty="0"/>
              <a:t>Tokenization is the process of breaking up the original text into component pieces (tokens)</a:t>
            </a:r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822989" y="2125486"/>
            <a:ext cx="6501986" cy="392288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414807221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669520" y="1143537"/>
            <a:ext cx="10558668" cy="28623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Tx/>
              <a:buChar char="-"/>
            </a:pPr>
            <a:r>
              <a:rPr lang="en-US" sz="3600" dirty="0"/>
              <a:t>Notice that tokens are pieces of the </a:t>
            </a:r>
            <a:r>
              <a:rPr lang="en-US" sz="3600" b="1" dirty="0"/>
              <a:t>original text</a:t>
            </a:r>
          </a:p>
          <a:p>
            <a:pPr marL="457200" indent="-457200">
              <a:buFontTx/>
              <a:buChar char="-"/>
            </a:pPr>
            <a:endParaRPr lang="en-US" sz="3600" b="1" dirty="0"/>
          </a:p>
          <a:p>
            <a:pPr marL="457200" indent="-457200">
              <a:buFontTx/>
              <a:buChar char="-"/>
            </a:pPr>
            <a:r>
              <a:rPr lang="en-US" sz="3600" dirty="0"/>
              <a:t>We don’t see any conversion to word stems or lemmas (base forms of words) and we haven’t seen anything about organizations/places/money etc.</a:t>
            </a:r>
          </a:p>
        </p:txBody>
      </p:sp>
    </p:spTree>
    <p:extLst>
      <p:ext uri="{BB962C8B-B14F-4D97-AF65-F5344CB8AC3E}">
        <p14:creationId xmlns:p14="http://schemas.microsoft.com/office/powerpoint/2010/main" val="3874560736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669520" y="1143537"/>
            <a:ext cx="10558668" cy="39703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Tx/>
              <a:buChar char="-"/>
            </a:pPr>
            <a:r>
              <a:rPr lang="en-US" sz="3600" b="1" dirty="0"/>
              <a:t>Prefix</a:t>
            </a:r>
            <a:r>
              <a:rPr lang="en-US" sz="3600" dirty="0"/>
              <a:t>: 	character(s) at the beginning </a:t>
            </a:r>
            <a:r>
              <a:rPr lang="en-US" sz="3600" dirty="0">
                <a:sym typeface="Wingdings" pitchFamily="2" charset="2"/>
              </a:rPr>
              <a:t> </a:t>
            </a:r>
            <a:r>
              <a:rPr lang="en-US" sz="3600" i="1" dirty="0"/>
              <a:t>$ ( “</a:t>
            </a:r>
            <a:endParaRPr lang="en-US" sz="3600" b="1" i="1" dirty="0"/>
          </a:p>
          <a:p>
            <a:pPr marL="457200" indent="-457200">
              <a:buFontTx/>
              <a:buChar char="-"/>
            </a:pPr>
            <a:r>
              <a:rPr lang="en-US" sz="3600" b="1" dirty="0"/>
              <a:t>Suffix: 	</a:t>
            </a:r>
            <a:r>
              <a:rPr lang="en-US" sz="3600" dirty="0"/>
              <a:t>characters(s) at the end	        </a:t>
            </a:r>
            <a:r>
              <a:rPr lang="en-US" sz="3600" dirty="0">
                <a:sym typeface="Wingdings" pitchFamily="2" charset="2"/>
              </a:rPr>
              <a:t> </a:t>
            </a:r>
            <a:r>
              <a:rPr lang="en-US" sz="3600" i="1" dirty="0"/>
              <a:t>km ) , . ! “</a:t>
            </a:r>
          </a:p>
          <a:p>
            <a:pPr marL="457200" indent="-457200">
              <a:buFontTx/>
              <a:buChar char="-"/>
            </a:pPr>
            <a:r>
              <a:rPr lang="en-US" sz="3600" b="1" dirty="0"/>
              <a:t>Infix: 	</a:t>
            </a:r>
            <a:r>
              <a:rPr lang="en-US" sz="3600" dirty="0"/>
              <a:t>character(s) in between	        </a:t>
            </a:r>
            <a:r>
              <a:rPr lang="en-US" sz="3600" dirty="0">
                <a:sym typeface="Wingdings" pitchFamily="2" charset="2"/>
              </a:rPr>
              <a:t> </a:t>
            </a:r>
            <a:r>
              <a:rPr lang="en-US" sz="3600" i="1" dirty="0"/>
              <a:t>- -- / …</a:t>
            </a:r>
          </a:p>
          <a:p>
            <a:pPr marL="457200" indent="-457200">
              <a:buFontTx/>
              <a:buChar char="-"/>
            </a:pPr>
            <a:r>
              <a:rPr lang="en-US" sz="3600" b="1" dirty="0"/>
              <a:t>Exception</a:t>
            </a:r>
            <a:r>
              <a:rPr lang="en-US" sz="3600" dirty="0"/>
              <a:t>:	</a:t>
            </a:r>
          </a:p>
          <a:p>
            <a:r>
              <a:rPr lang="en-US" sz="3600" dirty="0"/>
              <a:t>    special-case rule to split a string into several tokens   </a:t>
            </a:r>
          </a:p>
          <a:p>
            <a:r>
              <a:rPr lang="en-US" sz="3600" dirty="0"/>
              <a:t>    or prevent a token from being split when punctuation </a:t>
            </a:r>
          </a:p>
          <a:p>
            <a:r>
              <a:rPr lang="en-US" sz="3600" dirty="0"/>
              <a:t>    rules are applied	 </a:t>
            </a:r>
            <a:r>
              <a:rPr lang="en-US" sz="3600" dirty="0">
                <a:sym typeface="Wingdings" pitchFamily="2" charset="2"/>
              </a:rPr>
              <a:t> </a:t>
            </a:r>
            <a:r>
              <a:rPr lang="en-US" sz="3600" i="1" dirty="0"/>
              <a:t>let’s U.S</a:t>
            </a:r>
            <a:r>
              <a:rPr lang="en-US" sz="3600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741147969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669520" y="1143537"/>
            <a:ext cx="10558668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Tx/>
              <a:buChar char="-"/>
            </a:pPr>
            <a:r>
              <a:rPr lang="en-US" sz="3600" b="1" dirty="0"/>
              <a:t>Tokens</a:t>
            </a:r>
            <a:r>
              <a:rPr lang="en-US" sz="3600" dirty="0"/>
              <a:t> have a variety of useful attributes and methods</a:t>
            </a:r>
            <a:endParaRPr lang="en-US" sz="3600" b="1" dirty="0"/>
          </a:p>
        </p:txBody>
      </p:sp>
    </p:spTree>
    <p:extLst>
      <p:ext uri="{BB962C8B-B14F-4D97-AF65-F5344CB8AC3E}">
        <p14:creationId xmlns:p14="http://schemas.microsoft.com/office/powerpoint/2010/main" val="2925004992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/>
          <p:cNvSpPr txBox="1"/>
          <p:nvPr/>
        </p:nvSpPr>
        <p:spPr>
          <a:xfrm>
            <a:off x="721363" y="2390628"/>
            <a:ext cx="10749281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6000" b="1" dirty="0">
                <a:latin typeface="Arial" pitchFamily="34" charset="0"/>
                <a:cs typeface="Arial" pitchFamily="34" charset="0"/>
              </a:rPr>
              <a:t>[Code Demo]</a:t>
            </a:r>
            <a:endParaRPr lang="en-US" sz="6000" b="1" dirty="0">
              <a:solidFill>
                <a:schemeClr val="accent2"/>
              </a:solidFill>
              <a:latin typeface="Arial" pitchFamily="34" charset="0"/>
              <a:cs typeface="Arial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368909298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/>
          <p:cNvSpPr txBox="1"/>
          <p:nvPr/>
        </p:nvSpPr>
        <p:spPr>
          <a:xfrm>
            <a:off x="721364" y="2562078"/>
            <a:ext cx="10749281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800" b="1" dirty="0">
                <a:latin typeface="Arial" pitchFamily="34" charset="0"/>
                <a:cs typeface="Arial" pitchFamily="34" charset="0"/>
              </a:rPr>
              <a:t>Tokenization Visualization</a:t>
            </a:r>
            <a:endParaRPr lang="en-US" sz="3200" b="1" dirty="0">
              <a:solidFill>
                <a:schemeClr val="accent2"/>
              </a:solidFill>
              <a:latin typeface="Arial" pitchFamily="34" charset="0"/>
              <a:cs typeface="Arial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347468296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669520" y="1143537"/>
            <a:ext cx="1055866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Tx/>
              <a:buChar char="-"/>
            </a:pPr>
            <a:r>
              <a:rPr lang="en-US" sz="3600" dirty="0"/>
              <a:t>Visualization of token relationships</a:t>
            </a:r>
          </a:p>
        </p:txBody>
      </p:sp>
    </p:spTree>
    <p:extLst>
      <p:ext uri="{BB962C8B-B14F-4D97-AF65-F5344CB8AC3E}">
        <p14:creationId xmlns:p14="http://schemas.microsoft.com/office/powerpoint/2010/main" val="1885463236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/>
          <p:cNvSpPr txBox="1"/>
          <p:nvPr/>
        </p:nvSpPr>
        <p:spPr>
          <a:xfrm>
            <a:off x="721363" y="2390628"/>
            <a:ext cx="10749281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6000" b="1" dirty="0">
                <a:latin typeface="Arial" pitchFamily="34" charset="0"/>
                <a:cs typeface="Arial" pitchFamily="34" charset="0"/>
              </a:rPr>
              <a:t>[Code Demo]</a:t>
            </a:r>
            <a:endParaRPr lang="en-US" sz="6000" b="1" dirty="0">
              <a:solidFill>
                <a:schemeClr val="accent2"/>
              </a:solidFill>
              <a:latin typeface="Arial" pitchFamily="34" charset="0"/>
              <a:cs typeface="Arial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368909298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/>
          <p:cNvSpPr txBox="1"/>
          <p:nvPr/>
        </p:nvSpPr>
        <p:spPr>
          <a:xfrm>
            <a:off x="721363" y="2409678"/>
            <a:ext cx="10749281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6000" b="1" dirty="0">
                <a:latin typeface="Arial" pitchFamily="34" charset="0"/>
                <a:cs typeface="Arial" pitchFamily="34" charset="0"/>
              </a:rPr>
              <a:t>Stemming</a:t>
            </a:r>
            <a:endParaRPr lang="en-US" sz="6000" b="1" dirty="0">
              <a:solidFill>
                <a:schemeClr val="accent2"/>
              </a:solidFill>
              <a:latin typeface="Arial" pitchFamily="34" charset="0"/>
              <a:cs typeface="Arial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28361814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669520" y="1143537"/>
            <a:ext cx="10558668" cy="34163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Tx/>
              <a:buChar char="-"/>
            </a:pPr>
            <a:r>
              <a:rPr lang="en-US" sz="3600" dirty="0"/>
              <a:t>Often when searching text for a certain keyword, it helps if the search returns variations of the word</a:t>
            </a:r>
          </a:p>
          <a:p>
            <a:pPr marL="457200" indent="-457200">
              <a:buFontTx/>
              <a:buChar char="-"/>
            </a:pPr>
            <a:endParaRPr lang="en-US" sz="3600" dirty="0"/>
          </a:p>
          <a:p>
            <a:pPr marL="457200" indent="-457200">
              <a:buFontTx/>
              <a:buChar char="-"/>
            </a:pPr>
            <a:r>
              <a:rPr lang="en-US" sz="3600" dirty="0"/>
              <a:t>For example, searching for “boat” might also return “boats” and “boating”. Here “boat” would be the stem for [boat, boater, boating, boats]</a:t>
            </a:r>
          </a:p>
        </p:txBody>
      </p:sp>
    </p:spTree>
    <p:extLst>
      <p:ext uri="{BB962C8B-B14F-4D97-AF65-F5344CB8AC3E}">
        <p14:creationId xmlns:p14="http://schemas.microsoft.com/office/powerpoint/2010/main" val="2237839929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669520" y="1143537"/>
            <a:ext cx="10558668" cy="44627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b="1" dirty="0"/>
              <a:t>Why Stemming is Necessary?</a:t>
            </a:r>
          </a:p>
          <a:p>
            <a:endParaRPr lang="en-US" sz="3600" dirty="0"/>
          </a:p>
          <a:p>
            <a:r>
              <a:rPr lang="en-US" sz="3600" dirty="0"/>
              <a:t>1. Text Normalization</a:t>
            </a:r>
          </a:p>
          <a:p>
            <a:endParaRPr lang="en-US" sz="3600" dirty="0"/>
          </a:p>
          <a:p>
            <a:pPr marL="457200" indent="-457200">
              <a:buFontTx/>
              <a:buChar char="-"/>
            </a:pPr>
            <a:r>
              <a:rPr lang="en-US" sz="2800" dirty="0"/>
              <a:t>Words like </a:t>
            </a:r>
            <a:r>
              <a:rPr lang="en-US" sz="2800" i="1" dirty="0"/>
              <a:t>running</a:t>
            </a:r>
            <a:r>
              <a:rPr lang="en-US" sz="2800" dirty="0"/>
              <a:t>, </a:t>
            </a:r>
            <a:r>
              <a:rPr lang="en-US" sz="2800" i="1" dirty="0"/>
              <a:t>runs</a:t>
            </a:r>
            <a:r>
              <a:rPr lang="en-US" sz="2800" dirty="0"/>
              <a:t>, and </a:t>
            </a:r>
            <a:r>
              <a:rPr lang="en-US" sz="2800" i="1" dirty="0"/>
              <a:t>ran</a:t>
            </a:r>
            <a:r>
              <a:rPr lang="en-US" sz="2800" dirty="0"/>
              <a:t> share the same root (</a:t>
            </a:r>
            <a:r>
              <a:rPr lang="en-US" sz="2800" i="1" dirty="0"/>
              <a:t>run</a:t>
            </a:r>
            <a:r>
              <a:rPr lang="en-US" sz="2800" dirty="0"/>
              <a:t>). Stemming reduces these inflections and derivations to a common base form, making it easier to treat them as the same word.</a:t>
            </a:r>
          </a:p>
          <a:p>
            <a:endParaRPr lang="en-US" sz="2800" dirty="0"/>
          </a:p>
          <a:p>
            <a:pPr marL="457200" indent="-457200">
              <a:buFontTx/>
              <a:buChar char="-"/>
            </a:pPr>
            <a:r>
              <a:rPr lang="en-US" sz="2800" dirty="0"/>
              <a:t>This simplifies text data by reducing redundant word variations.</a:t>
            </a:r>
          </a:p>
        </p:txBody>
      </p:sp>
    </p:spTree>
    <p:extLst>
      <p:ext uri="{BB962C8B-B14F-4D97-AF65-F5344CB8AC3E}">
        <p14:creationId xmlns:p14="http://schemas.microsoft.com/office/powerpoint/2010/main" val="2443421585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669520" y="1143537"/>
            <a:ext cx="10950980" cy="44627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b="1" dirty="0"/>
              <a:t>Why Stemming is Necessary?</a:t>
            </a:r>
          </a:p>
          <a:p>
            <a:endParaRPr lang="en-US" sz="3600" dirty="0"/>
          </a:p>
          <a:p>
            <a:r>
              <a:rPr lang="en-US" sz="3600" dirty="0"/>
              <a:t>2. Improves Search and Matching</a:t>
            </a:r>
          </a:p>
          <a:p>
            <a:endParaRPr lang="en-US" sz="3600" dirty="0"/>
          </a:p>
          <a:p>
            <a:pPr marL="457200" indent="-457200">
              <a:buFontTx/>
              <a:buChar char="-"/>
            </a:pPr>
            <a:r>
              <a:rPr lang="en-US" sz="2800" dirty="0"/>
              <a:t>In search engines or databases, stemming allows a query for </a:t>
            </a:r>
            <a:r>
              <a:rPr lang="en-US" sz="2800" i="1" dirty="0"/>
              <a:t>run</a:t>
            </a:r>
            <a:r>
              <a:rPr lang="en-US" sz="2800" dirty="0"/>
              <a:t> to return documents containing </a:t>
            </a:r>
            <a:r>
              <a:rPr lang="en-US" sz="2800" i="1" dirty="0"/>
              <a:t>runs</a:t>
            </a:r>
            <a:r>
              <a:rPr lang="en-US" sz="2800" dirty="0"/>
              <a:t>, </a:t>
            </a:r>
            <a:r>
              <a:rPr lang="en-US" sz="2800" i="1" dirty="0"/>
              <a:t>running</a:t>
            </a:r>
            <a:r>
              <a:rPr lang="en-US" sz="2800" dirty="0"/>
              <a:t>, or </a:t>
            </a:r>
            <a:r>
              <a:rPr lang="en-US" sz="2800" i="1" dirty="0"/>
              <a:t>ran</a:t>
            </a:r>
            <a:r>
              <a:rPr lang="en-US" sz="2800" dirty="0"/>
              <a:t>.</a:t>
            </a:r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r>
              <a:rPr lang="en-US" sz="2800" dirty="0"/>
              <a:t>It improves the recall of search results by accounting for morphological </a:t>
            </a:r>
          </a:p>
          <a:p>
            <a:r>
              <a:rPr lang="en-US" sz="2800" dirty="0"/>
              <a:t>      variations.</a:t>
            </a:r>
          </a:p>
        </p:txBody>
      </p:sp>
    </p:spTree>
    <p:extLst>
      <p:ext uri="{BB962C8B-B14F-4D97-AF65-F5344CB8AC3E}">
        <p14:creationId xmlns:p14="http://schemas.microsoft.com/office/powerpoint/2010/main" val="1180909810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669520" y="1143537"/>
            <a:ext cx="10950980" cy="44627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b="1" dirty="0"/>
              <a:t>Why Stemming is Necessary?</a:t>
            </a:r>
          </a:p>
          <a:p>
            <a:endParaRPr lang="en-US" sz="3600" dirty="0"/>
          </a:p>
          <a:p>
            <a:r>
              <a:rPr lang="en-US" sz="3600" dirty="0"/>
              <a:t>3. Reduces Dimensionality</a:t>
            </a:r>
          </a:p>
          <a:p>
            <a:endParaRPr lang="en-US" sz="3600" dirty="0"/>
          </a:p>
          <a:p>
            <a:pPr marL="457200" indent="-457200">
              <a:buFontTx/>
              <a:buChar char="-"/>
            </a:pPr>
            <a:r>
              <a:rPr lang="en-US" sz="2800" dirty="0"/>
              <a:t>By grouping different forms of a word into a single base form, stemming reduces the size of the vocabulary.</a:t>
            </a:r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r>
              <a:rPr lang="en-US" sz="2800" dirty="0"/>
              <a:t>This is especially useful in machine learning and NLP tasks, where large vocabularies increase computational complexity.</a:t>
            </a:r>
          </a:p>
        </p:txBody>
      </p:sp>
    </p:spTree>
    <p:extLst>
      <p:ext uri="{BB962C8B-B14F-4D97-AF65-F5344CB8AC3E}">
        <p14:creationId xmlns:p14="http://schemas.microsoft.com/office/powerpoint/2010/main" val="1940932231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669520" y="1143537"/>
            <a:ext cx="10950980" cy="42165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b="1" dirty="0"/>
              <a:t>Why Stemming is Necessary?</a:t>
            </a:r>
          </a:p>
          <a:p>
            <a:endParaRPr lang="en-US" sz="3600" dirty="0"/>
          </a:p>
          <a:p>
            <a:r>
              <a:rPr lang="en-US" sz="3600" dirty="0"/>
              <a:t>4. Enhances Machine Learning Models</a:t>
            </a:r>
          </a:p>
          <a:p>
            <a:endParaRPr lang="en-US" sz="2000" dirty="0"/>
          </a:p>
          <a:p>
            <a:pPr marL="457200" indent="-457200">
              <a:buFontTx/>
              <a:buChar char="-"/>
            </a:pPr>
            <a:r>
              <a:rPr lang="en-US" sz="2800" dirty="0"/>
              <a:t>Helps algorithms focus on the meaning of the word rather than its grammatical variations.</a:t>
            </a:r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r>
              <a:rPr lang="en-US" sz="2800" dirty="0"/>
              <a:t>Reduces noise and </a:t>
            </a:r>
            <a:r>
              <a:rPr lang="en-US" sz="2800" dirty="0" err="1"/>
              <a:t>sparsity</a:t>
            </a:r>
            <a:r>
              <a:rPr lang="en-US" sz="2800" dirty="0"/>
              <a:t> in feature space, improving the performance of models like text classifiers or topic models.</a:t>
            </a:r>
          </a:p>
        </p:txBody>
      </p:sp>
    </p:spTree>
    <p:extLst>
      <p:ext uri="{BB962C8B-B14F-4D97-AF65-F5344CB8AC3E}">
        <p14:creationId xmlns:p14="http://schemas.microsoft.com/office/powerpoint/2010/main" val="4284564723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669520" y="1143537"/>
            <a:ext cx="10950980" cy="29238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b="1" dirty="0"/>
              <a:t>Why Stemming is Necessary?</a:t>
            </a:r>
          </a:p>
          <a:p>
            <a:endParaRPr lang="en-US" sz="3600" dirty="0"/>
          </a:p>
          <a:p>
            <a:r>
              <a:rPr lang="en-US" sz="3600" dirty="0"/>
              <a:t>5. Essential for Languages with Rich Morphology</a:t>
            </a:r>
          </a:p>
          <a:p>
            <a:endParaRPr lang="en-US" sz="2000" dirty="0"/>
          </a:p>
          <a:p>
            <a:pPr marL="457200" indent="-457200">
              <a:buFontTx/>
              <a:buChar char="-"/>
            </a:pPr>
            <a:r>
              <a:rPr lang="en-US" sz="2800" dirty="0"/>
              <a:t>For languages with complex inflections (e.g., Finnish, Turkish), stemming simplifies words to their root forms, making analysis feasible.</a:t>
            </a:r>
          </a:p>
        </p:txBody>
      </p:sp>
    </p:spTree>
    <p:extLst>
      <p:ext uri="{BB962C8B-B14F-4D97-AF65-F5344CB8AC3E}">
        <p14:creationId xmlns:p14="http://schemas.microsoft.com/office/powerpoint/2010/main" val="1812072890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669520" y="1143537"/>
            <a:ext cx="10950980" cy="29238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b="1" dirty="0"/>
              <a:t>Why Stemming is Necessary?</a:t>
            </a:r>
          </a:p>
          <a:p>
            <a:endParaRPr lang="en-US" sz="3600" dirty="0"/>
          </a:p>
          <a:p>
            <a:r>
              <a:rPr lang="en-US" sz="3600" dirty="0"/>
              <a:t>6. Improves Clustering and Similarity</a:t>
            </a:r>
          </a:p>
          <a:p>
            <a:endParaRPr lang="en-US" sz="2000" dirty="0"/>
          </a:p>
          <a:p>
            <a:pPr marL="457200" indent="-457200">
              <a:buFontTx/>
              <a:buChar char="-"/>
            </a:pPr>
            <a:r>
              <a:rPr lang="en-US" sz="2800" dirty="0"/>
              <a:t>In clustering or similarity-based tasks, stemming ensures that words with similar meanings are grouped together.</a:t>
            </a:r>
          </a:p>
        </p:txBody>
      </p:sp>
    </p:spTree>
    <p:extLst>
      <p:ext uri="{BB962C8B-B14F-4D97-AF65-F5344CB8AC3E}">
        <p14:creationId xmlns:p14="http://schemas.microsoft.com/office/powerpoint/2010/main" val="2780258576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669520" y="1143537"/>
            <a:ext cx="10950980" cy="484748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b="1" dirty="0"/>
              <a:t>Without Stemming:</a:t>
            </a:r>
          </a:p>
          <a:p>
            <a:endParaRPr lang="en-US" sz="1100" dirty="0"/>
          </a:p>
          <a:p>
            <a:r>
              <a:rPr lang="en-PH" sz="3600" dirty="0"/>
              <a:t>Words: run, running, runner, runs</a:t>
            </a:r>
          </a:p>
          <a:p>
            <a:r>
              <a:rPr lang="en-PH" sz="3600" dirty="0"/>
              <a:t>Vocabulary: ['run', 'running', 'runner', 'runs']</a:t>
            </a:r>
          </a:p>
          <a:p>
            <a:endParaRPr lang="en-US" sz="1100" dirty="0"/>
          </a:p>
          <a:p>
            <a:endParaRPr lang="en-US" sz="1100" dirty="0"/>
          </a:p>
          <a:p>
            <a:r>
              <a:rPr lang="en-US" sz="3600" b="1" dirty="0"/>
              <a:t>After Stemming:</a:t>
            </a:r>
          </a:p>
          <a:p>
            <a:endParaRPr lang="en-US" dirty="0"/>
          </a:p>
          <a:p>
            <a:r>
              <a:rPr lang="en-US" sz="3600" dirty="0"/>
              <a:t>Words: run, run, run, run</a:t>
            </a:r>
          </a:p>
          <a:p>
            <a:r>
              <a:rPr lang="en-US" sz="3600" dirty="0"/>
              <a:t>Vocabulary: ['run']</a:t>
            </a:r>
          </a:p>
          <a:p>
            <a:endParaRPr lang="en-US" sz="2400" dirty="0"/>
          </a:p>
          <a:p>
            <a:r>
              <a:rPr lang="en-US" dirty="0"/>
              <a:t>* This reduction ensures that all variations are treated as one, improving both efficiency and consistency.</a:t>
            </a:r>
          </a:p>
        </p:txBody>
      </p:sp>
    </p:spTree>
    <p:extLst>
      <p:ext uri="{BB962C8B-B14F-4D97-AF65-F5344CB8AC3E}">
        <p14:creationId xmlns:p14="http://schemas.microsoft.com/office/powerpoint/2010/main" val="3331422447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669520" y="1143537"/>
            <a:ext cx="10950980" cy="48320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b="1" dirty="0"/>
              <a:t>Limitations:</a:t>
            </a:r>
          </a:p>
          <a:p>
            <a:endParaRPr lang="en-US" sz="2000" b="1" dirty="0"/>
          </a:p>
          <a:p>
            <a:r>
              <a:rPr lang="en-US" sz="2800" b="1" dirty="0"/>
              <a:t>Over-stemming</a:t>
            </a:r>
            <a:r>
              <a:rPr lang="en-US" sz="2800" dirty="0"/>
              <a:t>: Some stemmers may cut too much, merging unrelated words (e.g., </a:t>
            </a:r>
            <a:r>
              <a:rPr lang="en-US" sz="2800" i="1" dirty="0"/>
              <a:t>universe</a:t>
            </a:r>
            <a:r>
              <a:rPr lang="en-US" sz="2800" dirty="0"/>
              <a:t> and </a:t>
            </a:r>
            <a:r>
              <a:rPr lang="en-US" sz="2800" i="1" dirty="0"/>
              <a:t>university</a:t>
            </a:r>
            <a:r>
              <a:rPr lang="en-US" sz="2800" dirty="0"/>
              <a:t> both reduced to </a:t>
            </a:r>
            <a:r>
              <a:rPr lang="en-US" sz="2800" i="1" dirty="0" err="1"/>
              <a:t>univers</a:t>
            </a:r>
            <a:r>
              <a:rPr lang="en-US" sz="2800" dirty="0"/>
              <a:t>).</a:t>
            </a:r>
          </a:p>
          <a:p>
            <a:endParaRPr lang="en-US" sz="2800" dirty="0"/>
          </a:p>
          <a:p>
            <a:r>
              <a:rPr lang="en-US" sz="2800" b="1" dirty="0"/>
              <a:t>Loss of Meaning</a:t>
            </a:r>
            <a:r>
              <a:rPr lang="en-US" sz="2800" dirty="0"/>
              <a:t>: Stemming does not preserve the context or precise meaning of words, as it focuses on root forms.</a:t>
            </a:r>
          </a:p>
          <a:p>
            <a:endParaRPr lang="en-US" sz="2800" dirty="0"/>
          </a:p>
          <a:p>
            <a:r>
              <a:rPr lang="en-US" sz="2800" b="1" dirty="0"/>
              <a:t>Modern Alternative</a:t>
            </a:r>
            <a:r>
              <a:rPr lang="en-US" sz="2800" i="1" dirty="0"/>
              <a:t>: Lemmatization</a:t>
            </a:r>
            <a:r>
              <a:rPr lang="en-US" sz="2800" dirty="0"/>
              <a:t>, a more sophisticated approach, considers the context and grammar of a word to return its proper dictionary form.</a:t>
            </a:r>
          </a:p>
        </p:txBody>
      </p:sp>
    </p:spTree>
    <p:extLst>
      <p:ext uri="{BB962C8B-B14F-4D97-AF65-F5344CB8AC3E}">
        <p14:creationId xmlns:p14="http://schemas.microsoft.com/office/powerpoint/2010/main" val="1011700726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669520" y="1143537"/>
            <a:ext cx="10950980" cy="440120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571500" indent="-571500">
              <a:buFontTx/>
              <a:buChar char="-"/>
            </a:pPr>
            <a:r>
              <a:rPr lang="en-PH" sz="4000" dirty="0"/>
              <a:t>In fact, </a:t>
            </a:r>
            <a:r>
              <a:rPr lang="en-PH" sz="4000" dirty="0" err="1"/>
              <a:t>SpaCy</a:t>
            </a:r>
            <a:r>
              <a:rPr lang="en-PH" sz="4000" dirty="0"/>
              <a:t> </a:t>
            </a:r>
            <a:r>
              <a:rPr lang="en-PH" sz="4000" dirty="0">
                <a:solidFill>
                  <a:srgbClr val="C00000"/>
                </a:solidFill>
              </a:rPr>
              <a:t>doesn’t include</a:t>
            </a:r>
            <a:r>
              <a:rPr lang="en-PH" sz="4000" dirty="0"/>
              <a:t> a stemmer, opting instead to rely on </a:t>
            </a:r>
            <a:r>
              <a:rPr lang="en-PH" sz="4000" b="1" dirty="0"/>
              <a:t>lemmatization</a:t>
            </a:r>
            <a:r>
              <a:rPr lang="en-PH" sz="4000" dirty="0"/>
              <a:t>.</a:t>
            </a:r>
          </a:p>
          <a:p>
            <a:pPr marL="571500" indent="-571500">
              <a:buFontTx/>
              <a:buChar char="-"/>
            </a:pPr>
            <a:endParaRPr lang="en-US" sz="4000" dirty="0"/>
          </a:p>
          <a:p>
            <a:pPr marL="571500" indent="-571500">
              <a:buFontTx/>
              <a:buChar char="-"/>
            </a:pPr>
            <a:r>
              <a:rPr lang="en-US" sz="4000" dirty="0"/>
              <a:t>Because of this, we will jump over to using </a:t>
            </a:r>
            <a:r>
              <a:rPr lang="en-US" sz="4000" b="1" dirty="0"/>
              <a:t>NLTK</a:t>
            </a:r>
            <a:r>
              <a:rPr lang="en-US" sz="4000" dirty="0"/>
              <a:t> and learn about stemmers.</a:t>
            </a:r>
          </a:p>
          <a:p>
            <a:pPr marL="571500" indent="-571500">
              <a:buFontTx/>
              <a:buChar char="-"/>
            </a:pPr>
            <a:endParaRPr lang="en-US" sz="4000" dirty="0"/>
          </a:p>
          <a:p>
            <a:pPr marL="571500" indent="-571500">
              <a:buFontTx/>
              <a:buChar char="-"/>
            </a:pPr>
            <a:r>
              <a:rPr lang="en-US" sz="4000" b="1" dirty="0"/>
              <a:t>Porter Stemmer </a:t>
            </a:r>
            <a:r>
              <a:rPr lang="en-US" sz="4000" dirty="0"/>
              <a:t>and </a:t>
            </a:r>
            <a:r>
              <a:rPr lang="en-US" sz="4000" b="1" dirty="0"/>
              <a:t>Snowball Stemmer</a:t>
            </a:r>
            <a:endParaRPr lang="en-PH" sz="4000" b="1" dirty="0"/>
          </a:p>
        </p:txBody>
      </p:sp>
    </p:spTree>
    <p:extLst>
      <p:ext uri="{BB962C8B-B14F-4D97-AF65-F5344CB8AC3E}">
        <p14:creationId xmlns:p14="http://schemas.microsoft.com/office/powerpoint/2010/main" val="216092096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669520" y="2572287"/>
            <a:ext cx="10950980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6600" b="1" dirty="0"/>
              <a:t>Porter Stemmer</a:t>
            </a:r>
            <a:endParaRPr lang="en-PH" sz="6600" b="1" dirty="0"/>
          </a:p>
        </p:txBody>
      </p:sp>
    </p:spTree>
    <p:extLst>
      <p:ext uri="{BB962C8B-B14F-4D97-AF65-F5344CB8AC3E}">
        <p14:creationId xmlns:p14="http://schemas.microsoft.com/office/powerpoint/2010/main" val="3032381917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669520" y="1143537"/>
            <a:ext cx="10950980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571500" indent="-571500">
              <a:buFontTx/>
              <a:buChar char="-"/>
            </a:pPr>
            <a:r>
              <a:rPr lang="en-PH" sz="4000" b="1" i="1" dirty="0"/>
              <a:t>Porter Stemmer </a:t>
            </a:r>
            <a:r>
              <a:rPr lang="en-PH" sz="4000" dirty="0"/>
              <a:t>employs five phases of word reduction, each with its own set of mapping rules.</a:t>
            </a:r>
          </a:p>
        </p:txBody>
      </p:sp>
    </p:spTree>
    <p:extLst>
      <p:ext uri="{BB962C8B-B14F-4D97-AF65-F5344CB8AC3E}">
        <p14:creationId xmlns:p14="http://schemas.microsoft.com/office/powerpoint/2010/main" val="1117021961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669520" y="1143537"/>
            <a:ext cx="1095098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571500" indent="-571500">
              <a:buFontTx/>
              <a:buChar char="-"/>
            </a:pPr>
            <a:r>
              <a:rPr lang="en-US" sz="4000" dirty="0"/>
              <a:t>In the first phase, simple suffix mapping rules are defined, such as:</a:t>
            </a:r>
            <a:endParaRPr lang="en-PH" sz="4000" dirty="0"/>
          </a:p>
        </p:txBody>
      </p:sp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314037" y="2871788"/>
            <a:ext cx="5661945" cy="21342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4183348930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669520" y="1143537"/>
            <a:ext cx="10950980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571500" indent="-571500">
              <a:buFontTx/>
              <a:buChar char="-"/>
            </a:pPr>
            <a:r>
              <a:rPr lang="en-US" sz="3600" dirty="0"/>
              <a:t>From a given set of stemming rules only one rule is applied, based on the longest suffix S1. Thus, caresses reduces to caress but not cares</a:t>
            </a:r>
            <a:endParaRPr lang="en-PH" sz="3600" dirty="0"/>
          </a:p>
        </p:txBody>
      </p:sp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314037" y="2871788"/>
            <a:ext cx="5661945" cy="21342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15007267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669520" y="1143537"/>
            <a:ext cx="10950980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571500" indent="-571500">
              <a:buFontTx/>
              <a:buChar char="-"/>
            </a:pPr>
            <a:r>
              <a:rPr lang="en-US" sz="3600" dirty="0"/>
              <a:t>More sophisticated phases consider the length/complexity of the word before applying a rule.</a:t>
            </a:r>
            <a:endParaRPr lang="en-PH" sz="3600" dirty="0"/>
          </a:p>
        </p:txBody>
      </p:sp>
      <p:pic>
        <p:nvPicPr>
          <p:cNvPr id="3074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705691" y="3062288"/>
            <a:ext cx="6878637" cy="15906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1890260761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669520" y="2572287"/>
            <a:ext cx="10950980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6600" b="1" dirty="0"/>
              <a:t>Snowball Stemmer</a:t>
            </a:r>
            <a:endParaRPr lang="en-PH" sz="6600" b="1" dirty="0"/>
          </a:p>
        </p:txBody>
      </p:sp>
    </p:spTree>
    <p:extLst>
      <p:ext uri="{BB962C8B-B14F-4D97-AF65-F5344CB8AC3E}">
        <p14:creationId xmlns:p14="http://schemas.microsoft.com/office/powerpoint/2010/main" val="1785123424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669520" y="1143537"/>
            <a:ext cx="10950980" cy="31700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571500" indent="-571500">
              <a:buFontTx/>
              <a:buChar char="-"/>
            </a:pPr>
            <a:r>
              <a:rPr lang="en-PH" sz="4000" b="1" i="1" dirty="0"/>
              <a:t>Snowball Stemmer </a:t>
            </a:r>
            <a:r>
              <a:rPr lang="en-PH" sz="4000" dirty="0"/>
              <a:t>used a more accurate “English Stemmer” or “Porter2 Stemmer”</a:t>
            </a:r>
          </a:p>
          <a:p>
            <a:pPr marL="571500" indent="-571500">
              <a:buFontTx/>
              <a:buChar char="-"/>
            </a:pPr>
            <a:endParaRPr lang="en-US" sz="4000" dirty="0"/>
          </a:p>
          <a:p>
            <a:pPr marL="571500" indent="-571500">
              <a:buFontTx/>
              <a:buChar char="-"/>
            </a:pPr>
            <a:r>
              <a:rPr lang="en-US" sz="4000" dirty="0"/>
              <a:t>Offers a slight improvement over the original Porter stemmer, both in logic and speed</a:t>
            </a:r>
            <a:endParaRPr lang="en-PH" sz="4000" dirty="0"/>
          </a:p>
        </p:txBody>
      </p:sp>
    </p:spTree>
    <p:extLst>
      <p:ext uri="{BB962C8B-B14F-4D97-AF65-F5344CB8AC3E}">
        <p14:creationId xmlns:p14="http://schemas.microsoft.com/office/powerpoint/2010/main" val="3924789283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/>
          <p:cNvSpPr txBox="1"/>
          <p:nvPr/>
        </p:nvSpPr>
        <p:spPr>
          <a:xfrm>
            <a:off x="721363" y="2390628"/>
            <a:ext cx="10749281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6000" b="1" dirty="0">
                <a:latin typeface="Arial" pitchFamily="34" charset="0"/>
                <a:cs typeface="Arial" pitchFamily="34" charset="0"/>
              </a:rPr>
              <a:t>[Code Demo]</a:t>
            </a:r>
            <a:endParaRPr lang="en-US" sz="6000" b="1" dirty="0">
              <a:solidFill>
                <a:schemeClr val="accent2"/>
              </a:solidFill>
              <a:latin typeface="Arial" pitchFamily="34" charset="0"/>
              <a:cs typeface="Arial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368909298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/>
          <p:cNvSpPr txBox="1"/>
          <p:nvPr/>
        </p:nvSpPr>
        <p:spPr>
          <a:xfrm>
            <a:off x="626114" y="2409678"/>
            <a:ext cx="10749281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6000" b="1" dirty="0">
                <a:latin typeface="Arial" pitchFamily="34" charset="0"/>
                <a:cs typeface="Arial" pitchFamily="34" charset="0"/>
              </a:rPr>
              <a:t>Lemmatization</a:t>
            </a:r>
            <a:endParaRPr lang="en-US" sz="4000" b="1" dirty="0">
              <a:solidFill>
                <a:schemeClr val="accent2"/>
              </a:solidFill>
              <a:latin typeface="Arial" pitchFamily="34" charset="0"/>
              <a:cs typeface="Arial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21365010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669520" y="1143537"/>
            <a:ext cx="10950980" cy="44627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571500" indent="-571500">
              <a:buFontTx/>
              <a:buChar char="-"/>
            </a:pPr>
            <a:r>
              <a:rPr lang="en-US" sz="3600" dirty="0"/>
              <a:t>In contrast to stemming, </a:t>
            </a:r>
            <a:r>
              <a:rPr lang="en-US" sz="3600" b="1" i="1" dirty="0"/>
              <a:t>lemmatization</a:t>
            </a:r>
            <a:r>
              <a:rPr lang="en-US" sz="3600" dirty="0"/>
              <a:t> looks beyond word reduction, and considers a language’s full vocabulary to apply a morphological analysis to words.</a:t>
            </a:r>
          </a:p>
          <a:p>
            <a:pPr marL="571500" indent="-571500">
              <a:buFontTx/>
              <a:buChar char="-"/>
            </a:pPr>
            <a:endParaRPr lang="en-US" sz="4000" dirty="0"/>
          </a:p>
          <a:p>
            <a:pPr marL="571500" indent="-571500">
              <a:buFontTx/>
              <a:buChar char="-"/>
            </a:pPr>
            <a:r>
              <a:rPr lang="en-US" sz="3400" dirty="0"/>
              <a:t>Generally better as it returns the dictionary form of a word (lemma) while considering context and part of speech (POS). Unlike stemming, it avoids over-simplifying words and ensures the output is meaningful and accurate.</a:t>
            </a:r>
            <a:endParaRPr lang="en-PH" sz="3400" dirty="0"/>
          </a:p>
        </p:txBody>
      </p:sp>
    </p:spTree>
    <p:extLst>
      <p:ext uri="{BB962C8B-B14F-4D97-AF65-F5344CB8AC3E}">
        <p14:creationId xmlns:p14="http://schemas.microsoft.com/office/powerpoint/2010/main" val="2543138047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Table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91058105"/>
              </p:ext>
            </p:extLst>
          </p:nvPr>
        </p:nvGraphicFramePr>
        <p:xfrm>
          <a:off x="609600" y="1152525"/>
          <a:ext cx="10972800" cy="4541544"/>
        </p:xfrm>
        <a:graphic>
          <a:graphicData uri="http://schemas.openxmlformats.org/drawingml/2006/table">
            <a:tbl>
              <a:tblPr>
                <a:tableStyleId>{5940675A-B579-460E-94D1-54222C63F5DA}</a:tableStyleId>
              </a:tblPr>
              <a:tblGrid>
                <a:gridCol w="36576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6576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6576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838200">
                <a:tc>
                  <a:txBody>
                    <a:bodyPr/>
                    <a:lstStyle/>
                    <a:p>
                      <a:r>
                        <a:rPr lang="en-US" sz="2000" b="1" dirty="0"/>
                        <a:t>Feature</a:t>
                      </a:r>
                      <a:endParaRPr lang="en-PH" sz="2000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2000" b="1" dirty="0"/>
                        <a:t>Stemming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2000" b="1" dirty="0"/>
                        <a:t>Lemmatization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009650">
                <a:tc>
                  <a:txBody>
                    <a:bodyPr/>
                    <a:lstStyle/>
                    <a:p>
                      <a:r>
                        <a:rPr lang="en-PH" dirty="0"/>
                        <a:t>Definition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Cuts the word to its root, often a crude form.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Reduces a word to its base form (lemma) using context.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971550">
                <a:tc>
                  <a:txBody>
                    <a:bodyPr/>
                    <a:lstStyle/>
                    <a:p>
                      <a:r>
                        <a:rPr lang="en-US" dirty="0"/>
                        <a:t>Context-Sensitivity</a:t>
                      </a:r>
                      <a:endParaRPr lang="en-PH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PH" dirty="0"/>
                        <a:t>Ignores context and parts of speech (POS).</a:t>
                      </a:r>
                      <a:endParaRPr 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Considers context and POS for accuracy.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874419">
                <a:tc>
                  <a:txBody>
                    <a:bodyPr/>
                    <a:lstStyle/>
                    <a:p>
                      <a:r>
                        <a:rPr lang="en-US" dirty="0"/>
                        <a:t>Output</a:t>
                      </a:r>
                      <a:endParaRPr lang="en-PH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May produce non-existent or incorrect words.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Always produces valid dictionary words.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847725">
                <a:tc>
                  <a:txBody>
                    <a:bodyPr/>
                    <a:lstStyle/>
                    <a:p>
                      <a:r>
                        <a:rPr lang="en-US" dirty="0"/>
                        <a:t>Examples</a:t>
                      </a:r>
                      <a:endParaRPr lang="en-PH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PH" i="1" dirty="0"/>
                        <a:t>Caring</a:t>
                      </a:r>
                      <a:r>
                        <a:rPr lang="en-PH" dirty="0"/>
                        <a:t> → </a:t>
                      </a:r>
                      <a:r>
                        <a:rPr lang="en-PH" i="1" dirty="0"/>
                        <a:t>car</a:t>
                      </a:r>
                      <a:endParaRPr 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PH" i="1" dirty="0"/>
                        <a:t>Caring</a:t>
                      </a:r>
                      <a:r>
                        <a:rPr lang="en-PH" dirty="0"/>
                        <a:t> → </a:t>
                      </a:r>
                      <a:r>
                        <a:rPr lang="en-PH" i="1" dirty="0"/>
                        <a:t>care</a:t>
                      </a:r>
                      <a:endParaRPr lang="en-US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142495159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Table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91526671"/>
              </p:ext>
            </p:extLst>
          </p:nvPr>
        </p:nvGraphicFramePr>
        <p:xfrm>
          <a:off x="609600" y="1835785"/>
          <a:ext cx="10972800" cy="3251859"/>
        </p:xfrm>
        <a:graphic>
          <a:graphicData uri="http://schemas.openxmlformats.org/drawingml/2006/table">
            <a:tbl>
              <a:tblPr>
                <a:tableStyleId>{5940675A-B579-460E-94D1-54222C63F5DA}</a:tableStyleId>
              </a:tblPr>
              <a:tblGrid>
                <a:gridCol w="36576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6576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6576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r>
                        <a:rPr lang="en-US" sz="2000" b="1" dirty="0"/>
                        <a:t>Word</a:t>
                      </a:r>
                      <a:endParaRPr lang="en-PH" sz="2000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2000" b="1" dirty="0"/>
                        <a:t>Stemming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2000" b="1" dirty="0"/>
                        <a:t>Lemmatization (POS: Verb)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009650">
                <a:tc>
                  <a:txBody>
                    <a:bodyPr/>
                    <a:lstStyle/>
                    <a:p>
                      <a:r>
                        <a:rPr lang="en-PH" dirty="0"/>
                        <a:t>running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run</a:t>
                      </a:r>
                      <a:r>
                        <a:rPr lang="en-US" baseline="0" dirty="0"/>
                        <a:t> </a:t>
                      </a:r>
                      <a:endParaRPr 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run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971550">
                <a:tc>
                  <a:txBody>
                    <a:bodyPr/>
                    <a:lstStyle/>
                    <a:p>
                      <a:r>
                        <a:rPr lang="en-US" dirty="0"/>
                        <a:t>ran</a:t>
                      </a:r>
                      <a:endParaRPr lang="en-PH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PH" dirty="0"/>
                        <a:t>ran</a:t>
                      </a:r>
                      <a:endParaRPr 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run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874419">
                <a:tc>
                  <a:txBody>
                    <a:bodyPr/>
                    <a:lstStyle/>
                    <a:p>
                      <a:r>
                        <a:rPr lang="en-US" dirty="0"/>
                        <a:t>runs</a:t>
                      </a:r>
                      <a:endParaRPr lang="en-PH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run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run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590550" y="5305962"/>
            <a:ext cx="1102995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* Why better? Lemmatization recognizes all verb forms and reduces them to the base form (</a:t>
            </a:r>
            <a:r>
              <a:rPr lang="en-US" i="1" dirty="0"/>
              <a:t>run</a:t>
            </a:r>
            <a:r>
              <a:rPr lang="en-US" dirty="0"/>
              <a:t>)</a:t>
            </a:r>
            <a:endParaRPr lang="en-PH" dirty="0"/>
          </a:p>
        </p:txBody>
      </p:sp>
      <p:sp>
        <p:nvSpPr>
          <p:cNvPr id="5" name="TextBox 4"/>
          <p:cNvSpPr txBox="1"/>
          <p:nvPr/>
        </p:nvSpPr>
        <p:spPr>
          <a:xfrm>
            <a:off x="590550" y="1010186"/>
            <a:ext cx="11029950" cy="61555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400" dirty="0"/>
              <a:t>Example 1. Handling Verb Forms</a:t>
            </a:r>
            <a:endParaRPr lang="en-PH" sz="3400" dirty="0"/>
          </a:p>
        </p:txBody>
      </p:sp>
    </p:spTree>
    <p:extLst>
      <p:ext uri="{BB962C8B-B14F-4D97-AF65-F5344CB8AC3E}">
        <p14:creationId xmlns:p14="http://schemas.microsoft.com/office/powerpoint/2010/main" val="3117135019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Table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50639847"/>
              </p:ext>
            </p:extLst>
          </p:nvPr>
        </p:nvGraphicFramePr>
        <p:xfrm>
          <a:off x="609600" y="1835785"/>
          <a:ext cx="10972800" cy="2377440"/>
        </p:xfrm>
        <a:graphic>
          <a:graphicData uri="http://schemas.openxmlformats.org/drawingml/2006/table">
            <a:tbl>
              <a:tblPr>
                <a:tableStyleId>{5940675A-B579-460E-94D1-54222C63F5DA}</a:tableStyleId>
              </a:tblPr>
              <a:tblGrid>
                <a:gridCol w="36576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6576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6576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r>
                        <a:rPr lang="en-US" sz="2000" b="1" dirty="0"/>
                        <a:t>Word</a:t>
                      </a:r>
                      <a:endParaRPr lang="en-PH" sz="2000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2000" b="1" dirty="0"/>
                        <a:t>Stemming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2000" b="1" dirty="0"/>
                        <a:t>Lemmatization (POS: Nouns)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009650">
                <a:tc>
                  <a:txBody>
                    <a:bodyPr/>
                    <a:lstStyle/>
                    <a:p>
                      <a:r>
                        <a:rPr lang="en-PH" dirty="0"/>
                        <a:t>geese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gees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goose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971550">
                <a:tc>
                  <a:txBody>
                    <a:bodyPr/>
                    <a:lstStyle/>
                    <a:p>
                      <a:r>
                        <a:rPr lang="en-US" dirty="0"/>
                        <a:t>feet</a:t>
                      </a:r>
                      <a:endParaRPr lang="en-PH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PH" dirty="0"/>
                        <a:t>feet</a:t>
                      </a:r>
                      <a:endParaRPr 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foot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590550" y="5305962"/>
            <a:ext cx="1102995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* Why better? Lemmatization uses dictionary rules to handle irregular nouns.</a:t>
            </a:r>
            <a:endParaRPr lang="en-PH" dirty="0"/>
          </a:p>
        </p:txBody>
      </p:sp>
      <p:sp>
        <p:nvSpPr>
          <p:cNvPr id="5" name="TextBox 4"/>
          <p:cNvSpPr txBox="1"/>
          <p:nvPr/>
        </p:nvSpPr>
        <p:spPr>
          <a:xfrm>
            <a:off x="590550" y="1010186"/>
            <a:ext cx="11029950" cy="61555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400" dirty="0"/>
              <a:t>Example 2. Handling Nouns</a:t>
            </a:r>
            <a:endParaRPr lang="en-PH" sz="3400" dirty="0"/>
          </a:p>
        </p:txBody>
      </p:sp>
    </p:spTree>
    <p:extLst>
      <p:ext uri="{BB962C8B-B14F-4D97-AF65-F5344CB8AC3E}">
        <p14:creationId xmlns:p14="http://schemas.microsoft.com/office/powerpoint/2010/main" val="166305998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Table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38177138"/>
              </p:ext>
            </p:extLst>
          </p:nvPr>
        </p:nvGraphicFramePr>
        <p:xfrm>
          <a:off x="609600" y="1835785"/>
          <a:ext cx="10972800" cy="2377440"/>
        </p:xfrm>
        <a:graphic>
          <a:graphicData uri="http://schemas.openxmlformats.org/drawingml/2006/table">
            <a:tbl>
              <a:tblPr>
                <a:tableStyleId>{5940675A-B579-460E-94D1-54222C63F5DA}</a:tableStyleId>
              </a:tblPr>
              <a:tblGrid>
                <a:gridCol w="36576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6576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6576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r>
                        <a:rPr lang="en-US" sz="2000" b="1" dirty="0"/>
                        <a:t>Word</a:t>
                      </a:r>
                      <a:endParaRPr lang="en-PH" sz="2000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2000" b="1" dirty="0"/>
                        <a:t>Stemming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2000" b="1" dirty="0"/>
                        <a:t>Lemmatization (POS: Verb)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009650">
                <a:tc>
                  <a:txBody>
                    <a:bodyPr/>
                    <a:lstStyle/>
                    <a:p>
                      <a:r>
                        <a:rPr lang="en-PH" dirty="0"/>
                        <a:t>organization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organ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organization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971550">
                <a:tc>
                  <a:txBody>
                    <a:bodyPr/>
                    <a:lstStyle/>
                    <a:p>
                      <a:r>
                        <a:rPr lang="en-US" dirty="0"/>
                        <a:t>organize</a:t>
                      </a:r>
                      <a:endParaRPr lang="en-PH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organ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organize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590550" y="5305962"/>
            <a:ext cx="1102995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* Why better? Stemming cuts too aggressively, losing meaning, while lemmatization retains proper forms.</a:t>
            </a:r>
            <a:endParaRPr lang="en-PH" dirty="0"/>
          </a:p>
        </p:txBody>
      </p:sp>
      <p:sp>
        <p:nvSpPr>
          <p:cNvPr id="5" name="TextBox 4"/>
          <p:cNvSpPr txBox="1"/>
          <p:nvPr/>
        </p:nvSpPr>
        <p:spPr>
          <a:xfrm>
            <a:off x="590550" y="1010186"/>
            <a:ext cx="11029950" cy="61555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400" dirty="0"/>
              <a:t>Example 3. Avoiding Over-Stemming</a:t>
            </a:r>
            <a:endParaRPr lang="en-PH" sz="3400" dirty="0"/>
          </a:p>
        </p:txBody>
      </p:sp>
    </p:spTree>
    <p:extLst>
      <p:ext uri="{BB962C8B-B14F-4D97-AF65-F5344CB8AC3E}">
        <p14:creationId xmlns:p14="http://schemas.microsoft.com/office/powerpoint/2010/main" val="1571876365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Table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05906576"/>
              </p:ext>
            </p:extLst>
          </p:nvPr>
        </p:nvGraphicFramePr>
        <p:xfrm>
          <a:off x="609600" y="1835785"/>
          <a:ext cx="10972800" cy="2377440"/>
        </p:xfrm>
        <a:graphic>
          <a:graphicData uri="http://schemas.openxmlformats.org/drawingml/2006/table">
            <a:tbl>
              <a:tblPr>
                <a:tableStyleId>{5940675A-B579-460E-94D1-54222C63F5DA}</a:tableStyleId>
              </a:tblPr>
              <a:tblGrid>
                <a:gridCol w="36576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6576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6576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r>
                        <a:rPr lang="en-US" sz="2000" b="1" dirty="0"/>
                        <a:t>Word</a:t>
                      </a:r>
                      <a:endParaRPr lang="en-PH" sz="2000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2000" b="1" dirty="0"/>
                        <a:t>Stemming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2000" b="1" dirty="0"/>
                        <a:t>Lemmatization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009650">
                <a:tc>
                  <a:txBody>
                    <a:bodyPr/>
                    <a:lstStyle/>
                    <a:p>
                      <a:r>
                        <a:rPr lang="en-US" dirty="0"/>
                        <a:t>He</a:t>
                      </a:r>
                      <a:r>
                        <a:rPr lang="en-US" baseline="0" dirty="0"/>
                        <a:t> is building a house.</a:t>
                      </a:r>
                      <a:endParaRPr lang="en-PH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He</a:t>
                      </a:r>
                      <a:r>
                        <a:rPr lang="en-US" baseline="0" dirty="0"/>
                        <a:t> is build a house</a:t>
                      </a:r>
                      <a:endParaRPr 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He is building a house.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971550">
                <a:tc>
                  <a:txBody>
                    <a:bodyPr/>
                    <a:lstStyle/>
                    <a:p>
                      <a:r>
                        <a:rPr lang="en-US" dirty="0"/>
                        <a:t>They build houses</a:t>
                      </a:r>
                      <a:endParaRPr lang="en-PH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They build house.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They build</a:t>
                      </a:r>
                      <a:r>
                        <a:rPr lang="en-US" baseline="0" dirty="0"/>
                        <a:t> houses</a:t>
                      </a:r>
                      <a:endParaRPr lang="en-US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590550" y="5305962"/>
            <a:ext cx="1102995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* Why better? Lemmatization retains proper inflection and </a:t>
            </a:r>
            <a:r>
              <a:rPr lang="en-US" dirty="0" err="1"/>
              <a:t>pluralization</a:t>
            </a:r>
            <a:r>
              <a:rPr lang="en-US" dirty="0"/>
              <a:t> based on sentence context.</a:t>
            </a:r>
            <a:endParaRPr lang="en-PH" dirty="0"/>
          </a:p>
        </p:txBody>
      </p:sp>
      <p:sp>
        <p:nvSpPr>
          <p:cNvPr id="5" name="TextBox 4"/>
          <p:cNvSpPr txBox="1"/>
          <p:nvPr/>
        </p:nvSpPr>
        <p:spPr>
          <a:xfrm>
            <a:off x="590550" y="1010186"/>
            <a:ext cx="11029950" cy="61555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400" dirty="0"/>
              <a:t>Example 4. Context Sensitivity</a:t>
            </a:r>
            <a:endParaRPr lang="en-PH" sz="3400" dirty="0"/>
          </a:p>
        </p:txBody>
      </p:sp>
    </p:spTree>
    <p:extLst>
      <p:ext uri="{BB962C8B-B14F-4D97-AF65-F5344CB8AC3E}">
        <p14:creationId xmlns:p14="http://schemas.microsoft.com/office/powerpoint/2010/main" val="1855499134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669520" y="1143537"/>
            <a:ext cx="10950980" cy="44627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 dirty="0"/>
              <a:t>Advantages of Lemmatization over Stemming</a:t>
            </a:r>
          </a:p>
          <a:p>
            <a:endParaRPr lang="en-US" sz="2000" dirty="0"/>
          </a:p>
          <a:p>
            <a:pPr marL="742950" indent="-742950">
              <a:buAutoNum type="arabicPeriod"/>
            </a:pPr>
            <a:r>
              <a:rPr lang="en-US" sz="3600" b="1" dirty="0"/>
              <a:t>Accuracy</a:t>
            </a:r>
            <a:r>
              <a:rPr lang="en-US" sz="3600" dirty="0"/>
              <a:t>: Produces correct dictionary words and considers POS tags.</a:t>
            </a:r>
          </a:p>
          <a:p>
            <a:pPr marL="742950" indent="-742950">
              <a:buAutoNum type="arabicPeriod"/>
            </a:pPr>
            <a:r>
              <a:rPr lang="en-US" sz="3600" b="1" dirty="0"/>
              <a:t>Context Awareness</a:t>
            </a:r>
            <a:r>
              <a:rPr lang="en-US" sz="3600" dirty="0"/>
              <a:t>: Handles irregular forms and context-sensitive words.</a:t>
            </a:r>
          </a:p>
          <a:p>
            <a:pPr marL="742950" indent="-742950">
              <a:buFontTx/>
              <a:buAutoNum type="arabicPeriod"/>
            </a:pPr>
            <a:r>
              <a:rPr lang="en-US" sz="3600" b="1" dirty="0"/>
              <a:t>Readability</a:t>
            </a:r>
            <a:r>
              <a:rPr lang="en-US" sz="3600" dirty="0"/>
              <a:t>: Outputs meaningful words suitable for downstream tasks like summarization or translation.</a:t>
            </a:r>
          </a:p>
        </p:txBody>
      </p:sp>
    </p:spTree>
    <p:extLst>
      <p:ext uri="{BB962C8B-B14F-4D97-AF65-F5344CB8AC3E}">
        <p14:creationId xmlns:p14="http://schemas.microsoft.com/office/powerpoint/2010/main" val="2646932752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602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717800" y="893762"/>
            <a:ext cx="6945313" cy="583088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627554281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/>
          <p:cNvSpPr txBox="1"/>
          <p:nvPr/>
        </p:nvSpPr>
        <p:spPr>
          <a:xfrm>
            <a:off x="721363" y="2390628"/>
            <a:ext cx="10749281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6000" b="1" dirty="0">
                <a:latin typeface="Arial" pitchFamily="34" charset="0"/>
                <a:cs typeface="Arial" pitchFamily="34" charset="0"/>
              </a:rPr>
              <a:t>[Code Demo]</a:t>
            </a:r>
            <a:endParaRPr lang="en-US" sz="6000" b="1" dirty="0">
              <a:solidFill>
                <a:schemeClr val="accent2"/>
              </a:solidFill>
              <a:latin typeface="Arial" pitchFamily="34" charset="0"/>
              <a:cs typeface="Arial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368909298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/>
          <p:cNvSpPr txBox="1"/>
          <p:nvPr/>
        </p:nvSpPr>
        <p:spPr>
          <a:xfrm>
            <a:off x="626114" y="2409678"/>
            <a:ext cx="10749281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6000" b="1" dirty="0">
                <a:latin typeface="Arial" pitchFamily="34" charset="0"/>
                <a:cs typeface="Arial" pitchFamily="34" charset="0"/>
              </a:rPr>
              <a:t>Stop Words</a:t>
            </a:r>
            <a:endParaRPr lang="en-US" sz="4000" b="1" dirty="0">
              <a:solidFill>
                <a:schemeClr val="accent2"/>
              </a:solidFill>
              <a:latin typeface="Arial" pitchFamily="34" charset="0"/>
              <a:cs typeface="Arial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368568431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669520" y="1143537"/>
            <a:ext cx="10950980" cy="470898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571500" indent="-571500">
              <a:buFontTx/>
              <a:buChar char="-"/>
            </a:pPr>
            <a:r>
              <a:rPr lang="en-US" sz="3600" dirty="0"/>
              <a:t>Stop words are common words in a language (e.g. </a:t>
            </a:r>
            <a:r>
              <a:rPr lang="en-US" sz="3600" i="1" dirty="0">
                <a:solidFill>
                  <a:srgbClr val="C00000"/>
                </a:solidFill>
              </a:rPr>
              <a:t>the</a:t>
            </a:r>
            <a:r>
              <a:rPr lang="en-US" sz="3600" dirty="0"/>
              <a:t>, </a:t>
            </a:r>
            <a:r>
              <a:rPr lang="en-US" sz="3600" i="1" dirty="0">
                <a:solidFill>
                  <a:srgbClr val="C00000"/>
                </a:solidFill>
              </a:rPr>
              <a:t>is</a:t>
            </a:r>
            <a:r>
              <a:rPr lang="en-US" sz="3600" dirty="0"/>
              <a:t>, </a:t>
            </a:r>
            <a:r>
              <a:rPr lang="en-US" sz="3600" i="1" dirty="0">
                <a:solidFill>
                  <a:srgbClr val="C00000"/>
                </a:solidFill>
              </a:rPr>
              <a:t>in</a:t>
            </a:r>
            <a:r>
              <a:rPr lang="en-US" sz="3600" dirty="0"/>
              <a:t>, </a:t>
            </a:r>
            <a:r>
              <a:rPr lang="en-US" sz="3600" i="1" dirty="0">
                <a:solidFill>
                  <a:srgbClr val="C00000"/>
                </a:solidFill>
              </a:rPr>
              <a:t>and</a:t>
            </a:r>
            <a:r>
              <a:rPr lang="en-US" sz="3600" dirty="0"/>
              <a:t>) that are frequently filtered out in text processing because they are often not significant for tasks like information retrieval, text classification, or sentiment analysis.</a:t>
            </a:r>
          </a:p>
          <a:p>
            <a:pPr marL="571500" indent="-571500">
              <a:buFontTx/>
              <a:buChar char="-"/>
            </a:pPr>
            <a:endParaRPr lang="en-US" sz="4000" dirty="0"/>
          </a:p>
          <a:p>
            <a:pPr marL="571500" indent="-571500">
              <a:buFontTx/>
              <a:buChar char="-"/>
            </a:pPr>
            <a:r>
              <a:rPr lang="en-US" sz="3600" dirty="0"/>
              <a:t>They are frequent but </a:t>
            </a:r>
            <a:r>
              <a:rPr lang="en-US" sz="3600" dirty="0">
                <a:solidFill>
                  <a:srgbClr val="C00000"/>
                </a:solidFill>
              </a:rPr>
              <a:t>do not contribute </a:t>
            </a:r>
            <a:r>
              <a:rPr lang="en-US" sz="3600" dirty="0"/>
              <a:t>much meaning to the overall text</a:t>
            </a:r>
          </a:p>
        </p:txBody>
      </p:sp>
    </p:spTree>
    <p:extLst>
      <p:ext uri="{BB962C8B-B14F-4D97-AF65-F5344CB8AC3E}">
        <p14:creationId xmlns:p14="http://schemas.microsoft.com/office/powerpoint/2010/main" val="1772863057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669520" y="1143537"/>
            <a:ext cx="1095098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571500" indent="-571500">
              <a:buFontTx/>
              <a:buChar char="-"/>
            </a:pPr>
            <a:r>
              <a:rPr lang="en-US" sz="3600" dirty="0"/>
              <a:t>Spacy holds a built-in list of English stop words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69520" y="2182983"/>
            <a:ext cx="10950980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b="1" dirty="0"/>
              <a:t>Common English Stop Words</a:t>
            </a:r>
          </a:p>
          <a:p>
            <a:r>
              <a:rPr lang="en-US" sz="3600" dirty="0"/>
              <a:t>- is, are, the, a, an, of, in, on, and, it, to.</a:t>
            </a:r>
          </a:p>
        </p:txBody>
      </p:sp>
    </p:spTree>
    <p:extLst>
      <p:ext uri="{BB962C8B-B14F-4D97-AF65-F5344CB8AC3E}">
        <p14:creationId xmlns:p14="http://schemas.microsoft.com/office/powerpoint/2010/main" val="3911011373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669520" y="1143537"/>
            <a:ext cx="10950980" cy="28623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b="1" dirty="0"/>
              <a:t>Example: </a:t>
            </a:r>
          </a:p>
          <a:p>
            <a:r>
              <a:rPr lang="en-US" sz="3600" dirty="0"/>
              <a:t>“The quick brown fox jumps over the lazy dog.”</a:t>
            </a:r>
          </a:p>
          <a:p>
            <a:endParaRPr lang="en-US" sz="3600" dirty="0"/>
          </a:p>
          <a:p>
            <a:r>
              <a:rPr lang="en-US" sz="3600" b="1" dirty="0"/>
              <a:t>With Stop Words:</a:t>
            </a:r>
          </a:p>
          <a:p>
            <a:r>
              <a:rPr lang="en-US" sz="3600" dirty="0"/>
              <a:t>“quick brown fox jumps over lazy dog.”</a:t>
            </a:r>
          </a:p>
        </p:txBody>
      </p:sp>
    </p:spTree>
    <p:extLst>
      <p:ext uri="{BB962C8B-B14F-4D97-AF65-F5344CB8AC3E}">
        <p14:creationId xmlns:p14="http://schemas.microsoft.com/office/powerpoint/2010/main" val="3384933231"/>
      </p:ext>
    </p:extLst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/>
          <p:cNvSpPr txBox="1"/>
          <p:nvPr/>
        </p:nvSpPr>
        <p:spPr>
          <a:xfrm>
            <a:off x="721363" y="2390628"/>
            <a:ext cx="10749281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6000" b="1" dirty="0">
                <a:latin typeface="Arial" pitchFamily="34" charset="0"/>
                <a:cs typeface="Arial" pitchFamily="34" charset="0"/>
              </a:rPr>
              <a:t>[Code Demo]</a:t>
            </a:r>
            <a:endParaRPr lang="en-US" sz="6000" b="1" dirty="0">
              <a:solidFill>
                <a:schemeClr val="accent2"/>
              </a:solidFill>
              <a:latin typeface="Arial" pitchFamily="34" charset="0"/>
              <a:cs typeface="Arial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368909298"/>
      </p:ext>
    </p:extLst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/>
          <p:cNvSpPr txBox="1"/>
          <p:nvPr/>
        </p:nvSpPr>
        <p:spPr>
          <a:xfrm>
            <a:off x="626114" y="2409678"/>
            <a:ext cx="10749281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6000" b="1" dirty="0">
                <a:latin typeface="Arial" pitchFamily="34" charset="0"/>
                <a:cs typeface="Arial" pitchFamily="34" charset="0"/>
              </a:rPr>
              <a:t>Vocabulary and Matching</a:t>
            </a:r>
            <a:endParaRPr lang="en-US" sz="4000" b="1" dirty="0">
              <a:solidFill>
                <a:schemeClr val="accent2"/>
              </a:solidFill>
              <a:latin typeface="Arial" pitchFamily="34" charset="0"/>
              <a:cs typeface="Arial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05849645"/>
      </p:ext>
    </p:extLst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669520" y="1143537"/>
            <a:ext cx="10950980" cy="28623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571500" indent="-571500">
              <a:buFontTx/>
              <a:buChar char="-"/>
            </a:pPr>
            <a:r>
              <a:rPr lang="en-US" sz="3600" dirty="0"/>
              <a:t>We will identify and label specific phrases that match patterns that we can define ourselves</a:t>
            </a:r>
          </a:p>
          <a:p>
            <a:pPr marL="571500" indent="-571500">
              <a:buFontTx/>
              <a:buChar char="-"/>
            </a:pPr>
            <a:endParaRPr lang="en-US" sz="3600" dirty="0"/>
          </a:p>
          <a:p>
            <a:pPr marL="571500" indent="-571500">
              <a:buFontTx/>
              <a:buChar char="-"/>
            </a:pPr>
            <a:r>
              <a:rPr lang="en-US" sz="3600" dirty="0"/>
              <a:t>We will take parts of speech into account for our pattern search</a:t>
            </a:r>
          </a:p>
        </p:txBody>
      </p:sp>
    </p:spTree>
    <p:extLst>
      <p:ext uri="{BB962C8B-B14F-4D97-AF65-F5344CB8AC3E}">
        <p14:creationId xmlns:p14="http://schemas.microsoft.com/office/powerpoint/2010/main" val="940726828"/>
      </p:ext>
    </p:extLst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/>
          <p:cNvSpPr txBox="1"/>
          <p:nvPr/>
        </p:nvSpPr>
        <p:spPr>
          <a:xfrm>
            <a:off x="721363" y="2390628"/>
            <a:ext cx="10749281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6000" b="1" dirty="0">
                <a:latin typeface="Arial" pitchFamily="34" charset="0"/>
                <a:cs typeface="Arial" pitchFamily="34" charset="0"/>
              </a:rPr>
              <a:t>[Code Demo]</a:t>
            </a:r>
            <a:endParaRPr lang="en-US" sz="6000" b="1" dirty="0">
              <a:solidFill>
                <a:schemeClr val="accent2"/>
              </a:solidFill>
              <a:latin typeface="Arial" pitchFamily="34" charset="0"/>
              <a:cs typeface="Arial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368909298"/>
      </p:ext>
    </p:extLst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/>
          <p:cNvSpPr txBox="1"/>
          <p:nvPr/>
        </p:nvSpPr>
        <p:spPr>
          <a:xfrm>
            <a:off x="721364" y="2562078"/>
            <a:ext cx="10749281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800" b="1" dirty="0">
                <a:latin typeface="Arial" pitchFamily="34" charset="0"/>
                <a:cs typeface="Arial" pitchFamily="34" charset="0"/>
              </a:rPr>
              <a:t>Thank you very much for listening</a:t>
            </a:r>
            <a:r>
              <a:rPr lang="en-US" sz="3200" b="1" dirty="0">
                <a:latin typeface="Arial" pitchFamily="34" charset="0"/>
                <a:cs typeface="Arial" pitchFamily="34" charset="0"/>
              </a:rPr>
              <a:t>.</a:t>
            </a:r>
            <a:endParaRPr lang="en-US" sz="3200" b="1" dirty="0">
              <a:solidFill>
                <a:schemeClr val="accent2"/>
              </a:solidFill>
              <a:latin typeface="Arial" pitchFamily="34" charset="0"/>
              <a:cs typeface="Arial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2837883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Solstice</Template>
  <TotalTime>2495</TotalTime>
  <Words>1610</Words>
  <Application>Microsoft Office PowerPoint</Application>
  <PresentationFormat>Widescreen</PresentationFormat>
  <Paragraphs>231</Paragraphs>
  <Slides>59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59</vt:i4>
      </vt:variant>
    </vt:vector>
  </HeadingPairs>
  <TitlesOfParts>
    <vt:vector size="64" baseType="lpstr">
      <vt:lpstr>Arial</vt:lpstr>
      <vt:lpstr>Arial Black</vt:lpstr>
      <vt:lpstr>Calibri</vt:lpstr>
      <vt:lpstr>Wingdings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Wael Elmedany</dc:creator>
  <cp:lastModifiedBy>Renato Maaliw III</cp:lastModifiedBy>
  <cp:revision>415</cp:revision>
  <dcterms:created xsi:type="dcterms:W3CDTF">2018-09-30T06:22:05Z</dcterms:created>
  <dcterms:modified xsi:type="dcterms:W3CDTF">2025-12-11T03:13:55Z</dcterms:modified>
</cp:coreProperties>
</file>