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65"/>
  </p:notesMasterIdLst>
  <p:handoutMasterIdLst>
    <p:handoutMasterId r:id="rId66"/>
  </p:handoutMasterIdLst>
  <p:sldIdLst>
    <p:sldId id="258" r:id="rId2"/>
    <p:sldId id="334" r:id="rId3"/>
    <p:sldId id="335" r:id="rId4"/>
    <p:sldId id="363" r:id="rId5"/>
    <p:sldId id="365" r:id="rId6"/>
    <p:sldId id="364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4" r:id="rId15"/>
    <p:sldId id="436" r:id="rId16"/>
    <p:sldId id="375" r:id="rId17"/>
    <p:sldId id="376" r:id="rId18"/>
    <p:sldId id="378" r:id="rId19"/>
    <p:sldId id="377" r:id="rId20"/>
    <p:sldId id="379" r:id="rId21"/>
    <p:sldId id="380" r:id="rId22"/>
    <p:sldId id="425" r:id="rId23"/>
    <p:sldId id="382" r:id="rId24"/>
    <p:sldId id="383" r:id="rId25"/>
    <p:sldId id="431" r:id="rId26"/>
    <p:sldId id="426" r:id="rId27"/>
    <p:sldId id="432" r:id="rId28"/>
    <p:sldId id="427" r:id="rId29"/>
    <p:sldId id="433" r:id="rId30"/>
    <p:sldId id="428" r:id="rId31"/>
    <p:sldId id="434" r:id="rId32"/>
    <p:sldId id="429" r:id="rId33"/>
    <p:sldId id="435" r:id="rId34"/>
    <p:sldId id="437" r:id="rId35"/>
    <p:sldId id="438" r:id="rId36"/>
    <p:sldId id="439" r:id="rId37"/>
    <p:sldId id="453" r:id="rId38"/>
    <p:sldId id="440" r:id="rId39"/>
    <p:sldId id="441" r:id="rId40"/>
    <p:sldId id="442" r:id="rId41"/>
    <p:sldId id="443" r:id="rId42"/>
    <p:sldId id="444" r:id="rId43"/>
    <p:sldId id="445" r:id="rId44"/>
    <p:sldId id="446" r:id="rId45"/>
    <p:sldId id="447" r:id="rId46"/>
    <p:sldId id="448" r:id="rId47"/>
    <p:sldId id="449" r:id="rId48"/>
    <p:sldId id="450" r:id="rId49"/>
    <p:sldId id="451" r:id="rId50"/>
    <p:sldId id="452" r:id="rId51"/>
    <p:sldId id="454" r:id="rId52"/>
    <p:sldId id="455" r:id="rId53"/>
    <p:sldId id="456" r:id="rId54"/>
    <p:sldId id="457" r:id="rId55"/>
    <p:sldId id="458" r:id="rId56"/>
    <p:sldId id="459" r:id="rId57"/>
    <p:sldId id="460" r:id="rId58"/>
    <p:sldId id="461" r:id="rId59"/>
    <p:sldId id="462" r:id="rId60"/>
    <p:sldId id="463" r:id="rId61"/>
    <p:sldId id="464" r:id="rId62"/>
    <p:sldId id="465" r:id="rId63"/>
    <p:sldId id="314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36" autoAdjust="0"/>
    <p:restoredTop sz="94660"/>
  </p:normalViewPr>
  <p:slideViewPr>
    <p:cSldViewPr snapToGrid="0">
      <p:cViewPr varScale="1">
        <p:scale>
          <a:sx n="86" d="100"/>
          <a:sy n="86" d="100"/>
        </p:scale>
        <p:origin x="61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-331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28 Jul 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ASSOCIATION</a:t>
            </a:r>
            <a:r>
              <a:rPr lang="en-US" sz="1400" b="1" baseline="0" dirty="0"/>
              <a:t> RULE MINING - </a:t>
            </a:r>
            <a:r>
              <a:rPr lang="en-US" sz="1400" b="1" dirty="0"/>
              <a:t>FREQUENT PATTERN GROWTH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875392"/>
            <a:ext cx="11452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Frequent Pattern (FP)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FP Growth</a:t>
            </a:r>
          </a:p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2800" dirty="0"/>
              <a:t>An algorithm for mining frequent </a:t>
            </a:r>
            <a:r>
              <a:rPr lang="en-US" sz="2800" dirty="0" err="1"/>
              <a:t>itemsets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without need </a:t>
            </a:r>
            <a:r>
              <a:rPr lang="en-US" sz="2800" dirty="0"/>
              <a:t>for generating candidate </a:t>
            </a:r>
            <a:r>
              <a:rPr lang="en-US" sz="2800" dirty="0" err="1"/>
              <a:t>itemsets</a:t>
            </a:r>
            <a:r>
              <a:rPr lang="en-US" sz="2800" dirty="0"/>
              <a:t> like </a:t>
            </a:r>
            <a:r>
              <a:rPr lang="en-US" sz="2800" dirty="0" err="1"/>
              <a:t>Apriori</a:t>
            </a:r>
            <a:r>
              <a:rPr lang="en-US" sz="28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Particularly useful in application like market basket analysis, where it helps identify sets of products that frequency co-occur in transactions (Han, Peri, Yin; 2000)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606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Key Objectives of FP Growth</a:t>
            </a:r>
          </a:p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2800" dirty="0"/>
              <a:t>Identify frequent itemset (combinations of items that frequently appear together)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rgbClr val="FF0000"/>
                </a:solidFill>
              </a:rPr>
              <a:t>Optimize</a:t>
            </a:r>
            <a:r>
              <a:rPr lang="en-US" sz="2800" dirty="0"/>
              <a:t> the process by reducing the computational complexity and memory requirements compared to </a:t>
            </a:r>
            <a:r>
              <a:rPr lang="en-US" sz="2800" dirty="0" err="1"/>
              <a:t>Apriori</a:t>
            </a:r>
            <a:endParaRPr lang="en-US" sz="2800" dirty="0"/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058937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Core Concepts of FP Growth</a:t>
            </a:r>
          </a:p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2800" dirty="0"/>
              <a:t>Uses a data structure called the </a:t>
            </a:r>
            <a:r>
              <a:rPr lang="en-US" sz="2800" dirty="0">
                <a:solidFill>
                  <a:srgbClr val="FF0000"/>
                </a:solidFill>
              </a:rPr>
              <a:t>FP-Tree</a:t>
            </a:r>
            <a:r>
              <a:rPr lang="en-US" sz="2800" dirty="0"/>
              <a:t> (Frequent Pattern Tree) to represent transactions compactly, which facilitates efficient mining of frequent </a:t>
            </a:r>
            <a:r>
              <a:rPr lang="en-US" sz="2800" dirty="0" err="1"/>
              <a:t>itemsets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126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A. FP-Tree Structure</a:t>
            </a:r>
          </a:p>
          <a:p>
            <a:endParaRPr lang="en-US" sz="1400" b="1" dirty="0"/>
          </a:p>
          <a:p>
            <a:r>
              <a:rPr lang="en-US" sz="2800" b="1" i="1" dirty="0"/>
              <a:t>Compact Representation:</a:t>
            </a:r>
          </a:p>
          <a:p>
            <a:endParaRPr lang="en-US" sz="2800" b="1" i="1" dirty="0"/>
          </a:p>
          <a:p>
            <a:pPr marL="457200" indent="-457200">
              <a:buFontTx/>
              <a:buChar char="-"/>
            </a:pPr>
            <a:r>
              <a:rPr lang="en-US" sz="2800" dirty="0"/>
              <a:t>The FP-Tree is a </a:t>
            </a:r>
            <a:r>
              <a:rPr lang="en-US" sz="2800" dirty="0">
                <a:solidFill>
                  <a:srgbClr val="FF0000"/>
                </a:solidFill>
              </a:rPr>
              <a:t>compressed</a:t>
            </a:r>
            <a:r>
              <a:rPr lang="en-US" sz="2800" dirty="0"/>
              <a:t> structure that stores frequency of each item within the data, making it easy to locate patterns</a:t>
            </a:r>
          </a:p>
        </p:txBody>
      </p:sp>
    </p:spTree>
    <p:extLst>
      <p:ext uri="{BB962C8B-B14F-4D97-AF65-F5344CB8AC3E}">
        <p14:creationId xmlns:p14="http://schemas.microsoft.com/office/powerpoint/2010/main" val="1508779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A. FP-Tree Structure</a:t>
            </a:r>
          </a:p>
          <a:p>
            <a:endParaRPr lang="en-US" sz="1400" b="1" dirty="0"/>
          </a:p>
          <a:p>
            <a:r>
              <a:rPr lang="en-US" sz="2800" b="1" i="1" dirty="0"/>
              <a:t>Hierarchical Structure:</a:t>
            </a:r>
          </a:p>
          <a:p>
            <a:endParaRPr lang="en-US" sz="2800" b="1" i="1" dirty="0"/>
          </a:p>
          <a:p>
            <a:pPr marL="457200" indent="-457200">
              <a:buFontTx/>
              <a:buChar char="-"/>
            </a:pPr>
            <a:r>
              <a:rPr lang="en-US" sz="2800" dirty="0"/>
              <a:t>The tree organizes items in a hierarchy based on their frequency. Each branch of the tree represents items co-occurring in transactions.</a:t>
            </a:r>
          </a:p>
        </p:txBody>
      </p:sp>
    </p:spTree>
    <p:extLst>
      <p:ext uri="{BB962C8B-B14F-4D97-AF65-F5344CB8AC3E}">
        <p14:creationId xmlns:p14="http://schemas.microsoft.com/office/powerpoint/2010/main" val="3315811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A. FP-Tree Structure</a:t>
            </a:r>
          </a:p>
          <a:p>
            <a:endParaRPr lang="en-US" sz="1400" b="1" dirty="0"/>
          </a:p>
          <a:p>
            <a:r>
              <a:rPr lang="en-US" sz="2800" b="1" i="1" dirty="0"/>
              <a:t>Node Paths:</a:t>
            </a:r>
          </a:p>
          <a:p>
            <a:endParaRPr lang="en-US" sz="2800" b="1" i="1" dirty="0"/>
          </a:p>
          <a:p>
            <a:pPr marL="457200" indent="-457200">
              <a:buFontTx/>
              <a:buChar char="-"/>
            </a:pPr>
            <a:r>
              <a:rPr lang="en-US" sz="2800" dirty="0"/>
              <a:t>Each node in the FP-Tree represents an item and a counter indicating the frequency of that item within transactions along that path.</a:t>
            </a:r>
          </a:p>
        </p:txBody>
      </p:sp>
    </p:spTree>
    <p:extLst>
      <p:ext uri="{BB962C8B-B14F-4D97-AF65-F5344CB8AC3E}">
        <p14:creationId xmlns:p14="http://schemas.microsoft.com/office/powerpoint/2010/main" val="157050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B. Steps for Building the FP-Tree</a:t>
            </a:r>
          </a:p>
          <a:p>
            <a:endParaRPr lang="en-US" sz="1400" b="1" dirty="0"/>
          </a:p>
          <a:p>
            <a:pPr marL="514350" indent="-514350">
              <a:buAutoNum type="arabicPeriod"/>
            </a:pPr>
            <a:r>
              <a:rPr lang="en-US" sz="2800" b="1" dirty="0"/>
              <a:t>Count item frequency </a:t>
            </a:r>
            <a:r>
              <a:rPr lang="en-US" sz="2800" dirty="0"/>
              <a:t>in the data.</a:t>
            </a:r>
          </a:p>
          <a:p>
            <a:pPr marL="514350" indent="-514350">
              <a:buAutoNum type="arabicPeriod"/>
            </a:pPr>
            <a:r>
              <a:rPr lang="en-US" sz="2800" b="1" dirty="0"/>
              <a:t>Sort items by frequency </a:t>
            </a:r>
            <a:r>
              <a:rPr lang="en-US" sz="2800" dirty="0"/>
              <a:t>(descending order) to prioritize frequent items at the root, which helps compress the tree</a:t>
            </a:r>
          </a:p>
          <a:p>
            <a:pPr marL="514350" indent="-514350">
              <a:buAutoNum type="arabicPeriod"/>
            </a:pPr>
            <a:r>
              <a:rPr lang="en-US" sz="2800" b="1" dirty="0"/>
              <a:t>Insert transactions </a:t>
            </a:r>
            <a:r>
              <a:rPr lang="en-US" sz="2800" dirty="0"/>
              <a:t>into the FP-Tree, following the sorted order and incrementing counters for items that already exist along the paths.</a:t>
            </a:r>
          </a:p>
          <a:p>
            <a:pPr marL="514350" indent="-514350">
              <a:buAutoNum type="arabicPeriod"/>
            </a:pPr>
            <a:r>
              <a:rPr lang="en-US" sz="2800" b="1" dirty="0"/>
              <a:t>Create header tables</a:t>
            </a:r>
            <a:r>
              <a:rPr lang="en-US" sz="2800" dirty="0"/>
              <a:t> that link to each unique item in the tree. These headers serve as entry points for efficiency accessing and traversing nodes associated with each item.</a:t>
            </a:r>
          </a:p>
        </p:txBody>
      </p:sp>
    </p:spTree>
    <p:extLst>
      <p:ext uri="{BB962C8B-B14F-4D97-AF65-F5344CB8AC3E}">
        <p14:creationId xmlns:p14="http://schemas.microsoft.com/office/powerpoint/2010/main" val="14064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C. Pattern Extraction Using Conditional FP-Trees</a:t>
            </a:r>
          </a:p>
          <a:p>
            <a:endParaRPr lang="en-US" sz="1400" b="1" dirty="0"/>
          </a:p>
          <a:p>
            <a:pPr marL="514350" indent="-514350">
              <a:buAutoNum type="arabicPeriod"/>
            </a:pPr>
            <a:r>
              <a:rPr lang="en-US" sz="2800" dirty="0"/>
              <a:t>Once the FP-Tree is constructed, FP-Growth extracts patterns by constructing conditional FP-Trees for each item.</a:t>
            </a:r>
          </a:p>
          <a:p>
            <a:pPr marL="514350" indent="-514350">
              <a:buAutoNum type="arabicPeriod"/>
            </a:pPr>
            <a:endParaRPr lang="en-US" sz="1400" dirty="0"/>
          </a:p>
          <a:p>
            <a:pPr marL="514350" indent="-514350">
              <a:buAutoNum type="arabicPeriod"/>
            </a:pPr>
            <a:r>
              <a:rPr lang="en-US" sz="2800" dirty="0"/>
              <a:t>For each item at the bottom of the FP-Tree, the algorithm collects prefix paths (paths leading to that item) and generates new trees to find frequent patterns recursively.</a:t>
            </a:r>
          </a:p>
        </p:txBody>
      </p:sp>
    </p:spTree>
    <p:extLst>
      <p:ext uri="{BB962C8B-B14F-4D97-AF65-F5344CB8AC3E}">
        <p14:creationId xmlns:p14="http://schemas.microsoft.com/office/powerpoint/2010/main" val="1127248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D. Recursive Mining Process</a:t>
            </a:r>
          </a:p>
          <a:p>
            <a:endParaRPr lang="en-US" sz="1400" b="1" dirty="0"/>
          </a:p>
          <a:p>
            <a:pPr marL="514350" indent="-514350">
              <a:buAutoNum type="arabicPeriod"/>
            </a:pPr>
            <a:r>
              <a:rPr lang="en-US" sz="2800" dirty="0"/>
              <a:t>The FP-Growth algorithm mines the tree recursively by iterating over items in the header table.</a:t>
            </a:r>
          </a:p>
          <a:p>
            <a:pPr marL="514350" indent="-514350">
              <a:buAutoNum type="arabicPeriod"/>
            </a:pPr>
            <a:endParaRPr lang="en-US" sz="1400" dirty="0"/>
          </a:p>
          <a:p>
            <a:pPr marL="514350" indent="-514350">
              <a:buAutoNum type="arabicPeriod"/>
            </a:pPr>
            <a:r>
              <a:rPr lang="en-US" sz="2800" dirty="0"/>
              <a:t>By examining each item’s conditional tree, FP-Growth generates frequent </a:t>
            </a:r>
            <a:r>
              <a:rPr lang="en-US" sz="2800" dirty="0" err="1"/>
              <a:t>itemsets</a:t>
            </a:r>
            <a:r>
              <a:rPr lang="en-US" sz="2800" dirty="0"/>
              <a:t> without ever generating large candidate sets explicitly.</a:t>
            </a:r>
          </a:p>
        </p:txBody>
      </p:sp>
    </p:spTree>
    <p:extLst>
      <p:ext uri="{BB962C8B-B14F-4D97-AF65-F5344CB8AC3E}">
        <p14:creationId xmlns:p14="http://schemas.microsoft.com/office/powerpoint/2010/main" val="3900351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Advantages of FP-Growth over </a:t>
            </a:r>
            <a:r>
              <a:rPr lang="en-US" sz="4000" b="1" dirty="0" err="1"/>
              <a:t>Apriori</a:t>
            </a:r>
            <a:endParaRPr lang="en-US" sz="4000" b="1" dirty="0"/>
          </a:p>
          <a:p>
            <a:endParaRPr lang="en-US" sz="1400" b="1" dirty="0"/>
          </a:p>
          <a:p>
            <a:pPr marL="514350" indent="-514350">
              <a:buAutoNum type="alphaLcPeriod"/>
            </a:pPr>
            <a:r>
              <a:rPr lang="en-US" sz="2800" dirty="0"/>
              <a:t>Avoids Candidate Generation</a:t>
            </a:r>
          </a:p>
          <a:p>
            <a:r>
              <a:rPr lang="en-US" sz="2800" dirty="0"/>
              <a:t>      - 	</a:t>
            </a:r>
            <a:r>
              <a:rPr lang="en-US" sz="2400" dirty="0"/>
              <a:t>unlike </a:t>
            </a:r>
            <a:r>
              <a:rPr lang="en-US" sz="2400" dirty="0" err="1"/>
              <a:t>Apriori</a:t>
            </a:r>
            <a:r>
              <a:rPr lang="en-US" sz="2400" dirty="0"/>
              <a:t>, which generates and tests candidate </a:t>
            </a:r>
            <a:r>
              <a:rPr lang="en-US" sz="2400" dirty="0" err="1"/>
              <a:t>itemsets</a:t>
            </a:r>
            <a:r>
              <a:rPr lang="en-US" sz="2400" dirty="0"/>
              <a:t> at each level (1-	itemset, 2-itemset, etc.). FP-Growth avoids this step altogether, significantly 	reduces the computational load for large data.</a:t>
            </a:r>
          </a:p>
        </p:txBody>
      </p:sp>
    </p:spTree>
    <p:extLst>
      <p:ext uri="{BB962C8B-B14F-4D97-AF65-F5344CB8AC3E}">
        <p14:creationId xmlns:p14="http://schemas.microsoft.com/office/powerpoint/2010/main" val="444308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Advantages of FP-Growth over </a:t>
            </a:r>
            <a:r>
              <a:rPr lang="en-US" sz="4000" b="1" dirty="0" err="1"/>
              <a:t>Apriori</a:t>
            </a:r>
            <a:endParaRPr lang="en-US" sz="4000" b="1" dirty="0"/>
          </a:p>
          <a:p>
            <a:endParaRPr lang="en-US" sz="1400" b="1" dirty="0"/>
          </a:p>
          <a:p>
            <a:r>
              <a:rPr lang="en-US" sz="2800" dirty="0"/>
              <a:t>b.   Compact Representation of Data</a:t>
            </a:r>
          </a:p>
          <a:p>
            <a:r>
              <a:rPr lang="en-US" sz="2800" dirty="0"/>
              <a:t>      - 	</a:t>
            </a:r>
            <a:r>
              <a:rPr lang="en-US" sz="2400" dirty="0"/>
              <a:t>FP-Growth compresses the transaction database into an FP-Tree, allowing it 	to store the same data in a much smaller format. This is particularly helpful 	for dense datasets, where items frequently co-occur.</a:t>
            </a:r>
            <a:endParaRPr lang="en-US" sz="2800" dirty="0"/>
          </a:p>
          <a:p>
            <a:pPr marL="342900" indent="-342900">
              <a:buAutoNum type="alphaL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34576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Advantages of FP-Growth over </a:t>
            </a:r>
            <a:r>
              <a:rPr lang="en-US" sz="4000" b="1" dirty="0" err="1"/>
              <a:t>Apriori</a:t>
            </a:r>
            <a:endParaRPr lang="en-US" sz="4000" b="1" dirty="0"/>
          </a:p>
          <a:p>
            <a:endParaRPr lang="en-US" sz="1400" b="1" dirty="0"/>
          </a:p>
          <a:p>
            <a:r>
              <a:rPr lang="en-US" sz="2800" dirty="0"/>
              <a:t>c.   Recursive, Divide-and-Conquer Approach</a:t>
            </a:r>
          </a:p>
          <a:p>
            <a:r>
              <a:rPr lang="en-US" sz="2800" dirty="0"/>
              <a:t>      - 	</a:t>
            </a:r>
            <a:r>
              <a:rPr lang="en-US" sz="2400" dirty="0"/>
              <a:t>The divide-and-conquer strategy used by FP-Growth helps in breaking down 	complex problems into smaller, more manageable parts, improving speed 	and memory efficiency.</a:t>
            </a:r>
            <a:endParaRPr lang="en-US" sz="2800" dirty="0"/>
          </a:p>
          <a:p>
            <a:pPr marL="342900" indent="-342900">
              <a:buAutoNum type="alphaL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83745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2BDE47-316D-427B-93C9-9DD0B86B8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009691"/>
              </p:ext>
            </p:extLst>
          </p:nvPr>
        </p:nvGraphicFramePr>
        <p:xfrm>
          <a:off x="874581" y="1161030"/>
          <a:ext cx="10425081" cy="438439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75027">
                  <a:extLst>
                    <a:ext uri="{9D8B030D-6E8A-4147-A177-3AD203B41FA5}">
                      <a16:colId xmlns:a16="http://schemas.microsoft.com/office/drawing/2014/main" val="181439252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906303518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1515334915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r>
                        <a:rPr lang="en-PH" sz="1800" b="1" dirty="0"/>
                        <a:t>Feature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PH" sz="1800" b="1" dirty="0"/>
                        <a:t>FP-Growth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PH" sz="1800" b="1" dirty="0" err="1"/>
                        <a:t>Apriori</a:t>
                      </a:r>
                      <a:endParaRPr lang="en-PH" sz="1800" b="1" dirty="0"/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954134539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r>
                        <a:rPr lang="en-PH" sz="1800" b="1" dirty="0"/>
                        <a:t>Methodology</a:t>
                      </a:r>
                    </a:p>
                  </a:txBody>
                  <a:tcPr marL="90653" marR="90653" marT="45326" marB="4532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Uses a compact FP-Tree to mine patterns without candidate generation.</a:t>
                      </a:r>
                    </a:p>
                  </a:txBody>
                  <a:tcPr marL="90653" marR="90653" marT="45326" marB="45326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candidate generation with a join-and-prune approach.</a:t>
                      </a:r>
                    </a:p>
                  </a:txBody>
                  <a:tcPr marL="90653" marR="90653" marT="45326" marB="45326"/>
                </a:tc>
                <a:extLst>
                  <a:ext uri="{0D108BD9-81ED-4DB2-BD59-A6C34878D82A}">
                    <a16:rowId xmlns:a16="http://schemas.microsoft.com/office/drawing/2014/main" val="115539080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n-PH" sz="1800" b="1" dirty="0"/>
                        <a:t>Database Scans</a:t>
                      </a:r>
                    </a:p>
                  </a:txBody>
                  <a:tcPr marL="90653" marR="90653" marT="45326" marB="45326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Requires only two database scans.</a:t>
                      </a:r>
                    </a:p>
                  </a:txBody>
                  <a:tcPr marL="90653" marR="90653" marT="45326" marB="45326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Requires multiple scans (one for each k-itemset).</a:t>
                      </a:r>
                    </a:p>
                  </a:txBody>
                  <a:tcPr marL="90653" marR="90653" marT="45326" marB="45326"/>
                </a:tc>
                <a:extLst>
                  <a:ext uri="{0D108BD9-81ED-4DB2-BD59-A6C34878D82A}">
                    <a16:rowId xmlns:a16="http://schemas.microsoft.com/office/drawing/2014/main" val="529001585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r>
                        <a:rPr lang="en-PH" sz="1800" b="1"/>
                        <a:t>Efficiency</a:t>
                      </a:r>
                    </a:p>
                  </a:txBody>
                  <a:tcPr marL="90653" marR="90653" marT="45326" marB="4532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Faster, especially with dense data.</a:t>
                      </a:r>
                    </a:p>
                  </a:txBody>
                  <a:tcPr marL="90653" marR="90653" marT="45326" marB="45326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Slower due to candidate generation, especially with large datasets.</a:t>
                      </a:r>
                    </a:p>
                  </a:txBody>
                  <a:tcPr marL="90653" marR="90653" marT="45326" marB="45326"/>
                </a:tc>
                <a:extLst>
                  <a:ext uri="{0D108BD9-81ED-4DB2-BD59-A6C34878D82A}">
                    <a16:rowId xmlns:a16="http://schemas.microsoft.com/office/drawing/2014/main" val="3594714282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r>
                        <a:rPr lang="en-PH" sz="1800" b="1"/>
                        <a:t>Memory Usage</a:t>
                      </a:r>
                    </a:p>
                  </a:txBody>
                  <a:tcPr marL="90653" marR="90653" marT="45326" marB="4532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More memory-efficient, stores data compactly in a tree.</a:t>
                      </a:r>
                    </a:p>
                  </a:txBody>
                  <a:tcPr marL="90653" marR="90653" marT="45326" marB="45326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Memory-intensive due to candidate sets and multiple passes.</a:t>
                      </a:r>
                    </a:p>
                  </a:txBody>
                  <a:tcPr marL="90653" marR="90653" marT="45326" marB="45326"/>
                </a:tc>
                <a:extLst>
                  <a:ext uri="{0D108BD9-81ED-4DB2-BD59-A6C34878D82A}">
                    <a16:rowId xmlns:a16="http://schemas.microsoft.com/office/drawing/2014/main" val="995428735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r>
                        <a:rPr lang="en-PH" sz="1800" b="1" dirty="0"/>
                        <a:t>Best Use Cases</a:t>
                      </a:r>
                    </a:p>
                  </a:txBody>
                  <a:tcPr marL="90653" marR="90653" marT="45326" marB="45326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Works well for dense, large databases with many frequent patterns.</a:t>
                      </a:r>
                    </a:p>
                  </a:txBody>
                  <a:tcPr marL="90653" marR="90653" marT="45326" marB="4532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Suitable for small to medium-sized, sparse datasets.</a:t>
                      </a:r>
                    </a:p>
                  </a:txBody>
                  <a:tcPr marL="90653" marR="90653" marT="45326" marB="45326"/>
                </a:tc>
                <a:extLst>
                  <a:ext uri="{0D108BD9-81ED-4DB2-BD59-A6C34878D82A}">
                    <a16:rowId xmlns:a16="http://schemas.microsoft.com/office/drawing/2014/main" val="1131115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835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Real-Life Examples (Same with </a:t>
            </a:r>
            <a:r>
              <a:rPr lang="en-US" sz="4000" b="1" dirty="0" err="1"/>
              <a:t>Apriori</a:t>
            </a:r>
            <a:r>
              <a:rPr lang="en-US" sz="4000" b="1" dirty="0"/>
              <a:t>)</a:t>
            </a:r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b="1" dirty="0"/>
              <a:t>Retail/Convenience stores:</a:t>
            </a:r>
            <a:r>
              <a:rPr lang="en-US" dirty="0"/>
              <a:t> “If a basket has </a:t>
            </a:r>
            <a:r>
              <a:rPr lang="en-US" i="1" dirty="0"/>
              <a:t>diapers</a:t>
            </a:r>
            <a:r>
              <a:rPr lang="en-US" dirty="0"/>
              <a:t>, beer is 25% more likely than baseline.” → bundle/placement.</a:t>
            </a:r>
          </a:p>
          <a:p>
            <a:endParaRPr lang="en-US" b="1" dirty="0"/>
          </a:p>
          <a:p>
            <a:r>
              <a:rPr lang="en-US" b="1" dirty="0"/>
              <a:t>E-commerce:</a:t>
            </a:r>
            <a:r>
              <a:rPr lang="en-US" dirty="0"/>
              <a:t> “Users who buy </a:t>
            </a:r>
            <a:r>
              <a:rPr lang="en-US" i="1" dirty="0"/>
              <a:t>phone cases</a:t>
            </a:r>
            <a:r>
              <a:rPr lang="en-US" dirty="0"/>
              <a:t> also buy </a:t>
            </a:r>
            <a:r>
              <a:rPr lang="en-US" i="1" dirty="0"/>
              <a:t>screen protectors</a:t>
            </a:r>
            <a:r>
              <a:rPr lang="en-US" dirty="0"/>
              <a:t>.” → cross-sell suggestions.</a:t>
            </a:r>
          </a:p>
          <a:p>
            <a:endParaRPr lang="en-US" b="1" dirty="0"/>
          </a:p>
          <a:p>
            <a:r>
              <a:rPr lang="en-US" b="1" dirty="0"/>
              <a:t>Education (course design):</a:t>
            </a:r>
            <a:r>
              <a:rPr lang="en-US" dirty="0"/>
              <a:t> “Students taking </a:t>
            </a:r>
            <a:r>
              <a:rPr lang="en-US" i="1" dirty="0"/>
              <a:t>Calc II</a:t>
            </a:r>
            <a:r>
              <a:rPr lang="en-US" dirty="0"/>
              <a:t> and </a:t>
            </a:r>
            <a:r>
              <a:rPr lang="en-US" i="1" dirty="0"/>
              <a:t>Physics I</a:t>
            </a:r>
            <a:r>
              <a:rPr lang="en-US" dirty="0"/>
              <a:t> also take </a:t>
            </a:r>
            <a:r>
              <a:rPr lang="en-US" i="1" dirty="0"/>
              <a:t>Programming I</a:t>
            </a:r>
            <a:r>
              <a:rPr lang="en-US" dirty="0"/>
              <a:t>.” → schedule optimization, advising.</a:t>
            </a:r>
          </a:p>
          <a:p>
            <a:endParaRPr lang="en-US" b="1" dirty="0"/>
          </a:p>
          <a:p>
            <a:r>
              <a:rPr lang="en-US" b="1" dirty="0"/>
              <a:t>Healthcare:</a:t>
            </a:r>
            <a:r>
              <a:rPr lang="en-US" dirty="0"/>
              <a:t> “Patients with </a:t>
            </a:r>
            <a:r>
              <a:rPr lang="en-US" i="1" dirty="0"/>
              <a:t>hypertension</a:t>
            </a:r>
            <a:r>
              <a:rPr lang="en-US" dirty="0"/>
              <a:t> and </a:t>
            </a:r>
            <a:r>
              <a:rPr lang="en-US" i="1" dirty="0"/>
              <a:t>diabetes</a:t>
            </a:r>
            <a:r>
              <a:rPr lang="en-US" dirty="0"/>
              <a:t> often receive </a:t>
            </a:r>
            <a:r>
              <a:rPr lang="en-US" i="1" dirty="0"/>
              <a:t>ACE inhibitors</a:t>
            </a:r>
            <a:r>
              <a:rPr lang="en-US" dirty="0"/>
              <a:t>.” → order sets, care pathways.</a:t>
            </a:r>
          </a:p>
          <a:p>
            <a:endParaRPr lang="en-US" b="1" dirty="0"/>
          </a:p>
          <a:p>
            <a:r>
              <a:rPr lang="en-US" b="1" dirty="0"/>
              <a:t>Media playlists:</a:t>
            </a:r>
            <a:r>
              <a:rPr lang="en-US" dirty="0"/>
              <a:t> “Listeners of </a:t>
            </a:r>
            <a:r>
              <a:rPr lang="en-US" i="1" dirty="0"/>
              <a:t>Artist A</a:t>
            </a:r>
            <a:r>
              <a:rPr lang="en-US" dirty="0"/>
              <a:t> and </a:t>
            </a:r>
            <a:r>
              <a:rPr lang="en-US" i="1" dirty="0"/>
              <a:t>Genre B</a:t>
            </a:r>
            <a:r>
              <a:rPr lang="en-US" dirty="0"/>
              <a:t> also stream </a:t>
            </a:r>
            <a:r>
              <a:rPr lang="en-US" i="1" dirty="0"/>
              <a:t>Artist C</a:t>
            </a:r>
            <a:r>
              <a:rPr lang="en-US" dirty="0"/>
              <a:t>.” → recommendations.</a:t>
            </a:r>
            <a:endParaRPr lang="en-US" b="1" dirty="0"/>
          </a:p>
          <a:p>
            <a:pPr marL="342900" indent="-342900">
              <a:buAutoNum type="alphaL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9481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1. Count Item Frequencies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C11D1B-B1E4-4656-9967-F8B4B422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177258"/>
              </p:ext>
            </p:extLst>
          </p:nvPr>
        </p:nvGraphicFramePr>
        <p:xfrm>
          <a:off x="762000" y="2053121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PH" b="1" dirty="0"/>
                        <a:t>Transaction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B, D,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{B, C,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B, C,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{B, C}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C,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</a:tbl>
          </a:graphicData>
        </a:graphic>
      </p:graphicFrame>
      <p:sp>
        <p:nvSpPr>
          <p:cNvPr id="25" name="Rectangle 15">
            <a:extLst>
              <a:ext uri="{FF2B5EF4-FFF2-40B4-BE49-F238E27FC236}">
                <a16:creationId xmlns:a16="http://schemas.microsoft.com/office/drawing/2014/main" id="{1D6AA419-6831-4164-BA48-6A64F8D31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730" y="1551553"/>
            <a:ext cx="105156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 a database of five transactions with minimum support of 2: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0E3094-EF97-4726-A444-FDFC8EAD4410}"/>
              </a:ext>
            </a:extLst>
          </p:cNvPr>
          <p:cNvSpPr txBox="1"/>
          <p:nvPr/>
        </p:nvSpPr>
        <p:spPr>
          <a:xfrm>
            <a:off x="762000" y="4403986"/>
            <a:ext cx="10515600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FP-Tree Construction: </a:t>
            </a:r>
          </a:p>
          <a:p>
            <a:endParaRPr lang="en-US" sz="1050" b="1" dirty="0"/>
          </a:p>
          <a:p>
            <a:pPr marL="457200" indent="-457200">
              <a:buAutoNum type="arabicPeriod"/>
            </a:pPr>
            <a:r>
              <a:rPr lang="en-US" sz="2000" dirty="0"/>
              <a:t>Count frequencies</a:t>
            </a:r>
            <a:r>
              <a:rPr lang="en-US" sz="2000" b="1" dirty="0"/>
              <a:t>: </a:t>
            </a:r>
            <a:r>
              <a:rPr lang="en-US" sz="2000" i="1" dirty="0">
                <a:solidFill>
                  <a:srgbClr val="FF0000"/>
                </a:solidFill>
              </a:rPr>
              <a:t>{A: 3, B: 4, C: 4, D: 2, E: 3</a:t>
            </a:r>
            <a:r>
              <a:rPr lang="en-US" sz="2000" dirty="0">
                <a:solidFill>
                  <a:srgbClr val="FF0000"/>
                </a:solidFill>
              </a:rPr>
              <a:t>}</a:t>
            </a:r>
          </a:p>
          <a:p>
            <a:pPr marL="457200" indent="-457200">
              <a:buAutoNum type="arabicPeriod"/>
            </a:pPr>
            <a:r>
              <a:rPr lang="en-US" sz="2000" dirty="0"/>
              <a:t>Sort by frequency</a:t>
            </a:r>
          </a:p>
          <a:p>
            <a:pPr marL="457200" indent="-457200">
              <a:buAutoNum type="arabicPeriod"/>
            </a:pPr>
            <a:r>
              <a:rPr lang="en-US" sz="2000" dirty="0"/>
              <a:t>Insert each transaction into the FP-Tree following the sorted order 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42094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2. Sort Items in Each Transactions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C11D1B-B1E4-4656-9967-F8B4B422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128919"/>
              </p:ext>
            </p:extLst>
          </p:nvPr>
        </p:nvGraphicFramePr>
        <p:xfrm>
          <a:off x="762000" y="2053121"/>
          <a:ext cx="10515600" cy="21945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PH" b="1" dirty="0"/>
                        <a:t>Transaction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 by Frequency)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{B, A, E,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{B, C,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{B, C,</a:t>
                      </a:r>
                      <a:r>
                        <a:rPr lang="en-PH" baseline="0" dirty="0"/>
                        <a:t> A</a:t>
                      </a:r>
                      <a:r>
                        <a:rPr lang="en-PH" dirty="0"/>
                        <a:t>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{B, C}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</a:tbl>
          </a:graphicData>
        </a:graphic>
      </p:graphicFrame>
      <p:sp>
        <p:nvSpPr>
          <p:cNvPr id="25" name="Rectangle 15">
            <a:extLst>
              <a:ext uri="{FF2B5EF4-FFF2-40B4-BE49-F238E27FC236}">
                <a16:creationId xmlns:a16="http://schemas.microsoft.com/office/drawing/2014/main" id="{1D6AA419-6831-4164-BA48-6A64F8D31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730" y="1551553"/>
            <a:ext cx="105156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 a database of five transactions with minimum support of 2: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0E3094-EF97-4726-A444-FDFC8EAD4410}"/>
              </a:ext>
            </a:extLst>
          </p:cNvPr>
          <p:cNvSpPr txBox="1"/>
          <p:nvPr/>
        </p:nvSpPr>
        <p:spPr>
          <a:xfrm>
            <a:off x="762000" y="4403986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Count frequencies</a:t>
            </a:r>
            <a:r>
              <a:rPr lang="en-US" sz="2400" b="1" dirty="0"/>
              <a:t>: </a:t>
            </a:r>
            <a:r>
              <a:rPr lang="en-US" sz="2400" i="1" dirty="0">
                <a:solidFill>
                  <a:srgbClr val="FF0000"/>
                </a:solidFill>
              </a:rPr>
              <a:t>{A: 3, B: 4, C: 4, D: 2, E: 3</a:t>
            </a:r>
            <a:r>
              <a:rPr lang="en-US" sz="2400" dirty="0">
                <a:solidFill>
                  <a:srgbClr val="FF0000"/>
                </a:solidFill>
              </a:rPr>
              <a:t>} </a:t>
            </a:r>
            <a:r>
              <a:rPr lang="en-US" sz="2400" dirty="0"/>
              <a:t>(For reference only)</a:t>
            </a:r>
          </a:p>
        </p:txBody>
      </p:sp>
    </p:spTree>
    <p:extLst>
      <p:ext uri="{BB962C8B-B14F-4D97-AF65-F5344CB8AC3E}">
        <p14:creationId xmlns:p14="http://schemas.microsoft.com/office/powerpoint/2010/main" val="1115566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3. Insert Transactions into the FP-Tree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0E3094-EF97-4726-A444-FDFC8EAD4410}"/>
              </a:ext>
            </a:extLst>
          </p:cNvPr>
          <p:cNvSpPr txBox="1"/>
          <p:nvPr/>
        </p:nvSpPr>
        <p:spPr>
          <a:xfrm>
            <a:off x="669520" y="1599679"/>
            <a:ext cx="560065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Transaction T1</a:t>
            </a:r>
            <a:r>
              <a:rPr lang="en-US" sz="2400" b="1" dirty="0"/>
              <a:t>: </a:t>
            </a:r>
            <a:r>
              <a:rPr lang="en-US" sz="2400" dirty="0"/>
              <a:t>({</a:t>
            </a:r>
            <a:r>
              <a:rPr lang="en-US" sz="2400" dirty="0">
                <a:solidFill>
                  <a:srgbClr val="FF0000"/>
                </a:solidFill>
              </a:rPr>
              <a:t>B, A, E, D</a:t>
            </a:r>
            <a:r>
              <a:rPr lang="en-US" sz="2400" dirty="0"/>
              <a:t>})</a:t>
            </a:r>
          </a:p>
          <a:p>
            <a:endParaRPr lang="en-US" sz="1000" dirty="0"/>
          </a:p>
          <a:p>
            <a:r>
              <a:rPr lang="en-US" sz="2400" dirty="0"/>
              <a:t>Insert path </a:t>
            </a:r>
            <a:r>
              <a:rPr lang="en-US" sz="2400" dirty="0">
                <a:solidFill>
                  <a:srgbClr val="FF0000"/>
                </a:solidFill>
              </a:rPr>
              <a:t>B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 A  E  D</a:t>
            </a:r>
          </a:p>
          <a:p>
            <a:r>
              <a:rPr lang="en-US" sz="2400" dirty="0">
                <a:sym typeface="Wingdings" panose="05000000000000000000" pitchFamily="2" charset="2"/>
              </a:rPr>
              <a:t>Set counters: B: 1, A: 1, E: 1, D: 1</a:t>
            </a:r>
            <a:endParaRPr lang="en-US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2" idx="3"/>
            <a:endCxn id="8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10" idx="7"/>
            <a:endCxn id="9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562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3. Insert Transactions into the FP-Tree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0E3094-EF97-4726-A444-FDFC8EAD4410}"/>
              </a:ext>
            </a:extLst>
          </p:cNvPr>
          <p:cNvSpPr txBox="1"/>
          <p:nvPr/>
        </p:nvSpPr>
        <p:spPr>
          <a:xfrm>
            <a:off x="683177" y="1601565"/>
            <a:ext cx="625275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Transaction T2</a:t>
            </a:r>
            <a:r>
              <a:rPr lang="en-US" sz="2400" b="1" dirty="0"/>
              <a:t>: </a:t>
            </a:r>
            <a:r>
              <a:rPr lang="en-US" sz="2400" dirty="0"/>
              <a:t>({</a:t>
            </a:r>
            <a:r>
              <a:rPr lang="en-US" sz="2400" dirty="0">
                <a:solidFill>
                  <a:srgbClr val="FF0000"/>
                </a:solidFill>
              </a:rPr>
              <a:t>B, C, E</a:t>
            </a:r>
            <a:r>
              <a:rPr lang="en-US" sz="2400" dirty="0"/>
              <a:t>})</a:t>
            </a:r>
          </a:p>
          <a:p>
            <a:endParaRPr lang="en-US" sz="1000" dirty="0"/>
          </a:p>
          <a:p>
            <a:r>
              <a:rPr lang="en-US" sz="2400" dirty="0"/>
              <a:t>Insert path B </a:t>
            </a:r>
            <a:r>
              <a:rPr lang="en-US" sz="2400" dirty="0">
                <a:sym typeface="Wingdings" panose="05000000000000000000" pitchFamily="2" charset="2"/>
              </a:rPr>
              <a:t> C  E</a:t>
            </a:r>
          </a:p>
          <a:p>
            <a:r>
              <a:rPr lang="en-US" sz="2400" dirty="0">
                <a:sym typeface="Wingdings" panose="05000000000000000000" pitchFamily="2" charset="2"/>
              </a:rPr>
              <a:t>B exists already, so increment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B to 2</a:t>
            </a:r>
          </a:p>
          <a:p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C </a:t>
            </a:r>
            <a:r>
              <a:rPr lang="en-US" sz="2400" dirty="0">
                <a:sym typeface="Wingdings" panose="05000000000000000000" pitchFamily="2" charset="2"/>
              </a:rPr>
              <a:t>and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E</a:t>
            </a:r>
            <a:r>
              <a:rPr lang="en-US" sz="2400" dirty="0">
                <a:sym typeface="Wingdings" panose="05000000000000000000" pitchFamily="2" charset="2"/>
              </a:rPr>
              <a:t> are new in this branch, add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C: 1 </a:t>
            </a:r>
            <a:r>
              <a:rPr lang="en-US" sz="2400" dirty="0">
                <a:sym typeface="Wingdings" panose="05000000000000000000" pitchFamily="2" charset="2"/>
              </a:rPr>
              <a:t>and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E: 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8" idx="5"/>
            <a:endCxn id="31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2" idx="0"/>
            <a:endCxn id="31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8" idx="3"/>
            <a:endCxn id="39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39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41" idx="7"/>
            <a:endCxn id="40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237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3. Insert Transactions into the FP-Tree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22747B-4BA2-49BB-8FCA-013B956D6605}"/>
              </a:ext>
            </a:extLst>
          </p:cNvPr>
          <p:cNvSpPr txBox="1"/>
          <p:nvPr/>
        </p:nvSpPr>
        <p:spPr>
          <a:xfrm>
            <a:off x="821920" y="1752079"/>
            <a:ext cx="560065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Transaction T3</a:t>
            </a:r>
            <a:r>
              <a:rPr lang="en-US" sz="2400" b="1" dirty="0"/>
              <a:t>: </a:t>
            </a:r>
            <a:r>
              <a:rPr lang="en-US" sz="2400" dirty="0"/>
              <a:t>({</a:t>
            </a:r>
            <a:r>
              <a:rPr lang="en-US" sz="2400" dirty="0">
                <a:solidFill>
                  <a:srgbClr val="FF0000"/>
                </a:solidFill>
              </a:rPr>
              <a:t>B, C, A, E</a:t>
            </a:r>
            <a:r>
              <a:rPr lang="en-US" sz="2400" dirty="0"/>
              <a:t>})</a:t>
            </a:r>
          </a:p>
          <a:p>
            <a:endParaRPr lang="en-US" sz="1000" dirty="0"/>
          </a:p>
          <a:p>
            <a:r>
              <a:rPr lang="en-US" sz="2400" dirty="0"/>
              <a:t>B &amp; C already exists in this branch, so increment </a:t>
            </a:r>
            <a:r>
              <a:rPr lang="en-US" sz="2400" dirty="0">
                <a:solidFill>
                  <a:srgbClr val="002060"/>
                </a:solidFill>
              </a:rPr>
              <a:t>B to 3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002060"/>
                </a:solidFill>
              </a:rPr>
              <a:t>C to 2</a:t>
            </a:r>
          </a:p>
          <a:p>
            <a:endParaRPr lang="en-US" sz="1200" dirty="0">
              <a:sym typeface="Wingdings" panose="05000000000000000000" pitchFamily="2" charset="2"/>
            </a:endParaRPr>
          </a:p>
          <a:p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en-US" sz="2400" dirty="0">
                <a:sym typeface="Wingdings" panose="05000000000000000000" pitchFamily="2" charset="2"/>
              </a:rPr>
              <a:t> and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E</a:t>
            </a:r>
            <a:r>
              <a:rPr lang="en-US" sz="2400" dirty="0">
                <a:sym typeface="Wingdings" panose="05000000000000000000" pitchFamily="2" charset="2"/>
              </a:rPr>
              <a:t> are new in this branch, so add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A: 1 </a:t>
            </a:r>
            <a:r>
              <a:rPr lang="en-US" sz="2400" dirty="0">
                <a:sym typeface="Wingdings" panose="05000000000000000000" pitchFamily="2" charset="2"/>
              </a:rPr>
              <a:t>and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E: 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47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8" idx="0"/>
            <a:endCxn id="47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51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51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53" idx="7"/>
            <a:endCxn id="52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58" idx="1"/>
            <a:endCxn id="47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58" idx="5"/>
            <a:endCxn id="59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216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3. Insert Transactions into the FP-Tree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22747B-4BA2-49BB-8FCA-013B956D6605}"/>
              </a:ext>
            </a:extLst>
          </p:cNvPr>
          <p:cNvSpPr txBox="1"/>
          <p:nvPr/>
        </p:nvSpPr>
        <p:spPr>
          <a:xfrm>
            <a:off x="821920" y="1752079"/>
            <a:ext cx="5600651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Transaction T4</a:t>
            </a:r>
            <a:r>
              <a:rPr lang="en-US" sz="2400" b="1" dirty="0"/>
              <a:t>: </a:t>
            </a:r>
            <a:r>
              <a:rPr lang="en-US" sz="2400" dirty="0"/>
              <a:t>({</a:t>
            </a:r>
            <a:r>
              <a:rPr lang="en-US" sz="2400" dirty="0">
                <a:solidFill>
                  <a:srgbClr val="FF0000"/>
                </a:solidFill>
              </a:rPr>
              <a:t>B, C</a:t>
            </a:r>
            <a:r>
              <a:rPr lang="en-US" sz="2400" dirty="0"/>
              <a:t>})</a:t>
            </a:r>
          </a:p>
          <a:p>
            <a:endParaRPr lang="en-US" sz="1000" dirty="0"/>
          </a:p>
          <a:p>
            <a:r>
              <a:rPr lang="en-US" sz="2400" dirty="0"/>
              <a:t>Insert path B </a:t>
            </a:r>
            <a:r>
              <a:rPr lang="en-US" sz="2400" dirty="0">
                <a:sym typeface="Wingdings" panose="05000000000000000000" pitchFamily="2" charset="2"/>
              </a:rPr>
              <a:t> C</a:t>
            </a:r>
          </a:p>
          <a:p>
            <a:r>
              <a:rPr lang="en-US" sz="2400" dirty="0">
                <a:sym typeface="Wingdings" panose="05000000000000000000" pitchFamily="2" charset="2"/>
              </a:rPr>
              <a:t>B already exists, so increment 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B to 4</a:t>
            </a:r>
            <a:r>
              <a:rPr lang="en-US" sz="2400" dirty="0">
                <a:solidFill>
                  <a:srgbClr val="002060"/>
                </a:solidFill>
                <a:sym typeface="Wingdings" panose="05000000000000000000" pitchFamily="2" charset="2"/>
              </a:rPr>
              <a:t>, </a:t>
            </a:r>
            <a:r>
              <a:rPr lang="en-US" sz="2400" dirty="0">
                <a:sym typeface="Wingdings" panose="05000000000000000000" pitchFamily="2" charset="2"/>
              </a:rPr>
              <a:t>increment 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C to 3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55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56" idx="0"/>
            <a:endCxn id="55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59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59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61" idx="7"/>
            <a:endCxn id="60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66" idx="1"/>
            <a:endCxn id="55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66" idx="5"/>
            <a:endCxn id="67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249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3. Insert Transactions into the FP-Tree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22747B-4BA2-49BB-8FCA-013B956D6605}"/>
              </a:ext>
            </a:extLst>
          </p:cNvPr>
          <p:cNvSpPr txBox="1"/>
          <p:nvPr/>
        </p:nvSpPr>
        <p:spPr>
          <a:xfrm>
            <a:off x="821920" y="1752079"/>
            <a:ext cx="560065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Transaction T5</a:t>
            </a:r>
            <a:r>
              <a:rPr lang="en-US" sz="2400" b="1" dirty="0"/>
              <a:t>: </a:t>
            </a:r>
            <a:r>
              <a:rPr lang="en-US" sz="2400" dirty="0"/>
              <a:t>({</a:t>
            </a:r>
            <a:r>
              <a:rPr lang="en-US" sz="2400" dirty="0">
                <a:solidFill>
                  <a:srgbClr val="FF0000"/>
                </a:solidFill>
              </a:rPr>
              <a:t>C, A, D</a:t>
            </a:r>
            <a:r>
              <a:rPr lang="en-US" sz="2400" dirty="0"/>
              <a:t>})</a:t>
            </a:r>
          </a:p>
          <a:p>
            <a:endParaRPr lang="en-US" sz="1000" dirty="0"/>
          </a:p>
          <a:p>
            <a:r>
              <a:rPr lang="en-US" sz="2400" dirty="0"/>
              <a:t>Start a new branch C as the first item</a:t>
            </a:r>
            <a:endParaRPr lang="en-US" sz="2400" dirty="0">
              <a:solidFill>
                <a:srgbClr val="002060"/>
              </a:solidFill>
            </a:endParaRPr>
          </a:p>
          <a:p>
            <a:endParaRPr lang="en-US" sz="1200" dirty="0">
              <a:sym typeface="Wingdings" panose="05000000000000000000" pitchFamily="2" charset="2"/>
            </a:endParaRPr>
          </a:p>
          <a:p>
            <a:r>
              <a:rPr lang="en-US" sz="2400" dirty="0">
                <a:sym typeface="Wingdings" panose="05000000000000000000" pitchFamily="2" charset="2"/>
              </a:rPr>
              <a:t>Create path C  A  D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68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69" idx="0"/>
            <a:endCxn id="68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72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72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74" idx="7"/>
            <a:endCxn id="73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79" idx="1"/>
            <a:endCxn id="68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79" idx="5"/>
            <a:endCxn id="80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84" idx="0"/>
            <a:endCxn id="83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85" idx="0"/>
            <a:endCxn id="84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1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4. Header Table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AAE7AD-95E2-4A9A-A1BD-2337619DC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943318"/>
              </p:ext>
            </p:extLst>
          </p:nvPr>
        </p:nvGraphicFramePr>
        <p:xfrm>
          <a:off x="742968" y="1686080"/>
          <a:ext cx="5391132" cy="2011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95357">
                  <a:extLst>
                    <a:ext uri="{9D8B030D-6E8A-4147-A177-3AD203B41FA5}">
                      <a16:colId xmlns:a16="http://schemas.microsoft.com/office/drawing/2014/main" val="17816992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684168584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731333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PH" sz="1600" b="1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600" b="1"/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600" b="1" dirty="0"/>
                        <a:t>Pointer to First Node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546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6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6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 B node in tree</a:t>
                      </a:r>
                      <a:endParaRPr lang="en-PH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78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6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6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 C node in tree</a:t>
                      </a:r>
                      <a:endParaRPr lang="en-PH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02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6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 A node in tree</a:t>
                      </a:r>
                      <a:endParaRPr lang="en-PH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4366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60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600"/>
                        <a:t>3</a:t>
                      </a:r>
                      <a:endParaRPr lang="en-PH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 E node in tree</a:t>
                      </a:r>
                      <a:endParaRPr lang="en-PH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923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60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 D node in tree</a:t>
                      </a:r>
                      <a:endParaRPr lang="en-PH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997865"/>
                  </a:ext>
                </a:extLst>
              </a:tr>
            </a:tbl>
          </a:graphicData>
        </a:graphic>
      </p:graphicFrame>
      <p:sp>
        <p:nvSpPr>
          <p:cNvPr id="29" name="Oval 28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29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0" idx="0"/>
            <a:endCxn id="29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3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33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35" idx="7"/>
            <a:endCxn id="34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0" idx="1"/>
            <a:endCxn id="29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0" idx="5"/>
            <a:endCxn id="41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5" idx="0"/>
            <a:endCxn id="44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6" idx="0"/>
            <a:endCxn id="45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406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5.1 Mining the FP-Tree for Frequent Patterns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FFCD5-DA91-4170-905E-45E8EB9BEBE5}"/>
              </a:ext>
            </a:extLst>
          </p:cNvPr>
          <p:cNvSpPr txBox="1"/>
          <p:nvPr/>
        </p:nvSpPr>
        <p:spPr>
          <a:xfrm>
            <a:off x="746727" y="1763740"/>
            <a:ext cx="5600651" cy="362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Paths Leading to D Nodes:</a:t>
            </a:r>
          </a:p>
          <a:p>
            <a:endParaRPr lang="en-US" sz="900" b="1" dirty="0"/>
          </a:p>
          <a:p>
            <a:pPr marL="457200" indent="-457200">
              <a:buAutoNum type="arabicPeriod"/>
            </a:pPr>
            <a:r>
              <a:rPr lang="en-US" sz="2000" dirty="0"/>
              <a:t>Path 1 containing D:</a:t>
            </a:r>
          </a:p>
          <a:p>
            <a:r>
              <a:rPr lang="en-US" sz="2000" dirty="0"/>
              <a:t>      </a:t>
            </a:r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</a:rPr>
              <a:t>B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en-US" b="1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E</a:t>
            </a:r>
            <a:r>
              <a:rPr lang="en-US" b="1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D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(support count = 1)</a:t>
            </a:r>
          </a:p>
          <a:p>
            <a:endParaRPr lang="en-US" sz="2000" b="1" dirty="0">
              <a:sym typeface="Wingdings" panose="05000000000000000000" pitchFamily="2" charset="2"/>
            </a:endParaRPr>
          </a:p>
          <a:p>
            <a:r>
              <a:rPr lang="en-US" sz="2000" dirty="0"/>
              <a:t>2.   Path 2 containing D:</a:t>
            </a:r>
          </a:p>
          <a:p>
            <a:r>
              <a:rPr lang="en-US" sz="2000" dirty="0"/>
              <a:t>      </a:t>
            </a:r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</a:rPr>
              <a:t>C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en-US" b="1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D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(support count = 1)</a:t>
            </a:r>
          </a:p>
          <a:p>
            <a:endParaRPr lang="en-US" sz="1200" b="1" dirty="0">
              <a:sym typeface="Wingdings" panose="05000000000000000000" pitchFamily="2" charset="2"/>
            </a:endParaRPr>
          </a:p>
          <a:p>
            <a:r>
              <a:rPr lang="en-US" sz="2000" b="1" dirty="0"/>
              <a:t>Sample Conditional Pattern Base on D:</a:t>
            </a:r>
          </a:p>
          <a:p>
            <a:endParaRPr lang="en-US" sz="900" b="1" dirty="0"/>
          </a:p>
          <a:p>
            <a:r>
              <a:rPr lang="en-US" sz="2000" dirty="0">
                <a:solidFill>
                  <a:srgbClr val="FF0000"/>
                </a:solidFill>
              </a:rPr>
              <a:t>B, A, E 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C, A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  <a:p>
            <a:endParaRPr lang="en-US" b="1" dirty="0">
              <a:sym typeface="Wingdings" panose="05000000000000000000" pitchFamily="2" charset="2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0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1" idx="0"/>
            <a:endCxn id="30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4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1"/>
            <a:endCxn id="30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5"/>
            <a:endCxn id="42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6" idx="0"/>
            <a:endCxn id="45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7" idx="0"/>
            <a:endCxn id="46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285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Frequent Pattern for Node D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0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1" idx="0"/>
            <a:endCxn id="30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4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1"/>
            <a:endCxn id="30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5"/>
            <a:endCxn id="42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6" idx="0"/>
            <a:endCxn id="45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7" idx="0"/>
            <a:endCxn id="46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C11D1B-B1E4-4656-9967-F8B4B422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466217"/>
              </p:ext>
            </p:extLst>
          </p:nvPr>
        </p:nvGraphicFramePr>
        <p:xfrm>
          <a:off x="771525" y="1680498"/>
          <a:ext cx="4695825" cy="25603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86702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PH" b="1" dirty="0"/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Support 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{A,</a:t>
                      </a:r>
                      <a:r>
                        <a:rPr lang="en-US" baseline="0" dirty="0"/>
                        <a:t> D}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{E,</a:t>
                      </a:r>
                      <a:r>
                        <a:rPr lang="en-US" baseline="0" dirty="0"/>
                        <a:t> D}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{A,</a:t>
                      </a:r>
                      <a:r>
                        <a:rPr lang="en-US" baseline="0" dirty="0"/>
                        <a:t> E, D}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</a:t>
                      </a:r>
                      <a:r>
                        <a:rPr lang="en-US" baseline="0" dirty="0"/>
                        <a:t> A, E, D}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{C, A, D}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246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5.2 Mining the FP-Tree for Frequent Patterns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FFCD5-DA91-4170-905E-45E8EB9BEBE5}"/>
              </a:ext>
            </a:extLst>
          </p:cNvPr>
          <p:cNvSpPr txBox="1"/>
          <p:nvPr/>
        </p:nvSpPr>
        <p:spPr>
          <a:xfrm>
            <a:off x="746727" y="1763740"/>
            <a:ext cx="56006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Paths Leading to E Nodes:</a:t>
            </a:r>
          </a:p>
          <a:p>
            <a:endParaRPr lang="en-US" sz="900" b="1" dirty="0"/>
          </a:p>
          <a:p>
            <a:pPr marL="457200" indent="-457200">
              <a:buAutoNum type="arabicPeriod"/>
            </a:pPr>
            <a:r>
              <a:rPr lang="en-US" sz="2000" dirty="0"/>
              <a:t>Path 1 containing E:</a:t>
            </a:r>
          </a:p>
          <a:p>
            <a:r>
              <a:rPr lang="en-US" sz="2000" dirty="0"/>
              <a:t>      </a:t>
            </a:r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</a:rPr>
              <a:t>B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en-US" b="1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E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(support count = 1)</a:t>
            </a:r>
          </a:p>
          <a:p>
            <a:endParaRPr lang="en-US" sz="800" b="1" dirty="0">
              <a:sym typeface="Wingdings" panose="05000000000000000000" pitchFamily="2" charset="2"/>
            </a:endParaRPr>
          </a:p>
          <a:p>
            <a:r>
              <a:rPr lang="en-US" sz="2000" dirty="0"/>
              <a:t>2.   Path 2 containing E:</a:t>
            </a:r>
          </a:p>
          <a:p>
            <a:r>
              <a:rPr lang="en-US" sz="2000" dirty="0"/>
              <a:t>      </a:t>
            </a:r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</a:rPr>
              <a:t>B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C</a:t>
            </a:r>
            <a:r>
              <a:rPr lang="en-US" b="1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E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(support count = 1)</a:t>
            </a:r>
          </a:p>
          <a:p>
            <a:endParaRPr lang="en-US" sz="800" b="1" dirty="0">
              <a:sym typeface="Wingdings" panose="05000000000000000000" pitchFamily="2" charset="2"/>
            </a:endParaRPr>
          </a:p>
          <a:p>
            <a:r>
              <a:rPr lang="en-US" dirty="0"/>
              <a:t>3.   </a:t>
            </a:r>
            <a:r>
              <a:rPr lang="en-US" sz="2000" dirty="0"/>
              <a:t>Path 2 containing E:</a:t>
            </a:r>
          </a:p>
          <a:p>
            <a:r>
              <a:rPr lang="en-US" dirty="0"/>
              <a:t>      - </a:t>
            </a:r>
            <a:r>
              <a:rPr lang="en-US" b="1" dirty="0">
                <a:solidFill>
                  <a:srgbClr val="FF0000"/>
                </a:solidFill>
              </a:rPr>
              <a:t>B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C</a:t>
            </a:r>
            <a:r>
              <a:rPr lang="en-US" b="1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A</a:t>
            </a:r>
            <a:r>
              <a:rPr lang="en-US" b="1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E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(support count = 1)</a:t>
            </a:r>
          </a:p>
          <a:p>
            <a:endParaRPr lang="en-US" sz="1200" b="1" dirty="0">
              <a:sym typeface="Wingdings" panose="05000000000000000000" pitchFamily="2" charset="2"/>
            </a:endParaRPr>
          </a:p>
          <a:p>
            <a:r>
              <a:rPr lang="en-US" sz="2000" b="1" dirty="0"/>
              <a:t>Sample Conditional Pattern Base on E:</a:t>
            </a:r>
          </a:p>
          <a:p>
            <a:endParaRPr lang="en-US" sz="900" b="1" dirty="0"/>
          </a:p>
          <a:p>
            <a:r>
              <a:rPr lang="en-US" sz="2000" dirty="0">
                <a:solidFill>
                  <a:srgbClr val="FF0000"/>
                </a:solidFill>
              </a:rPr>
              <a:t>B, A 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B, C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B, C, A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0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1" idx="0"/>
            <a:endCxn id="30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4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1"/>
            <a:endCxn id="30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5"/>
            <a:endCxn id="42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6" idx="0"/>
            <a:endCxn id="45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7" idx="0"/>
            <a:endCxn id="46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956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Frequent Pattern for Node 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C11D1B-B1E4-4656-9967-F8B4B422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382054"/>
              </p:ext>
            </p:extLst>
          </p:nvPr>
        </p:nvGraphicFramePr>
        <p:xfrm>
          <a:off x="771525" y="1680498"/>
          <a:ext cx="4695825" cy="21945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86702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PH" b="1" dirty="0"/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Support 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{E}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</a:t>
                      </a:r>
                      <a:r>
                        <a:rPr lang="en-US" baseline="0" dirty="0"/>
                        <a:t> E}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</a:t>
                      </a:r>
                      <a:r>
                        <a:rPr lang="en-US" baseline="0" dirty="0"/>
                        <a:t> A, E}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</a:t>
                      </a:r>
                      <a:r>
                        <a:rPr lang="en-US" baseline="0" dirty="0"/>
                        <a:t> C, E}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</a:t>
                      </a:r>
                      <a:r>
                        <a:rPr lang="en-US" baseline="0" dirty="0"/>
                        <a:t> C, A, E}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</a:tbl>
          </a:graphicData>
        </a:graphic>
      </p:graphicFrame>
      <p:sp>
        <p:nvSpPr>
          <p:cNvPr id="26" name="Oval 2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26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27" idx="0"/>
            <a:endCxn id="26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50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50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52" idx="7"/>
            <a:endCxn id="51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57" idx="1"/>
            <a:endCxn id="26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57" idx="5"/>
            <a:endCxn id="58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62" idx="0"/>
            <a:endCxn id="61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63" idx="0"/>
            <a:endCxn id="62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149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5.3 Mining the FP-Tree for Frequent Patterns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FFCD5-DA91-4170-905E-45E8EB9BEBE5}"/>
              </a:ext>
            </a:extLst>
          </p:cNvPr>
          <p:cNvSpPr txBox="1"/>
          <p:nvPr/>
        </p:nvSpPr>
        <p:spPr>
          <a:xfrm>
            <a:off x="746727" y="1763740"/>
            <a:ext cx="56006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Paths Leading to A Nodes:</a:t>
            </a:r>
          </a:p>
          <a:p>
            <a:endParaRPr lang="en-US" sz="900" b="1" dirty="0"/>
          </a:p>
          <a:p>
            <a:pPr marL="457200" indent="-457200">
              <a:buAutoNum type="arabicPeriod"/>
            </a:pPr>
            <a:r>
              <a:rPr lang="en-US" sz="2000" dirty="0"/>
              <a:t>Path 1 containing A:</a:t>
            </a:r>
          </a:p>
          <a:p>
            <a:r>
              <a:rPr lang="en-US" sz="2000" dirty="0"/>
              <a:t>      </a:t>
            </a:r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</a:rPr>
              <a:t>B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A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(support count = 1)</a:t>
            </a:r>
          </a:p>
          <a:p>
            <a:endParaRPr lang="en-US" sz="800" b="1" dirty="0">
              <a:sym typeface="Wingdings" panose="05000000000000000000" pitchFamily="2" charset="2"/>
            </a:endParaRPr>
          </a:p>
          <a:p>
            <a:r>
              <a:rPr lang="en-US" sz="2000" dirty="0"/>
              <a:t>2.   Path 2 containing A:</a:t>
            </a:r>
          </a:p>
          <a:p>
            <a:r>
              <a:rPr lang="en-US" sz="2000" dirty="0"/>
              <a:t>      </a:t>
            </a:r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</a:rPr>
              <a:t>B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C</a:t>
            </a:r>
            <a:r>
              <a:rPr lang="en-US" b="1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A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(support count = 1)</a:t>
            </a:r>
          </a:p>
          <a:p>
            <a:endParaRPr lang="en-US" sz="800" b="1" dirty="0">
              <a:sym typeface="Wingdings" panose="05000000000000000000" pitchFamily="2" charset="2"/>
            </a:endParaRPr>
          </a:p>
          <a:p>
            <a:r>
              <a:rPr lang="en-US" dirty="0"/>
              <a:t>3.   </a:t>
            </a:r>
            <a:r>
              <a:rPr lang="en-US" sz="2000" dirty="0"/>
              <a:t>Path 2 containing A:</a:t>
            </a:r>
          </a:p>
          <a:p>
            <a:r>
              <a:rPr lang="en-US" dirty="0"/>
              <a:t>      -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C</a:t>
            </a:r>
            <a:r>
              <a:rPr lang="en-US" b="1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A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(support count = 1)</a:t>
            </a:r>
          </a:p>
          <a:p>
            <a:endParaRPr lang="en-US" sz="1200" b="1" dirty="0">
              <a:sym typeface="Wingdings" panose="05000000000000000000" pitchFamily="2" charset="2"/>
            </a:endParaRPr>
          </a:p>
          <a:p>
            <a:r>
              <a:rPr lang="en-US" sz="2000" b="1" dirty="0"/>
              <a:t>Sample Conditional Pattern Base on A:</a:t>
            </a:r>
          </a:p>
          <a:p>
            <a:endParaRPr lang="en-US" sz="900" b="1" dirty="0"/>
          </a:p>
          <a:p>
            <a:r>
              <a:rPr lang="en-US" sz="2000" dirty="0">
                <a:solidFill>
                  <a:srgbClr val="FF0000"/>
                </a:solidFill>
              </a:rPr>
              <a:t>B 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B, C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C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0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1" idx="0"/>
            <a:endCxn id="30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4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1"/>
            <a:endCxn id="30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5"/>
            <a:endCxn id="42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6" idx="0"/>
            <a:endCxn id="45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7" idx="0"/>
            <a:endCxn id="46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300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Frequent Pattern for Node A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C11D1B-B1E4-4656-9967-F8B4B422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906261"/>
              </p:ext>
            </p:extLst>
          </p:nvPr>
        </p:nvGraphicFramePr>
        <p:xfrm>
          <a:off x="771525" y="1680498"/>
          <a:ext cx="4695825" cy="18288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86702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PH" b="1" dirty="0"/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Support 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</a:t>
                      </a:r>
                      <a:r>
                        <a:rPr lang="en-US" baseline="0" dirty="0"/>
                        <a:t> A}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{C, A}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</a:t>
                      </a:r>
                      <a:r>
                        <a:rPr lang="en-US" baseline="0" dirty="0"/>
                        <a:t> C, A}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</a:tbl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25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0" idx="0"/>
            <a:endCxn id="25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3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33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35" idx="7"/>
            <a:endCxn id="34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0" idx="1"/>
            <a:endCxn id="25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0" idx="5"/>
            <a:endCxn id="41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5" idx="0"/>
            <a:endCxn id="44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6" idx="0"/>
            <a:endCxn id="45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207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5.4 Mining the FP-Tree for Frequent Patterns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FFCD5-DA91-4170-905E-45E8EB9BEBE5}"/>
              </a:ext>
            </a:extLst>
          </p:cNvPr>
          <p:cNvSpPr txBox="1"/>
          <p:nvPr/>
        </p:nvSpPr>
        <p:spPr>
          <a:xfrm>
            <a:off x="746727" y="1763740"/>
            <a:ext cx="5600651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Paths Leading to C Nodes:</a:t>
            </a:r>
          </a:p>
          <a:p>
            <a:endParaRPr lang="en-US" sz="900" b="1" dirty="0"/>
          </a:p>
          <a:p>
            <a:pPr marL="457200" indent="-457200">
              <a:buAutoNum type="arabicPeriod"/>
            </a:pPr>
            <a:r>
              <a:rPr lang="en-US" sz="2000" dirty="0"/>
              <a:t>Path 1 containing C:</a:t>
            </a:r>
          </a:p>
          <a:p>
            <a:r>
              <a:rPr lang="en-US" sz="2000" dirty="0"/>
              <a:t>      </a:t>
            </a:r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</a:rPr>
              <a:t>B 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7030A0"/>
                </a:solidFill>
                <a:sym typeface="Wingdings" panose="05000000000000000000" pitchFamily="2" charset="2"/>
              </a:rPr>
              <a:t>C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(support count = 1)</a:t>
            </a:r>
          </a:p>
          <a:p>
            <a:endParaRPr lang="en-US" sz="800" b="1" dirty="0">
              <a:sym typeface="Wingdings" panose="05000000000000000000" pitchFamily="2" charset="2"/>
            </a:endParaRPr>
          </a:p>
          <a:p>
            <a:r>
              <a:rPr lang="en-US" sz="2000" dirty="0"/>
              <a:t>2.   Path 2 containing C:</a:t>
            </a:r>
          </a:p>
          <a:p>
            <a:r>
              <a:rPr lang="en-US" sz="2000" dirty="0"/>
              <a:t>      </a:t>
            </a:r>
            <a:r>
              <a:rPr lang="en-US" dirty="0"/>
              <a:t>- </a:t>
            </a:r>
            <a:r>
              <a:rPr lang="en-US" b="1" dirty="0">
                <a:solidFill>
                  <a:srgbClr val="FF0000"/>
                </a:solidFill>
              </a:rPr>
              <a:t>Root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C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(support count = 1)</a:t>
            </a:r>
          </a:p>
          <a:p>
            <a:endParaRPr lang="en-US" sz="800" b="1" dirty="0">
              <a:sym typeface="Wingdings" panose="05000000000000000000" pitchFamily="2" charset="2"/>
            </a:endParaRPr>
          </a:p>
          <a:p>
            <a:endParaRPr lang="en-US" sz="1200" b="1" dirty="0">
              <a:sym typeface="Wingdings" panose="05000000000000000000" pitchFamily="2" charset="2"/>
            </a:endParaRPr>
          </a:p>
          <a:p>
            <a:r>
              <a:rPr lang="en-US" sz="2000" b="1" dirty="0"/>
              <a:t>Sample Conditional Pattern Base on C:</a:t>
            </a:r>
          </a:p>
          <a:p>
            <a:endParaRPr lang="en-US" sz="900" b="1" dirty="0"/>
          </a:p>
          <a:p>
            <a:r>
              <a:rPr lang="en-US" sz="2000" dirty="0">
                <a:solidFill>
                  <a:srgbClr val="FF0000"/>
                </a:solidFill>
              </a:rPr>
              <a:t>B 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(3)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C (root)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0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1" idx="0"/>
            <a:endCxn id="30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4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1"/>
            <a:endCxn id="30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5"/>
            <a:endCxn id="42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6" idx="0"/>
            <a:endCxn id="45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7" idx="0"/>
            <a:endCxn id="46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300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Frequent Pattern for Node C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C11D1B-B1E4-4656-9967-F8B4B422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65141"/>
              </p:ext>
            </p:extLst>
          </p:nvPr>
        </p:nvGraphicFramePr>
        <p:xfrm>
          <a:off x="771525" y="1680498"/>
          <a:ext cx="4695825" cy="10972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86702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PH" b="1" dirty="0"/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Support 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</a:t>
                      </a:r>
                      <a:r>
                        <a:rPr lang="en-US" baseline="0" dirty="0"/>
                        <a:t> C}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</a:tbl>
          </a:graphicData>
        </a:graphic>
      </p:graphicFrame>
      <p:sp>
        <p:nvSpPr>
          <p:cNvPr id="26" name="Oval 2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26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27" idx="0"/>
            <a:endCxn id="26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49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49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56" idx="1"/>
            <a:endCxn id="26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56" idx="5"/>
            <a:endCxn id="57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61" idx="0"/>
            <a:endCxn id="60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62" idx="0"/>
            <a:endCxn id="61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22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5.4 Mining the FP-Tree for Frequent Patterns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FFCD5-DA91-4170-905E-45E8EB9BEBE5}"/>
              </a:ext>
            </a:extLst>
          </p:cNvPr>
          <p:cNvSpPr txBox="1"/>
          <p:nvPr/>
        </p:nvSpPr>
        <p:spPr>
          <a:xfrm>
            <a:off x="746727" y="1763740"/>
            <a:ext cx="5600651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Paths Leading to B Nodes:</a:t>
            </a:r>
          </a:p>
          <a:p>
            <a:endParaRPr lang="en-US" sz="900" b="1" dirty="0"/>
          </a:p>
          <a:p>
            <a:pPr marL="457200" indent="-457200">
              <a:buAutoNum type="arabicPeriod"/>
            </a:pPr>
            <a:r>
              <a:rPr lang="en-US" sz="2000" dirty="0"/>
              <a:t>Path 1 containing B:</a:t>
            </a:r>
          </a:p>
          <a:p>
            <a:r>
              <a:rPr lang="en-US" sz="2000" dirty="0"/>
              <a:t>      </a:t>
            </a:r>
            <a:r>
              <a:rPr lang="en-US" dirty="0"/>
              <a:t>- </a:t>
            </a:r>
            <a:r>
              <a:rPr lang="en-US" b="1" dirty="0">
                <a:solidFill>
                  <a:srgbClr val="7030A0"/>
                </a:solidFill>
              </a:rPr>
              <a:t>B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ym typeface="Wingdings" panose="05000000000000000000" pitchFamily="2" charset="2"/>
              </a:rPr>
              <a:t>is the root ode, all paths inherently include it</a:t>
            </a:r>
          </a:p>
          <a:p>
            <a:endParaRPr lang="en-US" sz="800" b="1" dirty="0">
              <a:sym typeface="Wingdings" panose="05000000000000000000" pitchFamily="2" charset="2"/>
            </a:endParaRPr>
          </a:p>
          <a:p>
            <a:endParaRPr lang="en-US" sz="1200" b="1" dirty="0">
              <a:sym typeface="Wingdings" panose="05000000000000000000" pitchFamily="2" charset="2"/>
            </a:endParaRPr>
          </a:p>
          <a:p>
            <a:r>
              <a:rPr lang="en-US" sz="2000" b="1" dirty="0"/>
              <a:t>Sample Conditional Pattern Base on B:</a:t>
            </a:r>
          </a:p>
          <a:p>
            <a:endParaRPr lang="en-US" sz="900" b="1" dirty="0"/>
          </a:p>
          <a:p>
            <a:r>
              <a:rPr lang="en-US" sz="2000" dirty="0">
                <a:solidFill>
                  <a:srgbClr val="FF0000"/>
                </a:solidFill>
              </a:rPr>
              <a:t>A 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C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(3)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A, E, D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C, E</a:t>
            </a:r>
            <a:r>
              <a:rPr lang="en-US" sz="2000" dirty="0"/>
              <a:t>	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C, A, E	</a:t>
            </a:r>
            <a:r>
              <a:rPr lang="en-US" sz="2000" dirty="0"/>
              <a:t>	</a:t>
            </a:r>
            <a:r>
              <a:rPr lang="en-US" sz="2000" dirty="0">
                <a:solidFill>
                  <a:schemeClr val="bg1"/>
                </a:solidFill>
              </a:rPr>
              <a:t>(1)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0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1" idx="0"/>
            <a:endCxn id="30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4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36" idx="7"/>
            <a:endCxn id="35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1"/>
            <a:endCxn id="30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1" idx="5"/>
            <a:endCxn id="42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6" idx="0"/>
            <a:endCxn id="45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7" idx="0"/>
            <a:endCxn id="46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1029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7650" y="821318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Frequent Pattern for Node B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C11D1B-B1E4-4656-9967-F8B4B422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794891"/>
              </p:ext>
            </p:extLst>
          </p:nvPr>
        </p:nvGraphicFramePr>
        <p:xfrm>
          <a:off x="771525" y="1680498"/>
          <a:ext cx="4695825" cy="32918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86702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PH" b="1" dirty="0"/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Support 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</a:t>
                      </a:r>
                      <a:r>
                        <a:rPr lang="en-US" baseline="0" dirty="0"/>
                        <a:t> A}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 C}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 E}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 C, E}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 C, A}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 A, E}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{B, A, E, D}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439859" y="2718755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8548471" y="387798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25" idx="1"/>
          </p:cNvCxnSpPr>
          <p:nvPr/>
        </p:nvCxnSpPr>
        <p:spPr>
          <a:xfrm>
            <a:off x="8331247" y="2531487"/>
            <a:ext cx="217224" cy="295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30" idx="0"/>
            <a:endCxn id="25" idx="4"/>
          </p:cNvCxnSpPr>
          <p:nvPr/>
        </p:nvCxnSpPr>
        <p:spPr>
          <a:xfrm flipH="1" flipV="1">
            <a:off x="8810683" y="3460402"/>
            <a:ext cx="108612" cy="4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F465D5F-EE40-4CF1-B973-7087C70611E4}"/>
              </a:ext>
            </a:extLst>
          </p:cNvPr>
          <p:cNvSpPr/>
          <p:nvPr/>
        </p:nvSpPr>
        <p:spPr>
          <a:xfrm>
            <a:off x="6869587" y="2676377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9C548D5-2D23-4238-82DF-921D2E3334F9}"/>
              </a:ext>
            </a:extLst>
          </p:cNvPr>
          <p:cNvSpPr/>
          <p:nvPr/>
        </p:nvSpPr>
        <p:spPr>
          <a:xfrm>
            <a:off x="6269620" y="3680381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70CE05-94D0-4DB6-BE29-980F92475FAA}"/>
              </a:ext>
            </a:extLst>
          </p:cNvPr>
          <p:cNvSpPr/>
          <p:nvPr/>
        </p:nvSpPr>
        <p:spPr>
          <a:xfrm>
            <a:off x="5573505" y="4538710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endCxn id="33" idx="7"/>
          </p:cNvCxnSpPr>
          <p:nvPr/>
        </p:nvCxnSpPr>
        <p:spPr>
          <a:xfrm flipH="1">
            <a:off x="7493123" y="2531487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71F84C-43EB-4E83-B34F-C5EA539A58EC}"/>
              </a:ext>
            </a:extLst>
          </p:cNvPr>
          <p:cNvCxnSpPr>
            <a:cxnSpLocks/>
            <a:endCxn id="33" idx="3"/>
          </p:cNvCxnSpPr>
          <p:nvPr/>
        </p:nvCxnSpPr>
        <p:spPr>
          <a:xfrm flipV="1">
            <a:off x="6763880" y="3299913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1E9DF07-49B0-4931-B28A-3220297F1ADF}"/>
              </a:ext>
            </a:extLst>
          </p:cNvPr>
          <p:cNvCxnSpPr>
            <a:cxnSpLocks/>
            <a:stCxn id="35" idx="7"/>
            <a:endCxn id="34" idx="3"/>
          </p:cNvCxnSpPr>
          <p:nvPr/>
        </p:nvCxnSpPr>
        <p:spPr>
          <a:xfrm flipV="1">
            <a:off x="6206541" y="4313417"/>
            <a:ext cx="171691" cy="33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7698212" y="1898452"/>
            <a:ext cx="741647" cy="74164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366317" y="325154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9737140" y="431341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0" idx="1"/>
            <a:endCxn id="25" idx="6"/>
          </p:cNvCxnSpPr>
          <p:nvPr/>
        </p:nvCxnSpPr>
        <p:spPr>
          <a:xfrm flipH="1" flipV="1">
            <a:off x="9181506" y="3089579"/>
            <a:ext cx="293423" cy="2705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0" idx="5"/>
            <a:endCxn id="41" idx="0"/>
          </p:cNvCxnSpPr>
          <p:nvPr/>
        </p:nvCxnSpPr>
        <p:spPr>
          <a:xfrm>
            <a:off x="9999352" y="3884581"/>
            <a:ext cx="108612" cy="428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1872852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2941057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790BD35-3A48-4FA4-A1DD-25EAA7D259C1}"/>
              </a:ext>
            </a:extLst>
          </p:cNvPr>
          <p:cNvSpPr/>
          <p:nvPr/>
        </p:nvSpPr>
        <p:spPr>
          <a:xfrm>
            <a:off x="10775494" y="3993193"/>
            <a:ext cx="741647" cy="74164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5" idx="0"/>
            <a:endCxn id="44" idx="4"/>
          </p:cNvCxnSpPr>
          <p:nvPr/>
        </p:nvCxnSpPr>
        <p:spPr>
          <a:xfrm flipV="1">
            <a:off x="11146318" y="2614499"/>
            <a:ext cx="0" cy="326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CBC4E2-B7D8-4BA4-91B1-1439F1E66A5D}"/>
              </a:ext>
            </a:extLst>
          </p:cNvPr>
          <p:cNvCxnSpPr>
            <a:stCxn id="46" idx="0"/>
            <a:endCxn id="45" idx="4"/>
          </p:cNvCxnSpPr>
          <p:nvPr/>
        </p:nvCxnSpPr>
        <p:spPr>
          <a:xfrm flipV="1">
            <a:off x="11146318" y="3682704"/>
            <a:ext cx="0" cy="310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1397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C11D1B-B1E4-4656-9967-F8B4B422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920992"/>
              </p:ext>
            </p:extLst>
          </p:nvPr>
        </p:nvGraphicFramePr>
        <p:xfrm>
          <a:off x="779756" y="1724648"/>
          <a:ext cx="200783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7557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46027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B, C}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C,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{B, C,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B, D,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B, C,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C,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B, C,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C,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C,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680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C11D1B-B1E4-4656-9967-F8B4B4227EEC}"/>
              </a:ext>
            </a:extLst>
          </p:cNvPr>
          <p:cNvGraphicFramePr>
            <a:graphicFrameLocks noGrp="1"/>
          </p:cNvGraphicFramePr>
          <p:nvPr/>
        </p:nvGraphicFramePr>
        <p:xfrm>
          <a:off x="779756" y="1724648"/>
          <a:ext cx="200783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7557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46027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B, C}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C,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{B, C,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B, D,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B, C,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C,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B, C,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C,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C,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E931E9-7F8B-4C32-8FB1-E39377F00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032679"/>
              </p:ext>
            </p:extLst>
          </p:nvPr>
        </p:nvGraphicFramePr>
        <p:xfrm>
          <a:off x="3329126" y="1724648"/>
          <a:ext cx="200783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7557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46027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Count Order</a:t>
                      </a:r>
                      <a:endParaRPr lang="en-PH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PH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7</a:t>
                      </a:r>
                      <a:endParaRPr lang="en-PH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192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EC11D1B-B1E4-4656-9967-F8B4B4227EEC}"/>
              </a:ext>
            </a:extLst>
          </p:cNvPr>
          <p:cNvGraphicFramePr>
            <a:graphicFrameLocks noGrp="1"/>
          </p:cNvGraphicFramePr>
          <p:nvPr/>
        </p:nvGraphicFramePr>
        <p:xfrm>
          <a:off x="779756" y="1724648"/>
          <a:ext cx="200783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7557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46027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B, C}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C,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{B, C,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B, D,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{A, B, C, 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C,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B, C,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C,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C,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E931E9-7F8B-4C32-8FB1-E39377F004D8}"/>
              </a:ext>
            </a:extLst>
          </p:cNvPr>
          <p:cNvGraphicFramePr>
            <a:graphicFrameLocks noGrp="1"/>
          </p:cNvGraphicFramePr>
          <p:nvPr/>
        </p:nvGraphicFramePr>
        <p:xfrm>
          <a:off x="3329126" y="1724648"/>
          <a:ext cx="200783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7557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46027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Count Order</a:t>
                      </a:r>
                      <a:endParaRPr lang="en-PH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PH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7</a:t>
                      </a:r>
                      <a:endParaRPr lang="en-PH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61440-B987-4810-9503-35CE274FD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908323"/>
              </p:ext>
            </p:extLst>
          </p:nvPr>
        </p:nvGraphicFramePr>
        <p:xfrm>
          <a:off x="5948853" y="1724648"/>
          <a:ext cx="2529321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9773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83954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PH" dirty="0"/>
                        <a:t>C, A, 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7592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61440-B987-4810-9503-35CE274FD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114184"/>
              </p:ext>
            </p:extLst>
          </p:nvPr>
        </p:nvGraphicFramePr>
        <p:xfrm>
          <a:off x="790927" y="1769036"/>
          <a:ext cx="2529321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9773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83954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{</a:t>
                      </a:r>
                      <a:r>
                        <a:rPr lang="en-PH" dirty="0">
                          <a:solidFill>
                            <a:srgbClr val="FF0000"/>
                          </a:solidFill>
                        </a:rPr>
                        <a:t>C, A, 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348806" y="176903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520181" y="254696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4920214" y="3550965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143717" y="2402071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414474" y="3170497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040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61440-B987-4810-9503-35CE274FD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677411"/>
              </p:ext>
            </p:extLst>
          </p:nvPr>
        </p:nvGraphicFramePr>
        <p:xfrm>
          <a:off x="790927" y="1769036"/>
          <a:ext cx="2529321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9773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83954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C, A, 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solidFill>
                            <a:srgbClr val="FF0000"/>
                          </a:solidFill>
                        </a:rPr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348806" y="176903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520181" y="254696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4920214" y="3550965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143717" y="2402071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414474" y="3170497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300567" y="3277479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161543" y="3170497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114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61440-B987-4810-9503-35CE274FD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999204"/>
              </p:ext>
            </p:extLst>
          </p:nvPr>
        </p:nvGraphicFramePr>
        <p:xfrm>
          <a:off x="790927" y="1769036"/>
          <a:ext cx="2529321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9773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83954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C, A, 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{C, B, E}</a:t>
                      </a:r>
                      <a:endParaRPr lang="en-PH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348806" y="176903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520181" y="254696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A: 2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4920214" y="3550965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143717" y="2402071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414474" y="3170497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300567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161543" y="3170497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111043" y="2482634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7756088" y="3277479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6957951" y="24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675977" y="3156149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2836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61440-B987-4810-9503-35CE274FD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855721"/>
              </p:ext>
            </p:extLst>
          </p:nvPr>
        </p:nvGraphicFramePr>
        <p:xfrm>
          <a:off x="790927" y="1769036"/>
          <a:ext cx="2529321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9773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83954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C, A, 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{A, B, D, E}</a:t>
                      </a:r>
                      <a:endParaRPr lang="en-PH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348806" y="1769036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C: 3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520181" y="254696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A: 2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4920214" y="3550965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143717" y="2402071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414474" y="3170497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300567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161543" y="3170497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111043" y="2482634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7756088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6957951" y="24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675977" y="3156149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029802" y="167607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029801" y="2701164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029800" y="370522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029800" y="4730314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400625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400622" y="343972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400621" y="446633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2171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61440-B987-4810-9503-35CE274FD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554087"/>
              </p:ext>
            </p:extLst>
          </p:nvPr>
        </p:nvGraphicFramePr>
        <p:xfrm>
          <a:off x="790927" y="1769036"/>
          <a:ext cx="2529321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9773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83954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C, A, 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{A, B, D,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{C, A, B, E}</a:t>
                      </a:r>
                      <a:endParaRPr lang="en-PH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348806" y="176903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520181" y="254696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3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4920214" y="3550965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143717" y="2402071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414474" y="3170497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300567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161543" y="3170497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111043" y="2482634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7756088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6957951" y="24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675977" y="3156149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029802" y="167607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029801" y="270116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029800" y="370522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029800" y="473031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400625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400622" y="343972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400621" y="446633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275488" y="446633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4901369" y="4184001"/>
            <a:ext cx="127457" cy="3730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382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61440-B987-4810-9503-35CE274FD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159642"/>
              </p:ext>
            </p:extLst>
          </p:nvPr>
        </p:nvGraphicFramePr>
        <p:xfrm>
          <a:off x="790927" y="1769036"/>
          <a:ext cx="2529321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9773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83954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C, A, 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{A, B, D,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A,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{B, D}</a:t>
                      </a:r>
                      <a:endParaRPr lang="en-PH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348806" y="1769036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C: 4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520181" y="254696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A: 3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4920214" y="3550965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2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143717" y="2402071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414474" y="3170497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300567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161543" y="3170497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111043" y="2482634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7756088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6957951" y="24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675977" y="3156149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029802" y="167607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029801" y="270116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029800" y="370522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029800" y="473031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400625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400622" y="343972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400621" y="446633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275488" y="446633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4901369" y="4184001"/>
            <a:ext cx="127457" cy="3730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254099" y="1676072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254098" y="2701164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624922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846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61440-B987-4810-9503-35CE274FD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599368"/>
              </p:ext>
            </p:extLst>
          </p:nvPr>
        </p:nvGraphicFramePr>
        <p:xfrm>
          <a:off x="790927" y="1769036"/>
          <a:ext cx="2529321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9773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83954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C, A, 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{A, B, D,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A,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{C, A, E}</a:t>
                      </a:r>
                      <a:endParaRPr lang="en-PH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B, D}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348806" y="176903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5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520181" y="254696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4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4920214" y="3550965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2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143717" y="2402071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414474" y="3170497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300567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161543" y="3170497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111043" y="2482634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7756088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6957951" y="24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675977" y="3156149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029802" y="167607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029801" y="270116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029800" y="370522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029800" y="473031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400625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400622" y="343972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400621" y="446633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275488" y="446633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4901369" y="4184001"/>
            <a:ext cx="127457" cy="3730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254099" y="167607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254098" y="270116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624922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679500" y="1987630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312535" y="2620665"/>
            <a:ext cx="214319" cy="1411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9891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61440-B987-4810-9503-35CE274FD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382199"/>
              </p:ext>
            </p:extLst>
          </p:nvPr>
        </p:nvGraphicFramePr>
        <p:xfrm>
          <a:off x="790927" y="1769036"/>
          <a:ext cx="2529321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9773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83954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C, A, 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{A, B, D,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A,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A,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{C, A, B, D}</a:t>
                      </a:r>
                      <a:endParaRPr lang="en-PH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B,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348806" y="176903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520181" y="254696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5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4920214" y="3550965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143717" y="2402071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414474" y="3170497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300567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161543" y="3170497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111043" y="2482634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7756088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6957951" y="24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675977" y="3156149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029802" y="167607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029801" y="270116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029800" y="370522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029800" y="473031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400625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400622" y="343972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400621" y="446633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275488" y="446633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4901369" y="4184001"/>
            <a:ext cx="127457" cy="3730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254099" y="167607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254098" y="270116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624922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679500" y="1987630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312535" y="2620665"/>
            <a:ext cx="214319" cy="141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682768" y="4292995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531704" y="4184001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9585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61440-B987-4810-9503-35CE274FD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344792"/>
              </p:ext>
            </p:extLst>
          </p:nvPr>
        </p:nvGraphicFramePr>
        <p:xfrm>
          <a:off x="790927" y="1769036"/>
          <a:ext cx="2529321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9773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83954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C, A, 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{A, B, D,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A,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A,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A,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{C, B, D, E}</a:t>
                      </a:r>
                      <a:endParaRPr lang="en-PH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{C, A, D, E}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348806" y="176903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7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520181" y="254696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A: 5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4920214" y="3550965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3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143717" y="2402071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414474" y="3170497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300567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161543" y="3170497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111043" y="2482634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7756088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6957951" y="24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675977" y="3156149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029802" y="167607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029801" y="270116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029800" y="370522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029800" y="473031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400625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400622" y="343972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400621" y="446633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275488" y="446633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4901369" y="4184001"/>
            <a:ext cx="127457" cy="3730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254099" y="167607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254098" y="270116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624922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679500" y="1987630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312535" y="2620665"/>
            <a:ext cx="214319" cy="141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682768" y="4292995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531704" y="4184001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048295" y="416026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026612" y="512927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413554" y="3213152"/>
            <a:ext cx="62748" cy="947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391871" y="4890779"/>
            <a:ext cx="21683" cy="2384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975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838525"/>
            <a:ext cx="1055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Construct the Full FP-Growth Tree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61440-B987-4810-9503-35CE274FD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823334"/>
              </p:ext>
            </p:extLst>
          </p:nvPr>
        </p:nvGraphicFramePr>
        <p:xfrm>
          <a:off x="790927" y="1769036"/>
          <a:ext cx="2529321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9773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83954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  <a:r>
                        <a:rPr lang="en-PH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Items (Sorted)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C, A, B}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dirty="0">
                          <a:solidFill>
                            <a:schemeClr val="tx1"/>
                          </a:solidFill>
                        </a:rPr>
                        <a:t>{C, A, D}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{A, B, D,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0" dirty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A,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T6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T7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A,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T8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A, B,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T9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{C, B, D, E}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T10</a:t>
                      </a:r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{C, A, D, E}</a:t>
                      </a:r>
                      <a:endParaRPr lang="en-PH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348806" y="1769036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520181" y="254696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4920214" y="3550965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3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143717" y="2402071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414474" y="3170497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300567" y="3277479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161543" y="3170497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111043" y="2482634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7756088" y="3277479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6957951" y="24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675977" y="3156149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029802" y="167607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029801" y="270116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029800" y="370522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029800" y="473031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400625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400622" y="343972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400621" y="4466332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275488" y="446633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4901369" y="4184001"/>
            <a:ext cx="127457" cy="3730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254099" y="1676072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254098" y="2701164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624922" y="241771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679500" y="1987630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312535" y="2620665"/>
            <a:ext cx="214319" cy="141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682768" y="4292995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D: 1</a:t>
            </a:r>
            <a:endParaRPr lang="en-PH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531704" y="4184001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048295" y="416026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026612" y="512927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413554" y="3213152"/>
            <a:ext cx="62748" cy="947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391871" y="4890779"/>
            <a:ext cx="21683" cy="2384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414292" y="4007997"/>
            <a:ext cx="251534" cy="12933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059157" y="5301343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639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C: 8</a:t>
            </a:r>
            <a:endParaRPr lang="en-PH" sz="1600" dirty="0">
              <a:solidFill>
                <a:srgbClr val="0070C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160246"/>
              </p:ext>
            </p:extLst>
          </p:nvPr>
        </p:nvGraphicFramePr>
        <p:xfrm>
          <a:off x="655618" y="1420693"/>
          <a:ext cx="200783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7557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46027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Count Order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PH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8376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797096"/>
              </p:ext>
            </p:extLst>
          </p:nvPr>
        </p:nvGraphicFramePr>
        <p:xfrm>
          <a:off x="655618" y="1420693"/>
          <a:ext cx="200783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7557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46027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Count Order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7</a:t>
                      </a:r>
                      <a:endParaRPr lang="en-PH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0333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808750"/>
              </p:ext>
            </p:extLst>
          </p:nvPr>
        </p:nvGraphicFramePr>
        <p:xfrm>
          <a:off x="655618" y="1420693"/>
          <a:ext cx="200783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7557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46027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Count Order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2757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358798"/>
              </p:ext>
            </p:extLst>
          </p:nvPr>
        </p:nvGraphicFramePr>
        <p:xfrm>
          <a:off x="655618" y="1420693"/>
          <a:ext cx="200783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7557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46027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Count Order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3042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984126"/>
              </p:ext>
            </p:extLst>
          </p:nvPr>
        </p:nvGraphicFramePr>
        <p:xfrm>
          <a:off x="655618" y="1420693"/>
          <a:ext cx="200783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7557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460275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Count Order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0774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7111"/>
              </p:ext>
            </p:extLst>
          </p:nvPr>
        </p:nvGraphicFramePr>
        <p:xfrm>
          <a:off x="622950" y="1333279"/>
          <a:ext cx="3633353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965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503703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 min support count = 4, identify the frequent pairings?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{B,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{E,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A, 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{C,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{A,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2657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078342"/>
              </p:ext>
            </p:extLst>
          </p:nvPr>
        </p:nvGraphicFramePr>
        <p:xfrm>
          <a:off x="622950" y="1333279"/>
          <a:ext cx="3633353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965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503703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 min support count = 4, identify the frequent pairings?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{A,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{B,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{E,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A, 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{C,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{A,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7462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114732"/>
              </p:ext>
            </p:extLst>
          </p:nvPr>
        </p:nvGraphicFramePr>
        <p:xfrm>
          <a:off x="622950" y="1333279"/>
          <a:ext cx="3633353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965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503703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 min support count = 4, identify the frequent pairings?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{B,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{E,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A, 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{C,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{A,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2420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400896"/>
              </p:ext>
            </p:extLst>
          </p:nvPr>
        </p:nvGraphicFramePr>
        <p:xfrm>
          <a:off x="622950" y="1333279"/>
          <a:ext cx="3633353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965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503703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 min support count = 4, identify the frequent pairings?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{B,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{E,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A, 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{C,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{A,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0861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377663"/>
              </p:ext>
            </p:extLst>
          </p:nvPr>
        </p:nvGraphicFramePr>
        <p:xfrm>
          <a:off x="622950" y="1333279"/>
          <a:ext cx="3633353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965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503703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 min support count = 4, identify the frequent pairings?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{B,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{E,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{A, 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A, 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{C,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{A,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9757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454229"/>
              </p:ext>
            </p:extLst>
          </p:nvPr>
        </p:nvGraphicFramePr>
        <p:xfrm>
          <a:off x="622950" y="1333279"/>
          <a:ext cx="3633353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965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503703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 min support count = 4, identify the frequent pairings?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{B,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{E,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A, 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{C,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{A,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6246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956503"/>
              </p:ext>
            </p:extLst>
          </p:nvPr>
        </p:nvGraphicFramePr>
        <p:xfrm>
          <a:off x="622950" y="1333279"/>
          <a:ext cx="3633353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965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503703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 min support count = 4, identify the frequent pairings?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{B,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{E,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A, 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{C, D}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{A,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8388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465744"/>
              </p:ext>
            </p:extLst>
          </p:nvPr>
        </p:nvGraphicFramePr>
        <p:xfrm>
          <a:off x="622950" y="1333279"/>
          <a:ext cx="3633353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965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503703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 min support count = 4, identify the frequent pairings?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{B,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{E,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A, 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{C,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{B, E}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{A,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1249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379277"/>
              </p:ext>
            </p:extLst>
          </p:nvPr>
        </p:nvGraphicFramePr>
        <p:xfrm>
          <a:off x="622950" y="1333279"/>
          <a:ext cx="3633353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965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503703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 min support count = 4, identify the frequent pairings?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{B,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{E,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A, 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{C,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{A, E}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1287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D1E049-5B7B-467C-8572-F92B7168DBAC}"/>
              </a:ext>
            </a:extLst>
          </p:cNvPr>
          <p:cNvSpPr/>
          <p:nvPr/>
        </p:nvSpPr>
        <p:spPr>
          <a:xfrm>
            <a:off x="6653606" y="1420693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C: 8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2CA26E-C4F6-49E3-BC31-FABDF02AEC53}"/>
              </a:ext>
            </a:extLst>
          </p:cNvPr>
          <p:cNvSpPr/>
          <p:nvPr/>
        </p:nvSpPr>
        <p:spPr>
          <a:xfrm>
            <a:off x="5824981" y="2198618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6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364F05-BFA5-4B30-AB5F-9CB39B932497}"/>
              </a:ext>
            </a:extLst>
          </p:cNvPr>
          <p:cNvSpPr/>
          <p:nvPr/>
        </p:nvSpPr>
        <p:spPr>
          <a:xfrm>
            <a:off x="5225014" y="320262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3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55CB37-B064-4076-9808-4B41782ECBAB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6448517" y="2053728"/>
            <a:ext cx="313701" cy="2518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4917D6-B374-4D5C-96E0-6EB6E486384A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5719274" y="2822154"/>
            <a:ext cx="212689" cy="3804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AFC48AB-FC0F-4B55-B3CA-B632BD8A8BB6}"/>
              </a:ext>
            </a:extLst>
          </p:cNvPr>
          <p:cNvSpPr/>
          <p:nvPr/>
        </p:nvSpPr>
        <p:spPr>
          <a:xfrm>
            <a:off x="6605367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2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50EECD-C935-4D88-83F5-33CD1CD5BDA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466343" y="2822154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F92089B-21FE-4AE1-8027-5AA2A9DB2EF7}"/>
              </a:ext>
            </a:extLst>
          </p:cNvPr>
          <p:cNvSpPr/>
          <p:nvPr/>
        </p:nvSpPr>
        <p:spPr>
          <a:xfrm>
            <a:off x="7415843" y="2134291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2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2885ED-6305-4EDF-B5A2-198BC36DB36F}"/>
              </a:ext>
            </a:extLst>
          </p:cNvPr>
          <p:cNvSpPr/>
          <p:nvPr/>
        </p:nvSpPr>
        <p:spPr>
          <a:xfrm>
            <a:off x="8060888" y="2929136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57295-1FC3-4F7D-BAB9-F31FA7A1682E}"/>
              </a:ext>
            </a:extLst>
          </p:cNvPr>
          <p:cNvCxnSpPr>
            <a:cxnSpLocks/>
          </p:cNvCxnSpPr>
          <p:nvPr/>
        </p:nvCxnSpPr>
        <p:spPr>
          <a:xfrm flipH="1" flipV="1">
            <a:off x="7262751" y="2059463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DCF639-B655-4DAC-8217-DFCEDB3068A4}"/>
              </a:ext>
            </a:extLst>
          </p:cNvPr>
          <p:cNvCxnSpPr>
            <a:cxnSpLocks/>
          </p:cNvCxnSpPr>
          <p:nvPr/>
        </p:nvCxnSpPr>
        <p:spPr>
          <a:xfrm flipH="1" flipV="1">
            <a:off x="7980777" y="2807806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E5C67D-6997-453F-B05D-ECF3DD83FEA6}"/>
              </a:ext>
            </a:extLst>
          </p:cNvPr>
          <p:cNvSpPr/>
          <p:nvPr/>
        </p:nvSpPr>
        <p:spPr>
          <a:xfrm>
            <a:off x="9334602" y="1327729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BF9AF9-07D5-486F-91E6-09EF01B08D99}"/>
              </a:ext>
            </a:extLst>
          </p:cNvPr>
          <p:cNvSpPr/>
          <p:nvPr/>
        </p:nvSpPr>
        <p:spPr>
          <a:xfrm>
            <a:off x="9334601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D6F06A-660B-4AF4-BF06-ECE8EFEF4B8B}"/>
              </a:ext>
            </a:extLst>
          </p:cNvPr>
          <p:cNvSpPr/>
          <p:nvPr/>
        </p:nvSpPr>
        <p:spPr>
          <a:xfrm>
            <a:off x="9334600" y="335687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BA06C1-A04E-4973-BFBE-30EEEF622CF2}"/>
              </a:ext>
            </a:extLst>
          </p:cNvPr>
          <p:cNvSpPr/>
          <p:nvPr/>
        </p:nvSpPr>
        <p:spPr>
          <a:xfrm>
            <a:off x="9334600" y="4381971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95F3B3-4B5E-449A-ABBE-4BDEF97D7FC2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9705425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95488D-790C-4CC0-939E-6A96C80A3546}"/>
              </a:ext>
            </a:extLst>
          </p:cNvPr>
          <p:cNvCxnSpPr>
            <a:cxnSpLocks/>
          </p:cNvCxnSpPr>
          <p:nvPr/>
        </p:nvCxnSpPr>
        <p:spPr>
          <a:xfrm flipV="1">
            <a:off x="9705422" y="309137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60C26E-B0BE-48FD-8519-1CC952C85630}"/>
              </a:ext>
            </a:extLst>
          </p:cNvPr>
          <p:cNvCxnSpPr>
            <a:cxnSpLocks/>
          </p:cNvCxnSpPr>
          <p:nvPr/>
        </p:nvCxnSpPr>
        <p:spPr>
          <a:xfrm flipV="1">
            <a:off x="9705421" y="4117989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3F6CD2-0524-4A2B-AB80-B430D7A13E58}"/>
              </a:ext>
            </a:extLst>
          </p:cNvPr>
          <p:cNvSpPr/>
          <p:nvPr/>
        </p:nvSpPr>
        <p:spPr>
          <a:xfrm>
            <a:off x="4580288" y="4117989"/>
            <a:ext cx="741648" cy="74164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D5B498-CD32-483A-A775-0CDDB77BA9C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5206169" y="3835658"/>
            <a:ext cx="127457" cy="37306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F12370C-0644-48F0-88A1-9660CA72A54A}"/>
              </a:ext>
            </a:extLst>
          </p:cNvPr>
          <p:cNvSpPr/>
          <p:nvPr/>
        </p:nvSpPr>
        <p:spPr>
          <a:xfrm>
            <a:off x="10558899" y="1327729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887ADE5-A595-4E80-8BF5-32FAD5D6D72B}"/>
              </a:ext>
            </a:extLst>
          </p:cNvPr>
          <p:cNvSpPr/>
          <p:nvPr/>
        </p:nvSpPr>
        <p:spPr>
          <a:xfrm>
            <a:off x="10558898" y="2352821"/>
            <a:ext cx="741647" cy="7416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D67F4B-3053-470D-B77C-3B4CD314FFBD}"/>
              </a:ext>
            </a:extLst>
          </p:cNvPr>
          <p:cNvCxnSpPr>
            <a:cxnSpLocks/>
            <a:stCxn id="29" idx="0"/>
            <a:endCxn id="28" idx="4"/>
          </p:cNvCxnSpPr>
          <p:nvPr/>
        </p:nvCxnSpPr>
        <p:spPr>
          <a:xfrm flipV="1">
            <a:off x="10929722" y="2069376"/>
            <a:ext cx="1" cy="2834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A8C2E50-F6F3-4CF9-BC34-973C149A167D}"/>
              </a:ext>
            </a:extLst>
          </p:cNvPr>
          <p:cNvSpPr/>
          <p:nvPr/>
        </p:nvSpPr>
        <p:spPr>
          <a:xfrm>
            <a:off x="4984300" y="1639287"/>
            <a:ext cx="741647" cy="74164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AF080-D5BA-4126-BBAF-F2C7E08DFFE5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5617335" y="2272322"/>
            <a:ext cx="214319" cy="1411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B07711B-9BCD-4F7F-A837-25886E8410FC}"/>
              </a:ext>
            </a:extLst>
          </p:cNvPr>
          <p:cNvSpPr/>
          <p:nvPr/>
        </p:nvSpPr>
        <p:spPr>
          <a:xfrm>
            <a:off x="5987568" y="3944652"/>
            <a:ext cx="741648" cy="741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75A8C3-A5F3-410C-B209-32111E70D37A}"/>
              </a:ext>
            </a:extLst>
          </p:cNvPr>
          <p:cNvCxnSpPr>
            <a:cxnSpLocks/>
          </p:cNvCxnSpPr>
          <p:nvPr/>
        </p:nvCxnSpPr>
        <p:spPr>
          <a:xfrm flipH="1" flipV="1">
            <a:off x="5836504" y="3835658"/>
            <a:ext cx="246006" cy="213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EED2BC2-8B92-4E25-89EA-08BAEA2F4316}"/>
              </a:ext>
            </a:extLst>
          </p:cNvPr>
          <p:cNvSpPr/>
          <p:nvPr/>
        </p:nvSpPr>
        <p:spPr>
          <a:xfrm>
            <a:off x="7353095" y="3811918"/>
            <a:ext cx="730518" cy="7305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D: 1</a:t>
            </a:r>
            <a:endParaRPr lang="en-PH" sz="16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22FF44-6622-4D8B-80E0-2465CDA7C27B}"/>
              </a:ext>
            </a:extLst>
          </p:cNvPr>
          <p:cNvSpPr/>
          <p:nvPr/>
        </p:nvSpPr>
        <p:spPr>
          <a:xfrm>
            <a:off x="7331412" y="4780935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8F9D5-80A7-49F1-BE9A-3C6BF1A354E7}"/>
              </a:ext>
            </a:extLst>
          </p:cNvPr>
          <p:cNvCxnSpPr>
            <a:cxnSpLocks/>
            <a:stCxn id="13" idx="4"/>
            <a:endCxn id="35" idx="0"/>
          </p:cNvCxnSpPr>
          <p:nvPr/>
        </p:nvCxnSpPr>
        <p:spPr>
          <a:xfrm flipH="1">
            <a:off x="7718354" y="2864809"/>
            <a:ext cx="62748" cy="9471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02DDDA-E39F-4045-BF4F-FE3AE5BF406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 flipH="1">
            <a:off x="7696671" y="4542436"/>
            <a:ext cx="21683" cy="2384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098609-7C77-47AF-939E-EC9134BB5679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6719092" y="3659654"/>
            <a:ext cx="251534" cy="12933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257CAD80-78A3-415C-87D7-FE0B45208E36}"/>
              </a:ext>
            </a:extLst>
          </p:cNvPr>
          <p:cNvSpPr/>
          <p:nvPr/>
        </p:nvSpPr>
        <p:spPr>
          <a:xfrm>
            <a:off x="6363957" y="4953000"/>
            <a:ext cx="730518" cy="73051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E: 1</a:t>
            </a:r>
            <a:endParaRPr lang="en-PH" sz="16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566556"/>
              </p:ext>
            </p:extLst>
          </p:nvPr>
        </p:nvGraphicFramePr>
        <p:xfrm>
          <a:off x="622950" y="1333279"/>
          <a:ext cx="3633353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965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2503703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With min support count = 4, identify the frequent pairings?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{B,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{E,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A, 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{C,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{A,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{B, D}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PH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4101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1B4E10B-1D13-4BED-A9A9-CC9C5FDB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808882"/>
              </p:ext>
            </p:extLst>
          </p:nvPr>
        </p:nvGraphicFramePr>
        <p:xfrm>
          <a:off x="521273" y="812819"/>
          <a:ext cx="6737025" cy="521494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71992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655777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  <a:gridCol w="1687285">
                  <a:extLst>
                    <a:ext uri="{9D8B030D-6E8A-4147-A177-3AD203B41FA5}">
                      <a16:colId xmlns:a16="http://schemas.microsoft.com/office/drawing/2014/main" val="456109067"/>
                    </a:ext>
                  </a:extLst>
                </a:gridCol>
                <a:gridCol w="1621971">
                  <a:extLst>
                    <a:ext uri="{9D8B030D-6E8A-4147-A177-3AD203B41FA5}">
                      <a16:colId xmlns:a16="http://schemas.microsoft.com/office/drawing/2014/main" val="1786466013"/>
                    </a:ext>
                  </a:extLst>
                </a:gridCol>
              </a:tblGrid>
              <a:tr h="514492">
                <a:tc gridSpan="4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Compute the support, confidence and lift from the counts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51449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Rule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Support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Confidence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Lift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0262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A} 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{C}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6/10 = 0.60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0.6 / 0.7 = 0.85  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0.60 / (7/10 * 8/10) = 1.07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88174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C} 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{A}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6/10 = 0.60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0.6 / 0.8 = 0.75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0.6 / (8/10 * (7/10) = 1.07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90122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{E} 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{C}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5/10 = 0.50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0.5 / 0.6 = 0.83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0.5 / (6/10 * 8/10) = 1.04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862265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{B} 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{C}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5/10 = 0.50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</a:rPr>
                        <a:t>0.5 / 0.7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= 0.71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0.5 / (7/10 * 8/10) = 0.89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514492">
                <a:tc gridSpan="4">
                  <a:txBody>
                    <a:bodyPr/>
                    <a:lstStyle/>
                    <a:p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9F9878DE-2F19-4673-A03F-D5D12460D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902225"/>
              </p:ext>
            </p:extLst>
          </p:nvPr>
        </p:nvGraphicFramePr>
        <p:xfrm>
          <a:off x="7491768" y="795401"/>
          <a:ext cx="2458929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4510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694419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Support Count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{B,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{E, 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{A, B}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A, 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{C,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{A, E}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{B, D}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8111320-53D7-4B7F-ADD5-3C3788C2D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612920"/>
              </p:ext>
            </p:extLst>
          </p:nvPr>
        </p:nvGraphicFramePr>
        <p:xfrm>
          <a:off x="10184167" y="795401"/>
          <a:ext cx="1550632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2874">
                  <a:extLst>
                    <a:ext uri="{9D8B030D-6E8A-4147-A177-3AD203B41FA5}">
                      <a16:colId xmlns:a16="http://schemas.microsoft.com/office/drawing/2014/main" val="176537152"/>
                    </a:ext>
                  </a:extLst>
                </a:gridCol>
                <a:gridCol w="1127758">
                  <a:extLst>
                    <a:ext uri="{9D8B030D-6E8A-4147-A177-3AD203B41FA5}">
                      <a16:colId xmlns:a16="http://schemas.microsoft.com/office/drawing/2014/main" val="46821468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Count Order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0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8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PH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22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4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8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7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09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80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392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PH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2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0166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1948</TotalTime>
  <Words>5777</Words>
  <Application>Microsoft Office PowerPoint</Application>
  <PresentationFormat>Widescreen</PresentationFormat>
  <Paragraphs>1492</Paragraphs>
  <Slides>63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396</cp:revision>
  <dcterms:created xsi:type="dcterms:W3CDTF">2018-09-30T06:22:05Z</dcterms:created>
  <dcterms:modified xsi:type="dcterms:W3CDTF">2026-07-28T06:25:07Z</dcterms:modified>
</cp:coreProperties>
</file>