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4"/>
  </p:notesMasterIdLst>
  <p:handoutMasterIdLst>
    <p:handoutMasterId r:id="rId15"/>
  </p:handoutMasterIdLst>
  <p:sldIdLst>
    <p:sldId id="258" r:id="rId2"/>
    <p:sldId id="334" r:id="rId3"/>
    <p:sldId id="335" r:id="rId4"/>
    <p:sldId id="349" r:id="rId5"/>
    <p:sldId id="350" r:id="rId6"/>
    <p:sldId id="351" r:id="rId7"/>
    <p:sldId id="336" r:id="rId8"/>
    <p:sldId id="352" r:id="rId9"/>
    <p:sldId id="353" r:id="rId10"/>
    <p:sldId id="354" r:id="rId11"/>
    <p:sldId id="341" r:id="rId12"/>
    <p:sldId id="31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80" autoAdjust="0"/>
    <p:restoredTop sz="94660"/>
  </p:normalViewPr>
  <p:slideViewPr>
    <p:cSldViewPr snapToGrid="0">
      <p:cViewPr varScale="1">
        <p:scale>
          <a:sx n="86" d="100"/>
          <a:sy n="86" d="100"/>
        </p:scale>
        <p:origin x="67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-3318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6B94FD-5702-4F25-9A4D-07294FF3292C}" type="datetimeFigureOut">
              <a:rPr lang="en-PH" smtClean="0"/>
              <a:t>20 Nov 2025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B5033A-92B8-453C-88B4-A91D8703A97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42015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5AC51-C568-4371-A28D-D14CF2BCF8BA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838477-70AC-4892-810E-E936ABB30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2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79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4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000066" y="6347892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5000" y="6347893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501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08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97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69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336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51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57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9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77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18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057E4A9-8BC1-4D03-B0CD-00353C3D487D}"/>
              </a:ext>
            </a:extLst>
          </p:cNvPr>
          <p:cNvSpPr>
            <a:spLocks noGrp="1"/>
          </p:cNvSpPr>
          <p:nvPr userDrawn="1"/>
        </p:nvSpPr>
        <p:spPr>
          <a:xfrm>
            <a:off x="4038600" y="635159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3ICT 2021 - 29-30 September 2021    University of Bahrain</a:t>
            </a:r>
          </a:p>
        </p:txBody>
      </p:sp>
    </p:spTree>
    <p:extLst>
      <p:ext uri="{BB962C8B-B14F-4D97-AF65-F5344CB8AC3E}">
        <p14:creationId xmlns:p14="http://schemas.microsoft.com/office/powerpoint/2010/main" val="2384099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7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7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751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146801"/>
            <a:ext cx="12192000" cy="7112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/>
          <p:cNvSpPr/>
          <p:nvPr userDrawn="1"/>
        </p:nvSpPr>
        <p:spPr>
          <a:xfrm>
            <a:off x="1" y="6354237"/>
            <a:ext cx="12192000" cy="368300"/>
          </a:xfrm>
          <a:prstGeom prst="rect">
            <a:avLst/>
          </a:prstGeom>
          <a:solidFill>
            <a:schemeClr val="tx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NATURAL LANGUAGE</a:t>
            </a:r>
            <a:r>
              <a:rPr lang="en-US" sz="1400" b="1" baseline="0" dirty="0"/>
              <a:t> PROCESSING (NLP)</a:t>
            </a:r>
            <a:endParaRPr lang="en-PH" sz="1400" b="1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254977" y="385020"/>
            <a:ext cx="11720146" cy="313266"/>
          </a:xfrm>
          <a:prstGeom prst="rect">
            <a:avLst/>
          </a:prstGeom>
          <a:solidFill>
            <a:srgbClr val="C0000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Arial Black" pitchFamily="34" charset="0"/>
              </a:rPr>
              <a:t>Cognate/Professional Electives</a:t>
            </a:r>
            <a:endParaRPr lang="en-PH" sz="2000" b="1" dirty="0">
              <a:solidFill>
                <a:srgbClr val="0070C0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794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9902" y="1674674"/>
            <a:ext cx="114521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Semantics &amp; </a:t>
            </a:r>
          </a:p>
          <a:p>
            <a:pPr algn="ctr"/>
            <a:r>
              <a:rPr lang="en-US" sz="5400" b="1" dirty="0"/>
              <a:t>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8029" y="4059278"/>
            <a:ext cx="55559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Renato R. </a:t>
            </a:r>
            <a:r>
              <a:rPr lang="en-US" sz="2000" b="1" dirty="0" err="1"/>
              <a:t>Maaliw</a:t>
            </a:r>
            <a:r>
              <a:rPr lang="en-US" sz="2000" b="1" dirty="0"/>
              <a:t> III, </a:t>
            </a:r>
            <a:r>
              <a:rPr lang="en-US" sz="2000" b="1" i="1" dirty="0"/>
              <a:t>DIT</a:t>
            </a:r>
          </a:p>
          <a:p>
            <a:pPr algn="ctr"/>
            <a:r>
              <a:rPr lang="en-US" sz="2000" i="1" dirty="0"/>
              <a:t>College of Engineering</a:t>
            </a:r>
          </a:p>
          <a:p>
            <a:pPr algn="ctr"/>
            <a:r>
              <a:rPr lang="en-US" sz="2000" i="1" dirty="0"/>
              <a:t>Southern Luzon State University</a:t>
            </a:r>
          </a:p>
          <a:p>
            <a:pPr algn="ctr"/>
            <a:r>
              <a:rPr lang="en-US" sz="2000" dirty="0" err="1"/>
              <a:t>Lucban</a:t>
            </a:r>
            <a:r>
              <a:rPr lang="en-US" sz="2000" dirty="0"/>
              <a:t>, Quezon, Philippines</a:t>
            </a:r>
            <a:endParaRPr lang="en-PH" sz="2000" dirty="0"/>
          </a:p>
        </p:txBody>
      </p:sp>
    </p:spTree>
    <p:extLst>
      <p:ext uri="{BB962C8B-B14F-4D97-AF65-F5344CB8AC3E}">
        <p14:creationId xmlns:p14="http://schemas.microsoft.com/office/powerpoint/2010/main" val="3906540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pPr marL="457200" indent="-457200">
              <a:buFontTx/>
              <a:buChar char="-"/>
            </a:pPr>
            <a:r>
              <a:rPr lang="en-US" sz="4400" b="1" dirty="0"/>
              <a:t>Word2vec</a:t>
            </a:r>
            <a:r>
              <a:rPr lang="en-US" sz="4400" dirty="0"/>
              <a:t> is a two-layer neural net that processes text</a:t>
            </a:r>
            <a:endParaRPr lang="en-US" sz="4400" dirty="0">
              <a:solidFill>
                <a:srgbClr val="FF0000"/>
              </a:solidFill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4400" dirty="0"/>
              <a:t>Its input is a text corpus and its output is a set of vectors: feature vectors for words in that corpus</a:t>
            </a:r>
          </a:p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96065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pPr marL="457200" indent="-457200">
              <a:buFontTx/>
              <a:buChar char="-"/>
            </a:pPr>
            <a:r>
              <a:rPr lang="en-US" sz="4400" dirty="0"/>
              <a:t>The purpose and usefulness of </a:t>
            </a:r>
            <a:r>
              <a:rPr lang="en-US" sz="4400" b="1" dirty="0"/>
              <a:t>Word2vec</a:t>
            </a:r>
            <a:r>
              <a:rPr lang="en-US" sz="4400" dirty="0"/>
              <a:t> is to group the vectors of similar words together in vector space</a:t>
            </a:r>
            <a:endParaRPr lang="en-US" sz="4400" dirty="0">
              <a:solidFill>
                <a:srgbClr val="FF0000"/>
              </a:solidFill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4400" dirty="0"/>
              <a:t>That is, it detects similarities mathematically</a:t>
            </a:r>
          </a:p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019395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pPr marL="457200" indent="-457200">
              <a:buFontTx/>
              <a:buChar char="-"/>
            </a:pPr>
            <a:r>
              <a:rPr lang="en-US" sz="4400" b="1" dirty="0"/>
              <a:t>Word2vec</a:t>
            </a:r>
            <a:r>
              <a:rPr lang="en-US" sz="4400" dirty="0"/>
              <a:t> creates vectors that are distributed numerical representations of word feature, features such as the context of individual words</a:t>
            </a:r>
            <a:endParaRPr lang="en-US" sz="4400" dirty="0">
              <a:solidFill>
                <a:srgbClr val="FF0000"/>
              </a:solidFill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4400" dirty="0"/>
              <a:t>It does so without human intervention</a:t>
            </a:r>
          </a:p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523292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pPr marL="457200" indent="-457200">
              <a:buFontTx/>
              <a:buChar char="-"/>
            </a:pPr>
            <a:r>
              <a:rPr lang="en-US" sz="4400" dirty="0"/>
              <a:t>Given enough data, usage and contexts, Word2vec can make highly accurate guesses about a word’s meaning based on past appearances</a:t>
            </a:r>
            <a:endParaRPr lang="en-US" sz="4400" dirty="0">
              <a:solidFill>
                <a:srgbClr val="FF0000"/>
              </a:solidFill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4400" dirty="0"/>
              <a:t>Example: </a:t>
            </a:r>
            <a:r>
              <a:rPr lang="en-US" sz="4400" i="1" dirty="0"/>
              <a:t>“man” is to “boy” </a:t>
            </a:r>
            <a:r>
              <a:rPr lang="en-US" sz="4400" dirty="0"/>
              <a:t>what</a:t>
            </a:r>
            <a:r>
              <a:rPr lang="en-US" sz="4400" i="1" dirty="0"/>
              <a:t> “woman” </a:t>
            </a:r>
            <a:r>
              <a:rPr lang="en-US" sz="4400" dirty="0"/>
              <a:t>is to </a:t>
            </a:r>
            <a:r>
              <a:rPr lang="en-US" sz="4400" i="1" dirty="0"/>
              <a:t>“girl”</a:t>
            </a:r>
          </a:p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744891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pPr marL="457200" indent="-457200">
              <a:buFontTx/>
              <a:buChar char="-"/>
            </a:pPr>
            <a:r>
              <a:rPr lang="en-US" sz="4400" dirty="0"/>
              <a:t>Word2vec trains words against other words that neighbor them in the input corpus</a:t>
            </a:r>
            <a:endParaRPr lang="en-US" sz="4400" dirty="0">
              <a:solidFill>
                <a:srgbClr val="FF0000"/>
              </a:solidFill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4400" dirty="0"/>
              <a:t>Either using context to predict a target word (continuous bagging of words - CBOW) or using a word to predict a target context (skip-gram)</a:t>
            </a:r>
          </a:p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639471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21869" y="928587"/>
            <a:ext cx="113700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pitchFamily="34" charset="0"/>
                <a:cs typeface="Arial" pitchFamily="34" charset="0"/>
              </a:rPr>
              <a:t>Two possible approaches</a:t>
            </a:r>
            <a:endParaRPr lang="en-US" sz="24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F299CD-131D-44DC-8FCC-507A3986A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82680" y="1866114"/>
            <a:ext cx="6248400" cy="38004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678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pPr marL="457200" indent="-457200">
              <a:buFontTx/>
              <a:buChar char="-"/>
            </a:pPr>
            <a:r>
              <a:rPr lang="en-US" sz="4400" dirty="0"/>
              <a:t>Each word is now represented by a vector</a:t>
            </a:r>
            <a:endParaRPr lang="en-US" sz="4400" dirty="0">
              <a:solidFill>
                <a:srgbClr val="FF0000"/>
              </a:solidFill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4400" dirty="0"/>
              <a:t>In </a:t>
            </a:r>
            <a:r>
              <a:rPr lang="en-US" sz="4400" b="1" dirty="0" err="1"/>
              <a:t>SpaCy</a:t>
            </a:r>
            <a:r>
              <a:rPr lang="en-US" sz="4400" dirty="0"/>
              <a:t>, vectors has 300 dimensions</a:t>
            </a:r>
          </a:p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125146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767507"/>
            <a:ext cx="10558668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pPr marL="457200" indent="-457200">
              <a:buFontTx/>
              <a:buChar char="-"/>
            </a:pPr>
            <a:r>
              <a:rPr lang="en-US" sz="4400" dirty="0"/>
              <a:t>This means we can use Cosine Similarity to measure how similar word vectors are to each other</a:t>
            </a:r>
            <a:endParaRPr lang="en-US" sz="4400" dirty="0">
              <a:solidFill>
                <a:srgbClr val="FF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995E2A-F582-421C-82D6-95DF8D3E4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692" y="2618771"/>
            <a:ext cx="4229562" cy="339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359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767507"/>
            <a:ext cx="1055866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pPr marL="457200" indent="-457200">
              <a:buFontTx/>
              <a:buChar char="-"/>
            </a:pPr>
            <a:r>
              <a:rPr lang="en-US" sz="4400" dirty="0"/>
              <a:t>Interesting relationships can be established between the word vectors</a:t>
            </a:r>
            <a:endParaRPr lang="en-US" sz="4400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E3EA55-D2E6-4F67-B0EB-AD19E6F28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703" y="2568189"/>
            <a:ext cx="7538593" cy="3186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579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6666" y="2383240"/>
            <a:ext cx="10558668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/>
              <a:t>[CODE DEMO]</a:t>
            </a:r>
            <a:endParaRPr lang="en-US" sz="8000" dirty="0"/>
          </a:p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38372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21364" y="2562078"/>
            <a:ext cx="10749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Arial" pitchFamily="34" charset="0"/>
                <a:cs typeface="Arial" pitchFamily="34" charset="0"/>
              </a:rPr>
              <a:t>Thank you very much for listening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.</a:t>
            </a:r>
            <a:endParaRPr lang="en-US" sz="32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378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2592</TotalTime>
  <Words>243</Words>
  <Application>Microsoft Office PowerPoint</Application>
  <PresentationFormat>Widescreen</PresentationFormat>
  <Paragraphs>38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Wael Elmedany</dc:creator>
  <cp:lastModifiedBy>Renato Maaliw III</cp:lastModifiedBy>
  <cp:revision>441</cp:revision>
  <dcterms:created xsi:type="dcterms:W3CDTF">2018-09-30T06:22:05Z</dcterms:created>
  <dcterms:modified xsi:type="dcterms:W3CDTF">2025-11-20T03:20:47Z</dcterms:modified>
</cp:coreProperties>
</file>