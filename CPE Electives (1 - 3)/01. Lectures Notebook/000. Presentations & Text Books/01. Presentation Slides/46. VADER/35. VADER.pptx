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258" r:id="rId2"/>
    <p:sldId id="334" r:id="rId3"/>
    <p:sldId id="335" r:id="rId4"/>
    <p:sldId id="349" r:id="rId5"/>
    <p:sldId id="350" r:id="rId6"/>
    <p:sldId id="341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20 Nov 2025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NATURAL LANGUAGE</a:t>
            </a:r>
            <a:r>
              <a:rPr lang="en-US" sz="1400" b="1" baseline="0" dirty="0"/>
              <a:t> PROCESSING (NLP)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239668"/>
            <a:ext cx="114521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VADER </a:t>
            </a:r>
          </a:p>
          <a:p>
            <a:pPr algn="ctr"/>
            <a:r>
              <a:rPr lang="en-US" sz="5400" b="1" dirty="0"/>
              <a:t>(Valence Aware Dictionary for </a:t>
            </a:r>
            <a:r>
              <a:rPr lang="en-US" sz="5400" b="1" dirty="0" err="1"/>
              <a:t>sEntiment</a:t>
            </a:r>
            <a:r>
              <a:rPr lang="en-US" sz="5400" b="1" dirty="0"/>
              <a:t> Reasoning)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b="1" dirty="0"/>
              <a:t>VADER </a:t>
            </a:r>
            <a:r>
              <a:rPr lang="en-US" sz="4400" dirty="0"/>
              <a:t>is a model used for text sentiment analysis that is sensitive to both polarity (positive/negative) and intensity (strength) of emotion</a:t>
            </a:r>
            <a:endParaRPr lang="en-US" sz="44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400" dirty="0"/>
              <a:t>Available in the NLTK package and can be applied directly to unlabeled text data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7275" y="945058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000" dirty="0"/>
              <a:t>Primarily, </a:t>
            </a:r>
            <a:r>
              <a:rPr lang="en-US" sz="4000" b="1" dirty="0"/>
              <a:t>VADER</a:t>
            </a:r>
            <a:r>
              <a:rPr lang="en-US" sz="4000" dirty="0"/>
              <a:t> sentiment analysis relies on a dictionary which maps lexical features to emotion intensities called sentiment scores</a:t>
            </a:r>
            <a:endParaRPr lang="en-US" sz="40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4000" dirty="0"/>
              <a:t>The sentiment score of a text can be obtained by summing up the intensity of each word (+/-) in the text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1939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953934"/>
            <a:ext cx="10558668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b="1" dirty="0"/>
          </a:p>
          <a:p>
            <a:pPr marL="457200" indent="-457200">
              <a:buFontTx/>
              <a:buChar char="-"/>
            </a:pPr>
            <a:r>
              <a:rPr lang="en-US" sz="3600" b="1" dirty="0"/>
              <a:t>Example: </a:t>
            </a:r>
            <a:r>
              <a:rPr lang="en-US" sz="3600" dirty="0"/>
              <a:t>“love”, “like”, “enjoy”, “happy” all convey positive sentiment</a:t>
            </a:r>
            <a:endParaRPr lang="en-US" sz="3600" dirty="0">
              <a:solidFill>
                <a:srgbClr val="FF0000"/>
              </a:solidFill>
            </a:endParaRPr>
          </a:p>
          <a:p>
            <a:pPr marL="457200" indent="-457200">
              <a:buFontTx/>
              <a:buChar char="-"/>
            </a:pPr>
            <a:endParaRPr lang="en-US" sz="2000" dirty="0"/>
          </a:p>
          <a:p>
            <a:pPr marL="457200" indent="-457200">
              <a:buFontTx/>
              <a:buChar char="-"/>
            </a:pPr>
            <a:r>
              <a:rPr lang="en-US" sz="3600" dirty="0"/>
              <a:t>VADER is intelligent enough to understand basic context of these words, such as “</a:t>
            </a:r>
            <a:r>
              <a:rPr lang="en-US" sz="3600" b="1" i="1" dirty="0"/>
              <a:t>did not love</a:t>
            </a:r>
            <a:r>
              <a:rPr lang="en-US" sz="3600" dirty="0"/>
              <a:t>” as a negative statement</a:t>
            </a:r>
          </a:p>
          <a:p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It also understand capitalization and punctuation, such as “</a:t>
            </a:r>
            <a:r>
              <a:rPr lang="en-US" sz="3600" b="1" i="1" dirty="0"/>
              <a:t>LOVE!!!!”</a:t>
            </a:r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2329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pPr marL="457200" indent="-457200">
              <a:buFontTx/>
              <a:buChar char="-"/>
            </a:pPr>
            <a:r>
              <a:rPr lang="en-US" sz="4400" dirty="0"/>
              <a:t>Sentiment Analysis on raw text is always challenging however, due to a variety of possible factors:</a:t>
            </a:r>
          </a:p>
          <a:p>
            <a:r>
              <a:rPr lang="en-US" sz="4800" dirty="0">
                <a:solidFill>
                  <a:srgbClr val="FF0000"/>
                </a:solidFill>
              </a:rPr>
              <a:t>	</a:t>
            </a:r>
            <a:r>
              <a:rPr lang="en-US" sz="3200" dirty="0"/>
              <a:t>a. Positive and negative sentiment in the same text data</a:t>
            </a:r>
          </a:p>
          <a:p>
            <a:r>
              <a:rPr lang="en-US" sz="3200" dirty="0"/>
              <a:t>	b. Sarcasm using positive words in a negative way</a:t>
            </a:r>
          </a:p>
        </p:txBody>
      </p:sp>
    </p:spTree>
    <p:extLst>
      <p:ext uri="{BB962C8B-B14F-4D97-AF65-F5344CB8AC3E}">
        <p14:creationId xmlns:p14="http://schemas.microsoft.com/office/powerpoint/2010/main" val="374489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666" y="2383240"/>
            <a:ext cx="1055866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/>
              <a:t>[CODE DEMO]</a:t>
            </a:r>
            <a:endParaRPr lang="en-US" sz="8000" dirty="0"/>
          </a:p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837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2603</TotalTime>
  <Words>192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450</cp:revision>
  <dcterms:created xsi:type="dcterms:W3CDTF">2018-09-30T06:22:05Z</dcterms:created>
  <dcterms:modified xsi:type="dcterms:W3CDTF">2025-11-20T03:33:09Z</dcterms:modified>
</cp:coreProperties>
</file>